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D00F94-1FFE-4C8F-89AF-316935D4071C}"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1EFD89-82A2-417D-A9BD-7CA11B7AD9D2}" type="slidenum">
              <a:rPr lang="en-US" smtClean="0"/>
              <a:t>‹#›</a:t>
            </a:fld>
            <a:endParaRPr lang="en-US"/>
          </a:p>
        </p:txBody>
      </p:sp>
    </p:spTree>
    <p:extLst>
      <p:ext uri="{BB962C8B-B14F-4D97-AF65-F5344CB8AC3E}">
        <p14:creationId xmlns:p14="http://schemas.microsoft.com/office/powerpoint/2010/main" val="91496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0:00–0:15. Tactlink is about adding the drone to the squad. Soldiers communicate intent to teammates through familiar signals; we want the squad to interact with a drone in that same natural way. A conversation with a Mach Industries representative helped shape this goal. Today we demonstrate that interaction in a connected simulation, not physical flight. The conversation is design input, not an endorsement.</a:t>
            </a:r>
          </a:p>
        </p:txBody>
      </p:sp>
      <p:sp>
        <p:nvSpPr>
          <p:cNvPr id="4" name="Slide Number Placeholder 3"/>
          <p:cNvSpPr>
            <a:spLocks noGrp="1"/>
          </p:cNvSpPr>
          <p:nvPr>
            <p:ph type="sldNum" sz="quarter" idx="5"/>
          </p:nvPr>
        </p:nvSpPr>
        <p:spPr/>
        <p:txBody>
          <a:bodyPr/>
          <a:lstStyle/>
          <a:p>
            <a:fld id="{731EFD89-82A2-417D-A9BD-7CA11B7AD9D2}" type="slidenum">
              <a:rPr lang="en-US" smtClean="0"/>
              <a:t>1</a:t>
            </a:fld>
            <a:endParaRPr lang="en-US"/>
          </a:p>
        </p:txBody>
      </p:sp>
    </p:spTree>
    <p:extLst>
      <p:ext uri="{BB962C8B-B14F-4D97-AF65-F5344CB8AC3E}">
        <p14:creationId xmlns:p14="http://schemas.microsoft.com/office/powerpoint/2010/main" val="2253972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0:15–0:40. A Mach Industries representative described soldiers using a small, chest-mounted tablet in GPS-denied environments. That prompted our design question: can a soldier redirect a drone by signaling it directly while staying engaged with the squad? The intended benefit is more dynamic drone support as needs change. We demonstrate gesture-driven changes in simulation today; onboard perception is planned. The diagram interprets our informal user discovery; it is not a measured comparison or a claim about every military workflow. We have not measured attention or response-time improvements. Visual commands require visibility and do not provide GPS-independent navigation.</a:t>
            </a:r>
          </a:p>
        </p:txBody>
      </p:sp>
      <p:sp>
        <p:nvSpPr>
          <p:cNvPr id="4" name="Slide Number Placeholder 3"/>
          <p:cNvSpPr>
            <a:spLocks noGrp="1"/>
          </p:cNvSpPr>
          <p:nvPr>
            <p:ph type="sldNum" sz="quarter" idx="5"/>
          </p:nvPr>
        </p:nvSpPr>
        <p:spPr/>
        <p:txBody>
          <a:bodyPr/>
          <a:lstStyle/>
          <a:p>
            <a:fld id="{731EFD89-82A2-417D-A9BD-7CA11B7AD9D2}" type="slidenum">
              <a:rPr lang="en-US" smtClean="0"/>
              <a:t>2</a:t>
            </a:fld>
            <a:endParaRPr lang="en-US"/>
          </a:p>
        </p:txBody>
      </p:sp>
    </p:spTree>
    <p:extLst>
      <p:ext uri="{BB962C8B-B14F-4D97-AF65-F5344CB8AC3E}">
        <p14:creationId xmlns:p14="http://schemas.microsoft.com/office/powerpoint/2010/main" val="969409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0:40–0:55. The hackathon prompt proposed flight paths in plain English. That inspired us to ask: why not communicate in another human way, through gestures? Our working demonstration focuses on gesture interaction; natural-language mission planning remains in development. The full original prompt is in the hidden appendix. The source prompt is inspiration, not evidence that we implemented its flight-controller or verification requirements.</a:t>
            </a:r>
          </a:p>
        </p:txBody>
      </p:sp>
      <p:sp>
        <p:nvSpPr>
          <p:cNvPr id="4" name="Slide Number Placeholder 3"/>
          <p:cNvSpPr>
            <a:spLocks noGrp="1"/>
          </p:cNvSpPr>
          <p:nvPr>
            <p:ph type="sldNum" sz="quarter" idx="5"/>
          </p:nvPr>
        </p:nvSpPr>
        <p:spPr/>
        <p:txBody>
          <a:bodyPr/>
          <a:lstStyle/>
          <a:p>
            <a:fld id="{731EFD89-82A2-417D-A9BD-7CA11B7AD9D2}" type="slidenum">
              <a:rPr lang="en-US" smtClean="0"/>
              <a:t>3</a:t>
            </a:fld>
            <a:endParaRPr lang="en-US"/>
          </a:p>
        </p:txBody>
      </p:sp>
    </p:spTree>
    <p:extLst>
      <p:ext uri="{BB962C8B-B14F-4D97-AF65-F5344CB8AC3E}">
        <p14:creationId xmlns:p14="http://schemas.microsoft.com/office/powerpoint/2010/main" val="1265540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0:55–1:40. Begin with a preassigned mission running in the 3D simulation, then show a gesture interrupting that flight. Demonstrate orbit, directional movement, return overhead to the sender, and open-palm stop. Explain that the route was created in the 2D planner. Keep the full sequence within 45 seconds. The phones and main computer are connected; this is simulated flight. Switch back to slide 4 after the demonstration.</a:t>
            </a:r>
          </a:p>
        </p:txBody>
      </p:sp>
      <p:sp>
        <p:nvSpPr>
          <p:cNvPr id="4" name="Slide Number Placeholder 3"/>
          <p:cNvSpPr>
            <a:spLocks noGrp="1"/>
          </p:cNvSpPr>
          <p:nvPr>
            <p:ph type="sldNum" sz="quarter" idx="5"/>
          </p:nvPr>
        </p:nvSpPr>
        <p:spPr/>
        <p:txBody>
          <a:bodyPr/>
          <a:lstStyle/>
          <a:p>
            <a:fld id="{731EFD89-82A2-417D-A9BD-7CA11B7AD9D2}" type="slidenum">
              <a:rPr lang="en-US" smtClean="0"/>
              <a:t>4</a:t>
            </a:fld>
            <a:endParaRPr lang="en-US"/>
          </a:p>
        </p:txBody>
      </p:sp>
    </p:spTree>
    <p:extLst>
      <p:ext uri="{BB962C8B-B14F-4D97-AF65-F5344CB8AC3E}">
        <p14:creationId xmlns:p14="http://schemas.microsoft.com/office/powerpoint/2010/main" val="1578995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1:40–2:10. Tactlink also has mission planning. We build a route in a conventional 2D flight planner and visualize that mission in a 3D virtual world. Mid-flight, a hand gesture can interrupt the planned behavior. That makes the operator dynamic: plan ahead, then respond as the situation changes. We built the integration connecting the planner, custom gesture sequences, operator context, and simulated drone actions. A possible use case is sending a drone to another operator for overwatch. All flight behavior shown is simulated. Do not imply that interrupted routes automatically resume; that has not been confirmed.</a:t>
            </a:r>
          </a:p>
        </p:txBody>
      </p:sp>
      <p:sp>
        <p:nvSpPr>
          <p:cNvPr id="4" name="Slide Number Placeholder 3"/>
          <p:cNvSpPr>
            <a:spLocks noGrp="1"/>
          </p:cNvSpPr>
          <p:nvPr>
            <p:ph type="sldNum" sz="quarter" idx="5"/>
          </p:nvPr>
        </p:nvSpPr>
        <p:spPr/>
        <p:txBody>
          <a:bodyPr/>
          <a:lstStyle/>
          <a:p>
            <a:fld id="{731EFD89-82A2-417D-A9BD-7CA11B7AD9D2}" type="slidenum">
              <a:rPr lang="en-US" smtClean="0"/>
              <a:t>5</a:t>
            </a:fld>
            <a:endParaRPr lang="en-US"/>
          </a:p>
        </p:txBody>
      </p:sp>
    </p:spTree>
    <p:extLst>
      <p:ext uri="{BB962C8B-B14F-4D97-AF65-F5344CB8AC3E}">
        <p14:creationId xmlns:p14="http://schemas.microsoft.com/office/powerpoint/2010/main" val="4259780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2:10–2:35. The simulation implements emergency stop, path continuation or idle when no hand is visible, and a preference for the nearest operator. Those behaviors are not yet a validated safety system. Today the phones require connectivity, and we have no physical flight data. Next we will measure errors and latency, test visibility and competing commands, then integrate onboard compute and flight control. Visual commands require line of sight, and GPS-independent navigation remains a separate requirement.</a:t>
            </a:r>
          </a:p>
        </p:txBody>
      </p:sp>
      <p:sp>
        <p:nvSpPr>
          <p:cNvPr id="4" name="Slide Number Placeholder 3"/>
          <p:cNvSpPr>
            <a:spLocks noGrp="1"/>
          </p:cNvSpPr>
          <p:nvPr>
            <p:ph type="sldNum" sz="quarter" idx="5"/>
          </p:nvPr>
        </p:nvSpPr>
        <p:spPr/>
        <p:txBody>
          <a:bodyPr/>
          <a:lstStyle/>
          <a:p>
            <a:fld id="{731EFD89-82A2-417D-A9BD-7CA11B7AD9D2}" type="slidenum">
              <a:rPr lang="en-US" smtClean="0"/>
              <a:t>6</a:t>
            </a:fld>
            <a:endParaRPr lang="en-US"/>
          </a:p>
        </p:txBody>
      </p:sp>
    </p:spTree>
    <p:extLst>
      <p:ext uri="{BB962C8B-B14F-4D97-AF65-F5344CB8AC3E}">
        <p14:creationId xmlns:p14="http://schemas.microsoft.com/office/powerpoint/2010/main" val="792944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2:35–2:55. We went beyond a fixed set of gestures: we built a custom gesture-training pipeline and trained a model on our own hand signals. Record examples, label them, train the model, and connect recognized gestures to commands. That demonstrates a vocabulary we can develop around the people using it. This training was demonstrated in desktop experiments. The current phone demo uses a separate gesture-rule layer. Do not imply retraining the hand-tracking backbone or deploying the trained model to the phone.</a:t>
            </a:r>
          </a:p>
        </p:txBody>
      </p:sp>
      <p:sp>
        <p:nvSpPr>
          <p:cNvPr id="4" name="Slide Number Placeholder 3"/>
          <p:cNvSpPr>
            <a:spLocks noGrp="1"/>
          </p:cNvSpPr>
          <p:nvPr>
            <p:ph type="sldNum" sz="quarter" idx="5"/>
          </p:nvPr>
        </p:nvSpPr>
        <p:spPr/>
        <p:txBody>
          <a:bodyPr/>
          <a:lstStyle/>
          <a:p>
            <a:fld id="{731EFD89-82A2-417D-A9BD-7CA11B7AD9D2}" type="slidenum">
              <a:rPr lang="en-US" smtClean="0"/>
              <a:t>7</a:t>
            </a:fld>
            <a:endParaRPr lang="en-US"/>
          </a:p>
        </p:txBody>
      </p:sp>
    </p:spTree>
    <p:extLst>
      <p:ext uri="{BB962C8B-B14F-4D97-AF65-F5344CB8AC3E}">
        <p14:creationId xmlns:p14="http://schemas.microsoft.com/office/powerpoint/2010/main" val="2103729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2:55–3:10. Plan ahead, then adapt in the moment. Our simulation combines 2D mission planning, 3D visualization, and mid-flight gesture intervention. Our vision adds spoken commands alongside gestures. Spoken requests, such as take a picture of my location, would expand what an operator can ask it to do. Natural-language commands and image capture are not demonstrated capabilities; this is an illustrative future request. End here. The remaining slides are hidden Q&amp;A backup.</a:t>
            </a:r>
          </a:p>
        </p:txBody>
      </p:sp>
      <p:sp>
        <p:nvSpPr>
          <p:cNvPr id="4" name="Slide Number Placeholder 3"/>
          <p:cNvSpPr>
            <a:spLocks noGrp="1"/>
          </p:cNvSpPr>
          <p:nvPr>
            <p:ph type="sldNum" sz="quarter" idx="5"/>
          </p:nvPr>
        </p:nvSpPr>
        <p:spPr/>
        <p:txBody>
          <a:bodyPr/>
          <a:lstStyle/>
          <a:p>
            <a:fld id="{731EFD89-82A2-417D-A9BD-7CA11B7AD9D2}" type="slidenum">
              <a:rPr lang="en-US" smtClean="0"/>
              <a:t>8</a:t>
            </a:fld>
            <a:endParaRPr lang="en-US"/>
          </a:p>
        </p:txBody>
      </p:sp>
    </p:spTree>
    <p:extLst>
      <p:ext uri="{BB962C8B-B14F-4D97-AF65-F5344CB8AC3E}">
        <p14:creationId xmlns:p14="http://schemas.microsoft.com/office/powerpoint/2010/main" val="608042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These are planned deployment considerations, not completed capabilities. No cost estimate, field validation, procurement commitment, or regulatory approval has been established. Jetson-class onboard compute is an option; no specific board is validated.</a:t>
            </a:r>
          </a:p>
        </p:txBody>
      </p:sp>
      <p:sp>
        <p:nvSpPr>
          <p:cNvPr id="4" name="Slide Number Placeholder 3"/>
          <p:cNvSpPr>
            <a:spLocks noGrp="1"/>
          </p:cNvSpPr>
          <p:nvPr>
            <p:ph type="sldNum" sz="quarter" idx="5"/>
          </p:nvPr>
        </p:nvSpPr>
        <p:spPr/>
        <p:txBody>
          <a:bodyPr/>
          <a:lstStyle/>
          <a:p>
            <a:fld id="{731EFD89-82A2-417D-A9BD-7CA11B7AD9D2}" type="slidenum">
              <a:rPr lang="en-US" smtClean="0"/>
              <a:t>9</a:t>
            </a:fld>
            <a:endParaRPr lang="en-US"/>
          </a:p>
        </p:txBody>
      </p:sp>
    </p:spTree>
    <p:extLst>
      <p:ext uri="{BB962C8B-B14F-4D97-AF65-F5344CB8AC3E}">
        <p14:creationId xmlns:p14="http://schemas.microsoft.com/office/powerpoint/2010/main" val="1583039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This is a proposed evaluation plan. No measured results are claimed. Record the number of trials, test conditions, and failures. Simulation measurements do not establish physical-drone reliability.</a:t>
            </a:r>
          </a:p>
        </p:txBody>
      </p:sp>
      <p:sp>
        <p:nvSpPr>
          <p:cNvPr id="4" name="Slide Number Placeholder 3"/>
          <p:cNvSpPr>
            <a:spLocks noGrp="1"/>
          </p:cNvSpPr>
          <p:nvPr>
            <p:ph type="sldNum" sz="quarter" idx="5"/>
          </p:nvPr>
        </p:nvSpPr>
        <p:spPr/>
        <p:txBody>
          <a:bodyPr/>
          <a:lstStyle/>
          <a:p>
            <a:fld id="{731EFD89-82A2-417D-A9BD-7CA11B7AD9D2}" type="slidenum">
              <a:rPr lang="en-US" smtClean="0"/>
              <a:t>10</a:t>
            </a:fld>
            <a:endParaRPr lang="en-US"/>
          </a:p>
        </p:txBody>
      </p:sp>
    </p:spTree>
    <p:extLst>
      <p:ext uri="{BB962C8B-B14F-4D97-AF65-F5344CB8AC3E}">
        <p14:creationId xmlns:p14="http://schemas.microsoft.com/office/powerpoint/2010/main" val="1298453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original team-provided image DNhacks_inspo_prompt.png, DNHacks Defense inspiration prompt titled Flight paths in plain English. Reproduced as supplied. This is historical inspiration; technical claims in the prompt are not independent evidence of Tactlink capabilities. Natural-language mission planning remains in development.</a:t>
            </a:r>
          </a:p>
        </p:txBody>
      </p:sp>
      <p:sp>
        <p:nvSpPr>
          <p:cNvPr id="4" name="Slide Number Placeholder 3"/>
          <p:cNvSpPr>
            <a:spLocks noGrp="1"/>
          </p:cNvSpPr>
          <p:nvPr>
            <p:ph type="sldNum" sz="quarter" idx="5"/>
          </p:nvPr>
        </p:nvSpPr>
        <p:spPr/>
        <p:txBody>
          <a:bodyPr/>
          <a:lstStyle/>
          <a:p>
            <a:fld id="{731EFD89-82A2-417D-A9BD-7CA11B7AD9D2}" type="slidenum">
              <a:rPr lang="en-US" smtClean="0"/>
              <a:t>11</a:t>
            </a:fld>
            <a:endParaRPr lang="en-US"/>
          </a:p>
        </p:txBody>
      </p:sp>
    </p:spTree>
    <p:extLst>
      <p:ext uri="{BB962C8B-B14F-4D97-AF65-F5344CB8AC3E}">
        <p14:creationId xmlns:p14="http://schemas.microsoft.com/office/powerpoint/2010/main" val="2698418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175C2-3BAB-98BB-F084-6CF3C599CA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B9C18B-474A-DC34-BFD7-BD7B6A9FA1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129EC5-38DD-1F44-B75B-01AD9199B2BB}"/>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5" name="Footer Placeholder 4">
            <a:extLst>
              <a:ext uri="{FF2B5EF4-FFF2-40B4-BE49-F238E27FC236}">
                <a16:creationId xmlns:a16="http://schemas.microsoft.com/office/drawing/2014/main" id="{62E48987-90F5-1DBB-ADA8-FE11C13312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03C07A-6153-FC3E-0B1D-6E22CBB34933}"/>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2666487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7C532-3D6A-5FF7-6FC4-C150F533B7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74CDF7-4F73-E518-E7FF-5AB831FB8F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541A18-0DDC-A8B4-1240-1E8EB71EEDE1}"/>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5" name="Footer Placeholder 4">
            <a:extLst>
              <a:ext uri="{FF2B5EF4-FFF2-40B4-BE49-F238E27FC236}">
                <a16:creationId xmlns:a16="http://schemas.microsoft.com/office/drawing/2014/main" id="{51C3DCB9-D0D0-767D-F11E-F495C44896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552D94-7D69-9149-CBFA-786BB70AEA38}"/>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700777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97E7C-E84B-C41A-47E1-7B87FA240D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51B235-3D16-E0AE-A0BB-C7974A06CD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F63713-F573-ED3D-FAA6-1930456AA076}"/>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5" name="Footer Placeholder 4">
            <a:extLst>
              <a:ext uri="{FF2B5EF4-FFF2-40B4-BE49-F238E27FC236}">
                <a16:creationId xmlns:a16="http://schemas.microsoft.com/office/drawing/2014/main" id="{A76BB4A0-918A-B6FE-161D-8D0528584D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711395-A3C7-DFE0-0AC4-E4849056C6DD}"/>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28368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1E1E-5E89-B5E7-4D11-788C70CBC8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8739EF-2EB4-8E4D-A760-636848B675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93EFE9-EB22-CD92-3CEA-A6A4EC2A70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538489-EA17-C1CA-0491-FCB3A3B2706D}"/>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6" name="Footer Placeholder 5">
            <a:extLst>
              <a:ext uri="{FF2B5EF4-FFF2-40B4-BE49-F238E27FC236}">
                <a16:creationId xmlns:a16="http://schemas.microsoft.com/office/drawing/2014/main" id="{240EF9ED-51D2-8AB8-6B0D-8B03EF2F91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DB2C89-20E7-D568-3B7A-ECDD07DFFE4A}"/>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1135019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CF6BB-A9DA-940B-EDD2-E625521B60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DAAF70-B12A-A4DA-E36C-DBA7F9EAF9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0F1AD6-950F-B764-5C52-F34FA7498D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A53110-A769-823F-51CD-B6BA350B5E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FE343C-A254-ED39-1B53-EB9F2958D4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8D52B6-23B3-8288-7D65-185D81E7D324}"/>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8" name="Footer Placeholder 7">
            <a:extLst>
              <a:ext uri="{FF2B5EF4-FFF2-40B4-BE49-F238E27FC236}">
                <a16:creationId xmlns:a16="http://schemas.microsoft.com/office/drawing/2014/main" id="{540A17ED-8AD2-468A-0812-92C1419AFB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A0BD71-91C7-31F6-CF71-9CCCE509DCCF}"/>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139027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1B8E7-8B43-C521-2636-2B8CF6F848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272BCA-8A60-5DC7-B7FC-2762F0E63E45}"/>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4" name="Footer Placeholder 3">
            <a:extLst>
              <a:ext uri="{FF2B5EF4-FFF2-40B4-BE49-F238E27FC236}">
                <a16:creationId xmlns:a16="http://schemas.microsoft.com/office/drawing/2014/main" id="{A22FB58E-28C3-0F27-2685-A59E46A57C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172D4F-9D2D-743E-21BD-276AC6B2235C}"/>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1168787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B2157-B403-10AD-4B49-A6C2D95F2FF9}"/>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3" name="Footer Placeholder 2">
            <a:extLst>
              <a:ext uri="{FF2B5EF4-FFF2-40B4-BE49-F238E27FC236}">
                <a16:creationId xmlns:a16="http://schemas.microsoft.com/office/drawing/2014/main" id="{759336EF-AB08-9226-C92C-06EE2B8ED9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4916F4-4EF1-6079-EDB7-0BD367AD6D7F}"/>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1236865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7A47F-512D-DC60-0C99-BC4BBD713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4975D3-E3DB-9195-D7B4-3EDFD94F0A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A79F09-2B34-442A-4408-21406B1D2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EE7165-1B0A-7377-6246-6C2A7B62769A}"/>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6" name="Footer Placeholder 5">
            <a:extLst>
              <a:ext uri="{FF2B5EF4-FFF2-40B4-BE49-F238E27FC236}">
                <a16:creationId xmlns:a16="http://schemas.microsoft.com/office/drawing/2014/main" id="{81AFE8D5-2147-9500-90CC-69EDC85EA7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048BF3-8B8B-85A5-76F5-75703D7C251A}"/>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2431126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3902C-8ED2-9536-E786-C95644DDC5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C6465F1-C778-3DB3-596A-B4DCF0EC8E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F45C0D-0E17-B86C-DBBB-8DF3087DBD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64562F-B037-CD8A-3F62-05CB9358C875}"/>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6" name="Footer Placeholder 5">
            <a:extLst>
              <a:ext uri="{FF2B5EF4-FFF2-40B4-BE49-F238E27FC236}">
                <a16:creationId xmlns:a16="http://schemas.microsoft.com/office/drawing/2014/main" id="{F58DCE48-9081-F9D5-03EB-B60A94EC60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C0241-291B-EC21-4154-6DEE550D2AF8}"/>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426546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BA1A0-5266-8B1B-0A9A-7BEC381555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2A4B3B-717B-807D-D3DE-4BA6CBCAF5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5ECFA-25BF-8DA7-9007-B76F38A8C456}"/>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5" name="Footer Placeholder 4">
            <a:extLst>
              <a:ext uri="{FF2B5EF4-FFF2-40B4-BE49-F238E27FC236}">
                <a16:creationId xmlns:a16="http://schemas.microsoft.com/office/drawing/2014/main" id="{CE83B39A-F741-E040-D597-5C5B41EAC8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280ED7-F327-5C9A-05B3-323DBE49454A}"/>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3859719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A9D6D7-7F32-C6D2-FD24-26017E6885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07D10F-C2D1-4F38-39C4-1C3B930B6F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29658C-1E9A-8627-02FE-5547F8C44ADB}"/>
              </a:ext>
            </a:extLst>
          </p:cNvPr>
          <p:cNvSpPr>
            <a:spLocks noGrp="1"/>
          </p:cNvSpPr>
          <p:nvPr>
            <p:ph type="dt" sz="half" idx="10"/>
          </p:nvPr>
        </p:nvSpPr>
        <p:spPr/>
        <p:txBody>
          <a:bodyPr/>
          <a:lstStyle/>
          <a:p>
            <a:fld id="{6C3CA332-9636-4242-91C0-415594E3BD85}" type="datetimeFigureOut">
              <a:rPr lang="en-US" smtClean="0"/>
              <a:t>9/6/2026</a:t>
            </a:fld>
            <a:endParaRPr lang="en-US"/>
          </a:p>
        </p:txBody>
      </p:sp>
      <p:sp>
        <p:nvSpPr>
          <p:cNvPr id="5" name="Footer Placeholder 4">
            <a:extLst>
              <a:ext uri="{FF2B5EF4-FFF2-40B4-BE49-F238E27FC236}">
                <a16:creationId xmlns:a16="http://schemas.microsoft.com/office/drawing/2014/main" id="{40CDF79B-712A-A805-697F-017B26EDB5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A6928D-AFC1-1DC6-D452-F0A70D9919D3}"/>
              </a:ext>
            </a:extLst>
          </p:cNvPr>
          <p:cNvSpPr>
            <a:spLocks noGrp="1"/>
          </p:cNvSpPr>
          <p:nvPr>
            <p:ph type="sldNum" sz="quarter" idx="12"/>
          </p:nvPr>
        </p:nvSpPr>
        <p:spPr/>
        <p:txBody>
          <a:bodyPr/>
          <a:lstStyle/>
          <a:p>
            <a:fld id="{C31EDE89-F0FC-41B3-A8A3-269314A5F967}" type="slidenum">
              <a:rPr lang="en-US" smtClean="0"/>
              <a:t>‹#›</a:t>
            </a:fld>
            <a:endParaRPr lang="en-US"/>
          </a:p>
        </p:txBody>
      </p:sp>
    </p:spTree>
    <p:extLst>
      <p:ext uri="{BB962C8B-B14F-4D97-AF65-F5344CB8AC3E}">
        <p14:creationId xmlns:p14="http://schemas.microsoft.com/office/powerpoint/2010/main" val="4163002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B954C7-84B0-7870-545F-BA75F501AE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6C0CEC-9849-DA26-3D21-265CD0B52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F5AA0-F560-B657-CD67-3658AA8FD1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3CA332-9636-4242-91C0-415594E3BD85}" type="datetimeFigureOut">
              <a:rPr lang="en-US" smtClean="0"/>
              <a:t>9/6/2026</a:t>
            </a:fld>
            <a:endParaRPr lang="en-US"/>
          </a:p>
        </p:txBody>
      </p:sp>
      <p:sp>
        <p:nvSpPr>
          <p:cNvPr id="5" name="Footer Placeholder 4">
            <a:extLst>
              <a:ext uri="{FF2B5EF4-FFF2-40B4-BE49-F238E27FC236}">
                <a16:creationId xmlns:a16="http://schemas.microsoft.com/office/drawing/2014/main" id="{FB00BC67-4855-97EF-31B4-0748BAD393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EE93B91-858F-41D5-5EF9-34B6AF67BD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1EDE89-F0FC-41B3-A8A3-269314A5F967}" type="slidenum">
              <a:rPr lang="en-US" smtClean="0"/>
              <a:t>‹#›</a:t>
            </a:fld>
            <a:endParaRPr lang="en-US"/>
          </a:p>
        </p:txBody>
      </p:sp>
    </p:spTree>
    <p:extLst>
      <p:ext uri="{BB962C8B-B14F-4D97-AF65-F5344CB8AC3E}">
        <p14:creationId xmlns:p14="http://schemas.microsoft.com/office/powerpoint/2010/main" val="1162298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askandpurpose.com/news/army-drone-mos/"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8A0645-BB05-0AFA-621B-E82D61D0E5ED}"/>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4B947842-C24E-5D5C-E7E9-3582C4D96D1E}"/>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SQUAD–DRONE INTERACTION</a:t>
            </a:r>
          </a:p>
        </p:txBody>
      </p:sp>
      <p:sp>
        <p:nvSpPr>
          <p:cNvPr id="4" name="TextBox 3">
            <a:extLst>
              <a:ext uri="{FF2B5EF4-FFF2-40B4-BE49-F238E27FC236}">
                <a16:creationId xmlns:a16="http://schemas.microsoft.com/office/drawing/2014/main" id="{5020B19A-7DAB-E0A2-B5AD-B32B80264B12}"/>
              </a:ext>
            </a:extLst>
          </p:cNvPr>
          <p:cNvSpPr txBox="1"/>
          <p:nvPr/>
        </p:nvSpPr>
        <p:spPr>
          <a:xfrm>
            <a:off x="508000" y="939800"/>
            <a:ext cx="11239500" cy="553998"/>
          </a:xfrm>
          <a:prstGeom prst="rect">
            <a:avLst/>
          </a:prstGeom>
          <a:noFill/>
        </p:spPr>
        <p:txBody>
          <a:bodyPr vert="horz" wrap="square" lIns="0" tIns="0" rIns="0" bIns="0" rtlCol="0">
            <a:spAutoFit/>
          </a:bodyPr>
          <a:lstStyle/>
          <a:p>
            <a:endParaRPr lang="en-US" sz="3600" b="1">
              <a:solidFill>
                <a:srgbClr val="14263A"/>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C75F99D7-F367-8D82-8BC8-0109E2369BB5}"/>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B55E6CD-290D-5A52-82E7-AE8DBDB7880B}"/>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2395AE7A-0958-6D82-39A0-6CAFC3BCCBA8}"/>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01</a:t>
            </a:r>
          </a:p>
        </p:txBody>
      </p:sp>
      <p:sp>
        <p:nvSpPr>
          <p:cNvPr id="8" name="Rectangle: Rounded Corners 7">
            <a:extLst>
              <a:ext uri="{FF2B5EF4-FFF2-40B4-BE49-F238E27FC236}">
                <a16:creationId xmlns:a16="http://schemas.microsoft.com/office/drawing/2014/main" id="{87334F6C-10DE-42AE-BEA4-F0E577E71A89}"/>
              </a:ext>
            </a:extLst>
          </p:cNvPr>
          <p:cNvSpPr/>
          <p:nvPr/>
        </p:nvSpPr>
        <p:spPr>
          <a:xfrm>
            <a:off x="508000" y="1054100"/>
            <a:ext cx="30988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16BC5B-C6F9-D345-5434-D5DDA4723B69}"/>
              </a:ext>
            </a:extLst>
          </p:cNvPr>
          <p:cNvSpPr txBox="1"/>
          <p:nvPr/>
        </p:nvSpPr>
        <p:spPr>
          <a:xfrm>
            <a:off x="635000" y="1117600"/>
            <a:ext cx="28448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DEFENSE / WORKING SIMULATION</a:t>
            </a:r>
          </a:p>
        </p:txBody>
      </p:sp>
      <p:sp>
        <p:nvSpPr>
          <p:cNvPr id="10" name="TextBox 9">
            <a:extLst>
              <a:ext uri="{FF2B5EF4-FFF2-40B4-BE49-F238E27FC236}">
                <a16:creationId xmlns:a16="http://schemas.microsoft.com/office/drawing/2014/main" id="{8E72446C-A60C-D3B9-F0FF-577D38D8F241}"/>
              </a:ext>
            </a:extLst>
          </p:cNvPr>
          <p:cNvSpPr txBox="1"/>
          <p:nvPr/>
        </p:nvSpPr>
        <p:spPr>
          <a:xfrm>
            <a:off x="508000" y="1778000"/>
            <a:ext cx="6540500" cy="1323439"/>
          </a:xfrm>
          <a:prstGeom prst="rect">
            <a:avLst/>
          </a:prstGeom>
          <a:noFill/>
        </p:spPr>
        <p:txBody>
          <a:bodyPr vert="horz" wrap="square" lIns="0" tIns="0" rIns="0" bIns="0" rtlCol="0">
            <a:spAutoFit/>
          </a:bodyPr>
          <a:lstStyle/>
          <a:p>
            <a:r>
              <a:rPr lang="en-US" sz="4300" b="1">
                <a:solidFill>
                  <a:srgbClr val="14263A"/>
                </a:solidFill>
                <a:latin typeface="Aptos" panose="020B0004020202020204" pitchFamily="34" charset="0"/>
              </a:rPr>
              <a:t>Add the drone
to the squad.</a:t>
            </a:r>
          </a:p>
        </p:txBody>
      </p:sp>
      <p:sp>
        <p:nvSpPr>
          <p:cNvPr id="11" name="TextBox 10">
            <a:extLst>
              <a:ext uri="{FF2B5EF4-FFF2-40B4-BE49-F238E27FC236}">
                <a16:creationId xmlns:a16="http://schemas.microsoft.com/office/drawing/2014/main" id="{BBD2ACC0-0B5F-8634-3170-C35446C38EE6}"/>
              </a:ext>
            </a:extLst>
          </p:cNvPr>
          <p:cNvSpPr txBox="1"/>
          <p:nvPr/>
        </p:nvSpPr>
        <p:spPr>
          <a:xfrm>
            <a:off x="508000" y="3886200"/>
            <a:ext cx="5270500" cy="769441"/>
          </a:xfrm>
          <a:prstGeom prst="rect">
            <a:avLst/>
          </a:prstGeom>
          <a:noFill/>
        </p:spPr>
        <p:txBody>
          <a:bodyPr vert="horz" wrap="square" lIns="0" tIns="0" rIns="0" bIns="0" rtlCol="0">
            <a:spAutoFit/>
          </a:bodyPr>
          <a:lstStyle/>
          <a:p>
            <a:r>
              <a:rPr lang="en-US" sz="2500">
                <a:solidFill>
                  <a:srgbClr val="617286"/>
                </a:solidFill>
                <a:latin typeface="Aptos" panose="020B0004020202020204" pitchFamily="34" charset="0"/>
              </a:rPr>
              <a:t>Plan the mission. Signal changes as the squad moves.</a:t>
            </a:r>
          </a:p>
        </p:txBody>
      </p:sp>
      <p:cxnSp>
        <p:nvCxnSpPr>
          <p:cNvPr id="12" name="Straight Connector 11">
            <a:extLst>
              <a:ext uri="{FF2B5EF4-FFF2-40B4-BE49-F238E27FC236}">
                <a16:creationId xmlns:a16="http://schemas.microsoft.com/office/drawing/2014/main" id="{4C4FA077-B17D-2E5B-4A81-F8966484F088}"/>
              </a:ext>
            </a:extLst>
          </p:cNvPr>
          <p:cNvCxnSpPr/>
          <p:nvPr/>
        </p:nvCxnSpPr>
        <p:spPr>
          <a:xfrm>
            <a:off x="508000" y="5156200"/>
            <a:ext cx="685800" cy="0"/>
          </a:xfrm>
          <a:prstGeom prst="line">
            <a:avLst/>
          </a:prstGeom>
          <a:ln w="25400">
            <a:solidFill>
              <a:srgbClr val="006B62"/>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C33DCE9-522F-E5D2-F4BE-E8FA2F70F9DB}"/>
              </a:ext>
            </a:extLst>
          </p:cNvPr>
          <p:cNvSpPr txBox="1"/>
          <p:nvPr/>
        </p:nvSpPr>
        <p:spPr>
          <a:xfrm>
            <a:off x="508000" y="5422900"/>
            <a:ext cx="6096000" cy="246221"/>
          </a:xfrm>
          <a:prstGeom prst="rect">
            <a:avLst/>
          </a:prstGeom>
          <a:noFill/>
        </p:spPr>
        <p:txBody>
          <a:bodyPr vert="horz" wrap="square" lIns="0" tIns="0" rIns="0" bIns="0" rtlCol="0">
            <a:spAutoFit/>
          </a:bodyPr>
          <a:lstStyle/>
          <a:p>
            <a:r>
              <a:rPr lang="en-US" sz="1600" b="1">
                <a:solidFill>
                  <a:srgbClr val="006B62"/>
                </a:solidFill>
                <a:latin typeface="Aptos" panose="020B0004020202020204" pitchFamily="34" charset="0"/>
              </a:rPr>
              <a:t>ONE SQUAD. SHARED DRONE SUPPORT.</a:t>
            </a:r>
          </a:p>
        </p:txBody>
      </p:sp>
      <p:cxnSp>
        <p:nvCxnSpPr>
          <p:cNvPr id="14" name="Straight Connector 13">
            <a:extLst>
              <a:ext uri="{FF2B5EF4-FFF2-40B4-BE49-F238E27FC236}">
                <a16:creationId xmlns:a16="http://schemas.microsoft.com/office/drawing/2014/main" id="{8EA23FF0-41E4-8D7F-4C79-954606BFF274}"/>
              </a:ext>
            </a:extLst>
          </p:cNvPr>
          <p:cNvCxnSpPr/>
          <p:nvPr/>
        </p:nvCxnSpPr>
        <p:spPr>
          <a:xfrm>
            <a:off x="7035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8A6F4F8-5239-645A-2DFC-665347675C2F}"/>
              </a:ext>
            </a:extLst>
          </p:cNvPr>
          <p:cNvCxnSpPr/>
          <p:nvPr/>
        </p:nvCxnSpPr>
        <p:spPr>
          <a:xfrm>
            <a:off x="7442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3C2B2E7-3A7F-C67C-79F4-D3C4AD21A60D}"/>
              </a:ext>
            </a:extLst>
          </p:cNvPr>
          <p:cNvCxnSpPr/>
          <p:nvPr/>
        </p:nvCxnSpPr>
        <p:spPr>
          <a:xfrm>
            <a:off x="78486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7CC0CAA4-E881-C2BD-1554-315D5611D341}"/>
              </a:ext>
            </a:extLst>
          </p:cNvPr>
          <p:cNvCxnSpPr/>
          <p:nvPr/>
        </p:nvCxnSpPr>
        <p:spPr>
          <a:xfrm>
            <a:off x="82550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F74D55B-310A-7722-D455-877D662845AF}"/>
              </a:ext>
            </a:extLst>
          </p:cNvPr>
          <p:cNvCxnSpPr/>
          <p:nvPr/>
        </p:nvCxnSpPr>
        <p:spPr>
          <a:xfrm>
            <a:off x="86614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E2506D4-6230-07C2-B111-F942344BC8ED}"/>
              </a:ext>
            </a:extLst>
          </p:cNvPr>
          <p:cNvCxnSpPr/>
          <p:nvPr/>
        </p:nvCxnSpPr>
        <p:spPr>
          <a:xfrm>
            <a:off x="9067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BE7A71F-28EE-41B5-4813-E702624890AF}"/>
              </a:ext>
            </a:extLst>
          </p:cNvPr>
          <p:cNvCxnSpPr/>
          <p:nvPr/>
        </p:nvCxnSpPr>
        <p:spPr>
          <a:xfrm>
            <a:off x="9474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AAA7226C-90CE-7B8B-E36F-F779A36A6C65}"/>
              </a:ext>
            </a:extLst>
          </p:cNvPr>
          <p:cNvCxnSpPr/>
          <p:nvPr/>
        </p:nvCxnSpPr>
        <p:spPr>
          <a:xfrm>
            <a:off x="98806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F575FAB-E4C7-5DC5-004E-3446AFE78CE9}"/>
              </a:ext>
            </a:extLst>
          </p:cNvPr>
          <p:cNvCxnSpPr/>
          <p:nvPr/>
        </p:nvCxnSpPr>
        <p:spPr>
          <a:xfrm>
            <a:off x="102870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57FE563-9CFF-F791-9624-2D1035B289B3}"/>
              </a:ext>
            </a:extLst>
          </p:cNvPr>
          <p:cNvCxnSpPr/>
          <p:nvPr/>
        </p:nvCxnSpPr>
        <p:spPr>
          <a:xfrm>
            <a:off x="106934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F7B6E99-6203-EC5C-A6BB-52C12EDB1527}"/>
              </a:ext>
            </a:extLst>
          </p:cNvPr>
          <p:cNvCxnSpPr/>
          <p:nvPr/>
        </p:nvCxnSpPr>
        <p:spPr>
          <a:xfrm>
            <a:off x="110998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B16C968-BBFD-F49B-B2E9-351216E05010}"/>
              </a:ext>
            </a:extLst>
          </p:cNvPr>
          <p:cNvCxnSpPr/>
          <p:nvPr/>
        </p:nvCxnSpPr>
        <p:spPr>
          <a:xfrm>
            <a:off x="11506200" y="1651000"/>
            <a:ext cx="0" cy="36576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8E07003-F8B0-3CED-5BD8-E9CA2F792565}"/>
              </a:ext>
            </a:extLst>
          </p:cNvPr>
          <p:cNvCxnSpPr/>
          <p:nvPr/>
        </p:nvCxnSpPr>
        <p:spPr>
          <a:xfrm>
            <a:off x="7035800" y="16510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C03ECBA-FD25-B867-DCCD-BE61206A1BE4}"/>
              </a:ext>
            </a:extLst>
          </p:cNvPr>
          <p:cNvCxnSpPr/>
          <p:nvPr/>
        </p:nvCxnSpPr>
        <p:spPr>
          <a:xfrm>
            <a:off x="7035800" y="20574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2FB4622-DF29-C499-9A5B-09FF6B57CF9E}"/>
              </a:ext>
            </a:extLst>
          </p:cNvPr>
          <p:cNvCxnSpPr/>
          <p:nvPr/>
        </p:nvCxnSpPr>
        <p:spPr>
          <a:xfrm>
            <a:off x="7035800" y="24638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53485D1-D42F-AE67-A329-6F08D51D2A3D}"/>
              </a:ext>
            </a:extLst>
          </p:cNvPr>
          <p:cNvCxnSpPr/>
          <p:nvPr/>
        </p:nvCxnSpPr>
        <p:spPr>
          <a:xfrm>
            <a:off x="7035800" y="28702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2F99A73-C2C5-59DC-8369-3E19DCFECF3C}"/>
              </a:ext>
            </a:extLst>
          </p:cNvPr>
          <p:cNvCxnSpPr/>
          <p:nvPr/>
        </p:nvCxnSpPr>
        <p:spPr>
          <a:xfrm>
            <a:off x="7035800" y="32766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E6F22AA-63FD-3096-32F1-104A1A24911B}"/>
              </a:ext>
            </a:extLst>
          </p:cNvPr>
          <p:cNvCxnSpPr/>
          <p:nvPr/>
        </p:nvCxnSpPr>
        <p:spPr>
          <a:xfrm>
            <a:off x="7035800" y="36830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1436BE52-0769-C95C-730D-10568D24E6C0}"/>
              </a:ext>
            </a:extLst>
          </p:cNvPr>
          <p:cNvCxnSpPr/>
          <p:nvPr/>
        </p:nvCxnSpPr>
        <p:spPr>
          <a:xfrm>
            <a:off x="7035800" y="40894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8ADD7F0-20F7-C694-7B28-92987E62160E}"/>
              </a:ext>
            </a:extLst>
          </p:cNvPr>
          <p:cNvCxnSpPr/>
          <p:nvPr/>
        </p:nvCxnSpPr>
        <p:spPr>
          <a:xfrm>
            <a:off x="7035800" y="44958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5CE02A-2AF7-AD6B-FC2C-53D5798F9CC0}"/>
              </a:ext>
            </a:extLst>
          </p:cNvPr>
          <p:cNvCxnSpPr/>
          <p:nvPr/>
        </p:nvCxnSpPr>
        <p:spPr>
          <a:xfrm>
            <a:off x="7035800" y="49022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0B0CDCD-E7AD-0979-7EC9-774D4FD2D42D}"/>
              </a:ext>
            </a:extLst>
          </p:cNvPr>
          <p:cNvCxnSpPr/>
          <p:nvPr/>
        </p:nvCxnSpPr>
        <p:spPr>
          <a:xfrm>
            <a:off x="7035800" y="5308600"/>
            <a:ext cx="44704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EC3EA9FC-2299-D1D2-760C-B72DE17CABF9}"/>
              </a:ext>
            </a:extLst>
          </p:cNvPr>
          <p:cNvSpPr/>
          <p:nvPr/>
        </p:nvSpPr>
        <p:spPr>
          <a:xfrm>
            <a:off x="7531100" y="2120900"/>
            <a:ext cx="3302000" cy="3302000"/>
          </a:xfrm>
          <a:prstGeom prst="ellipse">
            <a:avLst/>
          </a:prstGeom>
          <a:noFill/>
          <a:ln w="25400" cap="flat" cmpd="sng" algn="ctr">
            <a:solidFill>
              <a:srgbClr val="DFE6ED"/>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FF40653-A6E8-A78B-71F5-6BB90458D392}"/>
              </a:ext>
            </a:extLst>
          </p:cNvPr>
          <p:cNvSpPr/>
          <p:nvPr/>
        </p:nvSpPr>
        <p:spPr>
          <a:xfrm>
            <a:off x="8031480" y="3220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6C4E6FD3-D4D4-B611-B2BA-84928ACAB9EC}"/>
              </a:ext>
            </a:extLst>
          </p:cNvPr>
          <p:cNvSpPr/>
          <p:nvPr/>
        </p:nvSpPr>
        <p:spPr>
          <a:xfrm>
            <a:off x="8001000" y="3403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FF02678F-FC99-C294-5BFA-91E9F17F20AA}"/>
              </a:ext>
            </a:extLst>
          </p:cNvPr>
          <p:cNvCxnSpPr/>
          <p:nvPr/>
        </p:nvCxnSpPr>
        <p:spPr>
          <a:xfrm flipH="1">
            <a:off x="8001000" y="3698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FF6566AB-5005-7D35-D1ED-D8D2B806A7B4}"/>
              </a:ext>
            </a:extLst>
          </p:cNvPr>
          <p:cNvCxnSpPr/>
          <p:nvPr/>
        </p:nvCxnSpPr>
        <p:spPr>
          <a:xfrm>
            <a:off x="8173720" y="3698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4F7B0006-B51C-EFBE-2966-C8E6363EE591}"/>
              </a:ext>
            </a:extLst>
          </p:cNvPr>
          <p:cNvCxnSpPr/>
          <p:nvPr/>
        </p:nvCxnSpPr>
        <p:spPr>
          <a:xfrm flipH="1">
            <a:off x="7879080" y="3474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E636C764-3036-579B-406C-1CE79309BE34}"/>
              </a:ext>
            </a:extLst>
          </p:cNvPr>
          <p:cNvCxnSpPr/>
          <p:nvPr/>
        </p:nvCxnSpPr>
        <p:spPr>
          <a:xfrm flipV="1">
            <a:off x="8173720" y="3281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D01F01C3-B768-260A-8F95-8477CC4EBAA8}"/>
              </a:ext>
            </a:extLst>
          </p:cNvPr>
          <p:cNvSpPr/>
          <p:nvPr/>
        </p:nvSpPr>
        <p:spPr>
          <a:xfrm>
            <a:off x="9047480" y="3855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AF760ED5-6BDA-043D-750B-D9C1E3347947}"/>
              </a:ext>
            </a:extLst>
          </p:cNvPr>
          <p:cNvSpPr/>
          <p:nvPr/>
        </p:nvSpPr>
        <p:spPr>
          <a:xfrm>
            <a:off x="9017000" y="4038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3465BD2B-9BEA-B6A1-D8B5-EB294EE11877}"/>
              </a:ext>
            </a:extLst>
          </p:cNvPr>
          <p:cNvCxnSpPr/>
          <p:nvPr/>
        </p:nvCxnSpPr>
        <p:spPr>
          <a:xfrm flipH="1">
            <a:off x="9017000" y="433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DE9A290D-1A93-F4D7-0E46-D692B596AD64}"/>
              </a:ext>
            </a:extLst>
          </p:cNvPr>
          <p:cNvCxnSpPr/>
          <p:nvPr/>
        </p:nvCxnSpPr>
        <p:spPr>
          <a:xfrm>
            <a:off x="9189720" y="433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66863D71-3605-FBC2-BC96-5510D75261CE}"/>
              </a:ext>
            </a:extLst>
          </p:cNvPr>
          <p:cNvCxnSpPr/>
          <p:nvPr/>
        </p:nvCxnSpPr>
        <p:spPr>
          <a:xfrm flipH="1">
            <a:off x="8895080" y="4109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B38426E2-A602-356D-0821-86AE4F4E0ABD}"/>
              </a:ext>
            </a:extLst>
          </p:cNvPr>
          <p:cNvCxnSpPr/>
          <p:nvPr/>
        </p:nvCxnSpPr>
        <p:spPr>
          <a:xfrm flipV="1">
            <a:off x="9189720" y="3916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49" name="Oval 48">
            <a:extLst>
              <a:ext uri="{FF2B5EF4-FFF2-40B4-BE49-F238E27FC236}">
                <a16:creationId xmlns:a16="http://schemas.microsoft.com/office/drawing/2014/main" id="{B062FBDE-C427-77B6-DD8E-23E0C451A994}"/>
              </a:ext>
            </a:extLst>
          </p:cNvPr>
          <p:cNvSpPr/>
          <p:nvPr/>
        </p:nvSpPr>
        <p:spPr>
          <a:xfrm>
            <a:off x="10228580" y="40081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55CDF54B-5566-2698-FD12-DD5602C9A623}"/>
              </a:ext>
            </a:extLst>
          </p:cNvPr>
          <p:cNvSpPr/>
          <p:nvPr/>
        </p:nvSpPr>
        <p:spPr>
          <a:xfrm>
            <a:off x="10198100" y="41910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E666D2E5-B0A7-3A74-EED7-5AC4415D1E42}"/>
              </a:ext>
            </a:extLst>
          </p:cNvPr>
          <p:cNvCxnSpPr/>
          <p:nvPr/>
        </p:nvCxnSpPr>
        <p:spPr>
          <a:xfrm flipH="1">
            <a:off x="10198100" y="44856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7A0CC679-E154-92E6-7C11-C25522B51871}"/>
              </a:ext>
            </a:extLst>
          </p:cNvPr>
          <p:cNvCxnSpPr/>
          <p:nvPr/>
        </p:nvCxnSpPr>
        <p:spPr>
          <a:xfrm>
            <a:off x="10370820" y="44856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DBE38CF9-5CC3-6C01-A436-BFCC2EE4A875}"/>
              </a:ext>
            </a:extLst>
          </p:cNvPr>
          <p:cNvCxnSpPr/>
          <p:nvPr/>
        </p:nvCxnSpPr>
        <p:spPr>
          <a:xfrm flipH="1">
            <a:off x="10076180" y="42621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AFD6ABC6-BCF5-E8B8-FE25-518E3F2F19B3}"/>
              </a:ext>
            </a:extLst>
          </p:cNvPr>
          <p:cNvCxnSpPr/>
          <p:nvPr/>
        </p:nvCxnSpPr>
        <p:spPr>
          <a:xfrm flipV="1">
            <a:off x="10370820" y="40690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70598961-1691-170D-169D-AA383BD75E22}"/>
              </a:ext>
            </a:extLst>
          </p:cNvPr>
          <p:cNvSpPr/>
          <p:nvPr/>
        </p:nvSpPr>
        <p:spPr>
          <a:xfrm>
            <a:off x="8945880" y="2585720"/>
            <a:ext cx="142240" cy="14224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6F94BCB7-C808-E066-0311-A2A810C59D38}"/>
              </a:ext>
            </a:extLst>
          </p:cNvPr>
          <p:cNvSpPr/>
          <p:nvPr/>
        </p:nvSpPr>
        <p:spPr>
          <a:xfrm>
            <a:off x="8915400" y="2768600"/>
            <a:ext cx="203200" cy="3251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07CDBB74-5CE6-F2D5-914F-ECBF52EA0D74}"/>
              </a:ext>
            </a:extLst>
          </p:cNvPr>
          <p:cNvCxnSpPr/>
          <p:nvPr/>
        </p:nvCxnSpPr>
        <p:spPr>
          <a:xfrm flipH="1">
            <a:off x="8915400" y="306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E0A3D036-DB01-6900-1958-EFF8008CEF03}"/>
              </a:ext>
            </a:extLst>
          </p:cNvPr>
          <p:cNvCxnSpPr/>
          <p:nvPr/>
        </p:nvCxnSpPr>
        <p:spPr>
          <a:xfrm>
            <a:off x="9088120" y="3063240"/>
            <a:ext cx="30480" cy="21336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5E10C0C4-EF5D-FF56-EEAA-BA06704D3339}"/>
              </a:ext>
            </a:extLst>
          </p:cNvPr>
          <p:cNvCxnSpPr/>
          <p:nvPr/>
        </p:nvCxnSpPr>
        <p:spPr>
          <a:xfrm flipH="1">
            <a:off x="8793480" y="2839720"/>
            <a:ext cx="152400" cy="12192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C4A3B6C5-5AFB-07DB-4905-EC4161DB9BA8}"/>
              </a:ext>
            </a:extLst>
          </p:cNvPr>
          <p:cNvCxnSpPr/>
          <p:nvPr/>
        </p:nvCxnSpPr>
        <p:spPr>
          <a:xfrm flipV="1">
            <a:off x="9088120" y="2646680"/>
            <a:ext cx="162560" cy="19304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B5EB5A47-424D-137F-D407-F559E467C6DE}"/>
              </a:ext>
            </a:extLst>
          </p:cNvPr>
          <p:cNvCxnSpPr/>
          <p:nvPr/>
        </p:nvCxnSpPr>
        <p:spPr>
          <a:xfrm flipH="1" flipV="1">
            <a:off x="10153904" y="2828544"/>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2" name="Oval 61">
            <a:extLst>
              <a:ext uri="{FF2B5EF4-FFF2-40B4-BE49-F238E27FC236}">
                <a16:creationId xmlns:a16="http://schemas.microsoft.com/office/drawing/2014/main" id="{A206F0D1-BA1C-C0B9-2BA4-2C29E7F94AA5}"/>
              </a:ext>
            </a:extLst>
          </p:cNvPr>
          <p:cNvSpPr/>
          <p:nvPr/>
        </p:nvSpPr>
        <p:spPr>
          <a:xfrm>
            <a:off x="10025888" y="2700528"/>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2244A6C8-C14C-8350-D343-0D9E68A72D17}"/>
              </a:ext>
            </a:extLst>
          </p:cNvPr>
          <p:cNvCxnSpPr/>
          <p:nvPr/>
        </p:nvCxnSpPr>
        <p:spPr>
          <a:xfrm>
            <a:off x="10068560" y="2828544"/>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707E3A84-3475-FB31-2C84-DA5CD6316CE5}"/>
              </a:ext>
            </a:extLst>
          </p:cNvPr>
          <p:cNvCxnSpPr/>
          <p:nvPr/>
        </p:nvCxnSpPr>
        <p:spPr>
          <a:xfrm flipV="1">
            <a:off x="10388600" y="2828544"/>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EA193135-352A-138D-5A17-7DE614835BE6}"/>
              </a:ext>
            </a:extLst>
          </p:cNvPr>
          <p:cNvSpPr/>
          <p:nvPr/>
        </p:nvSpPr>
        <p:spPr>
          <a:xfrm>
            <a:off x="10495280" y="2700528"/>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853EDD72-B9C4-5AED-0CA1-AF1257DA5FED}"/>
              </a:ext>
            </a:extLst>
          </p:cNvPr>
          <p:cNvCxnSpPr/>
          <p:nvPr/>
        </p:nvCxnSpPr>
        <p:spPr>
          <a:xfrm>
            <a:off x="10537952" y="2828544"/>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8DF79A86-F4AA-2ED5-2B42-80A49A39DBD3}"/>
              </a:ext>
            </a:extLst>
          </p:cNvPr>
          <p:cNvCxnSpPr/>
          <p:nvPr/>
        </p:nvCxnSpPr>
        <p:spPr>
          <a:xfrm flipH="1">
            <a:off x="10153904" y="3009900"/>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68" name="Oval 67">
            <a:extLst>
              <a:ext uri="{FF2B5EF4-FFF2-40B4-BE49-F238E27FC236}">
                <a16:creationId xmlns:a16="http://schemas.microsoft.com/office/drawing/2014/main" id="{27C9EE13-1D80-6350-0338-B09F61AD43EA}"/>
              </a:ext>
            </a:extLst>
          </p:cNvPr>
          <p:cNvSpPr/>
          <p:nvPr/>
        </p:nvSpPr>
        <p:spPr>
          <a:xfrm>
            <a:off x="10025888" y="3063240"/>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F0C17914-91DA-F364-0AC8-B50DBAF8BD14}"/>
              </a:ext>
            </a:extLst>
          </p:cNvPr>
          <p:cNvCxnSpPr/>
          <p:nvPr/>
        </p:nvCxnSpPr>
        <p:spPr>
          <a:xfrm>
            <a:off x="10068560" y="3191256"/>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B0A9C26C-22FD-3024-91B2-026FBBD85BC2}"/>
              </a:ext>
            </a:extLst>
          </p:cNvPr>
          <p:cNvCxnSpPr/>
          <p:nvPr/>
        </p:nvCxnSpPr>
        <p:spPr>
          <a:xfrm>
            <a:off x="10388600" y="3009900"/>
            <a:ext cx="234696" cy="181356"/>
          </a:xfrm>
          <a:prstGeom prst="line">
            <a:avLst/>
          </a:prstGeom>
          <a:ln w="53340">
            <a:solidFill>
              <a:srgbClr val="14263A"/>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84A8EBEB-2AE4-EDCE-E6AB-5405F706F063}"/>
              </a:ext>
            </a:extLst>
          </p:cNvPr>
          <p:cNvSpPr/>
          <p:nvPr/>
        </p:nvSpPr>
        <p:spPr>
          <a:xfrm>
            <a:off x="10495280" y="3063240"/>
            <a:ext cx="256032" cy="256032"/>
          </a:xfrm>
          <a:prstGeom prst="ellipse">
            <a:avLst/>
          </a:prstGeom>
          <a:noFill/>
          <a:ln w="2133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04AF7DDE-0985-2FDB-1F31-7633D63EC37B}"/>
              </a:ext>
            </a:extLst>
          </p:cNvPr>
          <p:cNvCxnSpPr/>
          <p:nvPr/>
        </p:nvCxnSpPr>
        <p:spPr>
          <a:xfrm>
            <a:off x="10537952" y="3191256"/>
            <a:ext cx="17068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73" name="Rectangle: Rounded Corners 72">
            <a:extLst>
              <a:ext uri="{FF2B5EF4-FFF2-40B4-BE49-F238E27FC236}">
                <a16:creationId xmlns:a16="http://schemas.microsoft.com/office/drawing/2014/main" id="{3C9D7A49-470B-D7A3-D831-DB7B22B69D56}"/>
              </a:ext>
            </a:extLst>
          </p:cNvPr>
          <p:cNvSpPr/>
          <p:nvPr/>
        </p:nvSpPr>
        <p:spPr>
          <a:xfrm>
            <a:off x="10292588" y="2839212"/>
            <a:ext cx="192024" cy="34137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C6138BE1-1E94-A96C-29CF-25D09967F501}"/>
              </a:ext>
            </a:extLst>
          </p:cNvPr>
          <p:cNvSpPr/>
          <p:nvPr/>
        </p:nvSpPr>
        <p:spPr>
          <a:xfrm>
            <a:off x="10356596" y="2903220"/>
            <a:ext cx="64007" cy="6400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03C0D842-CC7C-F215-A26E-B0B2F789CD87}"/>
              </a:ext>
            </a:extLst>
          </p:cNvPr>
          <p:cNvCxnSpPr/>
          <p:nvPr/>
        </p:nvCxnSpPr>
        <p:spPr>
          <a:xfrm>
            <a:off x="9398000" y="2794000"/>
            <a:ext cx="546100" cy="1524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76" name="Rectangle: Rounded Corners 75">
            <a:extLst>
              <a:ext uri="{FF2B5EF4-FFF2-40B4-BE49-F238E27FC236}">
                <a16:creationId xmlns:a16="http://schemas.microsoft.com/office/drawing/2014/main" id="{991D5D08-6BD4-AD3B-4BE4-369E509D656F}"/>
              </a:ext>
            </a:extLst>
          </p:cNvPr>
          <p:cNvSpPr/>
          <p:nvPr/>
        </p:nvSpPr>
        <p:spPr>
          <a:xfrm>
            <a:off x="9613900" y="1968500"/>
            <a:ext cx="18796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B90DC2DF-4457-D0FD-652E-BDAF9023698B}"/>
              </a:ext>
            </a:extLst>
          </p:cNvPr>
          <p:cNvSpPr txBox="1"/>
          <p:nvPr/>
        </p:nvSpPr>
        <p:spPr>
          <a:xfrm>
            <a:off x="9740900" y="2032000"/>
            <a:ext cx="16256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DRONE TEAMMATE</a:t>
            </a:r>
          </a:p>
        </p:txBody>
      </p:sp>
      <p:sp>
        <p:nvSpPr>
          <p:cNvPr id="78" name="Rectangle: Rounded Corners 77">
            <a:extLst>
              <a:ext uri="{FF2B5EF4-FFF2-40B4-BE49-F238E27FC236}">
                <a16:creationId xmlns:a16="http://schemas.microsoft.com/office/drawing/2014/main" id="{07CC9D0C-78BD-8347-FB5E-733D5A8DC010}"/>
              </a:ext>
            </a:extLst>
          </p:cNvPr>
          <p:cNvSpPr/>
          <p:nvPr/>
        </p:nvSpPr>
        <p:spPr>
          <a:xfrm>
            <a:off x="8331200" y="4864100"/>
            <a:ext cx="15240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C60A6295-9A45-E467-5B39-65F97B45B8C5}"/>
              </a:ext>
            </a:extLst>
          </p:cNvPr>
          <p:cNvSpPr txBox="1"/>
          <p:nvPr/>
        </p:nvSpPr>
        <p:spPr>
          <a:xfrm>
            <a:off x="8458200" y="4927600"/>
            <a:ext cx="12700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THE SQUAD</a:t>
            </a:r>
          </a:p>
        </p:txBody>
      </p:sp>
      <p:sp>
        <p:nvSpPr>
          <p:cNvPr id="80" name="TextBox 79">
            <a:extLst>
              <a:ext uri="{FF2B5EF4-FFF2-40B4-BE49-F238E27FC236}">
                <a16:creationId xmlns:a16="http://schemas.microsoft.com/office/drawing/2014/main" id="{AB2DD7E4-7551-77E8-2B05-30B8F434A725}"/>
              </a:ext>
            </a:extLst>
          </p:cNvPr>
          <p:cNvSpPr txBox="1"/>
          <p:nvPr/>
        </p:nvSpPr>
        <p:spPr>
          <a:xfrm>
            <a:off x="7975600" y="5702300"/>
            <a:ext cx="3810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ILLUSTRATIVE SQUAD CONCEPT</a:t>
            </a:r>
          </a:p>
        </p:txBody>
      </p:sp>
      <p:sp>
        <p:nvSpPr>
          <p:cNvPr id="81" name="TextBox 80">
            <a:extLst>
              <a:ext uri="{FF2B5EF4-FFF2-40B4-BE49-F238E27FC236}">
                <a16:creationId xmlns:a16="http://schemas.microsoft.com/office/drawing/2014/main" id="{548FDBD0-2B00-0068-CEC6-A288C768FD54}"/>
              </a:ext>
            </a:extLst>
          </p:cNvPr>
          <p:cNvSpPr txBox="1"/>
          <p:nvPr/>
        </p:nvSpPr>
        <p:spPr>
          <a:xfrm>
            <a:off x="508000" y="5943600"/>
            <a:ext cx="6985000" cy="169277"/>
          </a:xfrm>
          <a:prstGeom prst="rect">
            <a:avLst/>
          </a:prstGeom>
          <a:noFill/>
        </p:spPr>
        <p:txBody>
          <a:bodyPr vert="horz" wrap="square" lIns="0" tIns="0" rIns="0" bIns="0" rtlCol="0">
            <a:spAutoFit/>
          </a:bodyPr>
          <a:lstStyle/>
          <a:p>
            <a:r>
              <a:rPr lang="en-US" sz="1100">
                <a:solidFill>
                  <a:srgbClr val="617286"/>
                </a:solidFill>
                <a:latin typeface="Aptos" panose="020B0004020202020204" pitchFamily="34" charset="0"/>
              </a:rPr>
              <a:t>WHY NOW: Army drone specialists may join squads. [1]</a:t>
            </a:r>
          </a:p>
        </p:txBody>
      </p:sp>
      <p:sp>
        <p:nvSpPr>
          <p:cNvPr id="82" name="TextBox 81">
            <a:hlinkClick r:id="rId3"/>
            <a:extLst>
              <a:ext uri="{FF2B5EF4-FFF2-40B4-BE49-F238E27FC236}">
                <a16:creationId xmlns:a16="http://schemas.microsoft.com/office/drawing/2014/main" id="{57CBE665-E7D9-88C0-5231-364CA255ACE0}"/>
              </a:ext>
            </a:extLst>
          </p:cNvPr>
          <p:cNvSpPr txBox="1"/>
          <p:nvPr/>
        </p:nvSpPr>
        <p:spPr>
          <a:xfrm>
            <a:off x="8267700" y="5969000"/>
            <a:ext cx="34036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[1] Task &amp; Purpose · Aug. 31, 2026</a:t>
            </a:r>
          </a:p>
        </p:txBody>
      </p:sp>
    </p:spTree>
    <p:extLst>
      <p:ext uri="{BB962C8B-B14F-4D97-AF65-F5344CB8AC3E}">
        <p14:creationId xmlns:p14="http://schemas.microsoft.com/office/powerpoint/2010/main" val="91595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4A1DF8-4F6B-E8E8-E526-6980C4066C30}"/>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40E534F9-2823-433C-8148-C2956B43392F}"/>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01 / PROBLEM → PROPOSED INTERACTION</a:t>
            </a:r>
          </a:p>
        </p:txBody>
      </p:sp>
      <p:sp>
        <p:nvSpPr>
          <p:cNvPr id="4" name="TextBox 3">
            <a:extLst>
              <a:ext uri="{FF2B5EF4-FFF2-40B4-BE49-F238E27FC236}">
                <a16:creationId xmlns:a16="http://schemas.microsoft.com/office/drawing/2014/main" id="{4D5CC403-E294-40C3-5EBB-5B87C3BE5398}"/>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The squad needs to adapt. Eyes stay up.</a:t>
            </a:r>
          </a:p>
        </p:txBody>
      </p:sp>
      <p:cxnSp>
        <p:nvCxnSpPr>
          <p:cNvPr id="5" name="Straight Connector 4">
            <a:extLst>
              <a:ext uri="{FF2B5EF4-FFF2-40B4-BE49-F238E27FC236}">
                <a16:creationId xmlns:a16="http://schemas.microsoft.com/office/drawing/2014/main" id="{BA0D8F56-0169-2429-3C3E-DA2D418BC06A}"/>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7E1B0F7-00B9-60B0-6C2F-63211228FAD3}"/>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EA7304CC-E79A-3034-73A9-08C82910B8DA}"/>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02</a:t>
            </a:r>
          </a:p>
        </p:txBody>
      </p:sp>
      <p:sp>
        <p:nvSpPr>
          <p:cNvPr id="8" name="Rectangle: Rounded Corners 7">
            <a:extLst>
              <a:ext uri="{FF2B5EF4-FFF2-40B4-BE49-F238E27FC236}">
                <a16:creationId xmlns:a16="http://schemas.microsoft.com/office/drawing/2014/main" id="{CCA71B20-73F3-5EF6-9F11-D8BE11932370}"/>
              </a:ext>
            </a:extLst>
          </p:cNvPr>
          <p:cNvSpPr/>
          <p:nvPr/>
        </p:nvSpPr>
        <p:spPr>
          <a:xfrm>
            <a:off x="508000" y="1968500"/>
            <a:ext cx="50038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946571E-E6E8-A543-DBD9-D00885A09650}"/>
              </a:ext>
            </a:extLst>
          </p:cNvPr>
          <p:cNvSpPr txBox="1"/>
          <p:nvPr/>
        </p:nvSpPr>
        <p:spPr>
          <a:xfrm>
            <a:off x="635000" y="2032000"/>
            <a:ext cx="47498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OPERATING CONTEXT: GPS-DENIED ENVIRONMENTS</a:t>
            </a:r>
          </a:p>
        </p:txBody>
      </p:sp>
      <p:sp>
        <p:nvSpPr>
          <p:cNvPr id="10" name="Rectangle 9">
            <a:extLst>
              <a:ext uri="{FF2B5EF4-FFF2-40B4-BE49-F238E27FC236}">
                <a16:creationId xmlns:a16="http://schemas.microsoft.com/office/drawing/2014/main" id="{A0CB1F35-F014-21D3-926C-E6DEC1ED105C}"/>
              </a:ext>
            </a:extLst>
          </p:cNvPr>
          <p:cNvSpPr/>
          <p:nvPr/>
        </p:nvSpPr>
        <p:spPr>
          <a:xfrm>
            <a:off x="508000" y="2501900"/>
            <a:ext cx="5422900" cy="26289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A4C491E-2511-4B00-0B01-9A9C62A47BB4}"/>
              </a:ext>
            </a:extLst>
          </p:cNvPr>
          <p:cNvSpPr/>
          <p:nvPr/>
        </p:nvSpPr>
        <p:spPr>
          <a:xfrm>
            <a:off x="6184900" y="2501900"/>
            <a:ext cx="5499100" cy="26289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03BB44F-DA9F-894C-62A1-0842550720E7}"/>
              </a:ext>
            </a:extLst>
          </p:cNvPr>
          <p:cNvSpPr txBox="1"/>
          <p:nvPr/>
        </p:nvSpPr>
        <p:spPr>
          <a:xfrm>
            <a:off x="723900" y="2667000"/>
            <a:ext cx="5016500" cy="184666"/>
          </a:xfrm>
          <a:prstGeom prst="rect">
            <a:avLst/>
          </a:prstGeom>
          <a:noFill/>
        </p:spPr>
        <p:txBody>
          <a:bodyPr vert="horz" wrap="square" lIns="0" tIns="0" rIns="0" bIns="0" rtlCol="0">
            <a:spAutoFit/>
          </a:bodyPr>
          <a:lstStyle/>
          <a:p>
            <a:r>
              <a:rPr lang="en-US" sz="1200" b="1">
                <a:solidFill>
                  <a:srgbClr val="617286"/>
                </a:solidFill>
                <a:latin typeface="Aptos" panose="020B0004020202020204" pitchFamily="34" charset="0"/>
              </a:rPr>
              <a:t>WORKFLOW DESCRIBED TO US</a:t>
            </a:r>
          </a:p>
        </p:txBody>
      </p:sp>
      <p:sp>
        <p:nvSpPr>
          <p:cNvPr id="13" name="TextBox 12">
            <a:extLst>
              <a:ext uri="{FF2B5EF4-FFF2-40B4-BE49-F238E27FC236}">
                <a16:creationId xmlns:a16="http://schemas.microsoft.com/office/drawing/2014/main" id="{4D5E6AA0-5336-4892-51AC-1F7395374E19}"/>
              </a:ext>
            </a:extLst>
          </p:cNvPr>
          <p:cNvSpPr txBox="1"/>
          <p:nvPr/>
        </p:nvSpPr>
        <p:spPr>
          <a:xfrm>
            <a:off x="723900" y="3048000"/>
            <a:ext cx="50165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Small, chest-mounted tablet</a:t>
            </a:r>
          </a:p>
        </p:txBody>
      </p:sp>
      <p:sp>
        <p:nvSpPr>
          <p:cNvPr id="14" name="Oval 13">
            <a:extLst>
              <a:ext uri="{FF2B5EF4-FFF2-40B4-BE49-F238E27FC236}">
                <a16:creationId xmlns:a16="http://schemas.microsoft.com/office/drawing/2014/main" id="{08C2C32D-1D91-5218-3DC8-2E76EE7B6101}"/>
              </a:ext>
            </a:extLst>
          </p:cNvPr>
          <p:cNvSpPr/>
          <p:nvPr/>
        </p:nvSpPr>
        <p:spPr>
          <a:xfrm>
            <a:off x="1140206" y="4014724"/>
            <a:ext cx="81788" cy="81788"/>
          </a:xfrm>
          <a:prstGeom prst="ellipse">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37C37AC5-978D-D423-39FC-F11539C846AD}"/>
              </a:ext>
            </a:extLst>
          </p:cNvPr>
          <p:cNvSpPr/>
          <p:nvPr/>
        </p:nvSpPr>
        <p:spPr>
          <a:xfrm>
            <a:off x="1122680" y="4119880"/>
            <a:ext cx="116840" cy="186944"/>
          </a:xfrm>
          <a:prstGeom prst="round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C7AF9A80-BAB3-20B7-F511-11569C2BC5D1}"/>
              </a:ext>
            </a:extLst>
          </p:cNvPr>
          <p:cNvCxnSpPr/>
          <p:nvPr/>
        </p:nvCxnSpPr>
        <p:spPr>
          <a:xfrm flipH="1">
            <a:off x="1122680" y="42892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A1FB5B6-1F26-A508-AD7F-3D74B74268DF}"/>
              </a:ext>
            </a:extLst>
          </p:cNvPr>
          <p:cNvCxnSpPr/>
          <p:nvPr/>
        </p:nvCxnSpPr>
        <p:spPr>
          <a:xfrm>
            <a:off x="1221994" y="42892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169E808-04D9-992B-CDF9-F48208FEF4BE}"/>
              </a:ext>
            </a:extLst>
          </p:cNvPr>
          <p:cNvCxnSpPr/>
          <p:nvPr/>
        </p:nvCxnSpPr>
        <p:spPr>
          <a:xfrm flipH="1">
            <a:off x="1052576" y="4160774"/>
            <a:ext cx="87630" cy="70104"/>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76D9D589-337B-B758-9CB1-FCCF2E010813}"/>
              </a:ext>
            </a:extLst>
          </p:cNvPr>
          <p:cNvCxnSpPr/>
          <p:nvPr/>
        </p:nvCxnSpPr>
        <p:spPr>
          <a:xfrm flipV="1">
            <a:off x="1221994" y="4049776"/>
            <a:ext cx="93472" cy="110998"/>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DA97C31C-4B82-0AE4-02D1-80BFF7730DD1}"/>
              </a:ext>
            </a:extLst>
          </p:cNvPr>
          <p:cNvSpPr/>
          <p:nvPr/>
        </p:nvSpPr>
        <p:spPr>
          <a:xfrm>
            <a:off x="1787906" y="4230624"/>
            <a:ext cx="81788" cy="81788"/>
          </a:xfrm>
          <a:prstGeom prst="ellipse">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B0F142D7-8570-C97F-B38F-8A300B370648}"/>
              </a:ext>
            </a:extLst>
          </p:cNvPr>
          <p:cNvSpPr/>
          <p:nvPr/>
        </p:nvSpPr>
        <p:spPr>
          <a:xfrm>
            <a:off x="1770380" y="4335780"/>
            <a:ext cx="116840" cy="186944"/>
          </a:xfrm>
          <a:prstGeom prst="round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CED502FA-5992-A0F6-065A-2661454BAC62}"/>
              </a:ext>
            </a:extLst>
          </p:cNvPr>
          <p:cNvCxnSpPr/>
          <p:nvPr/>
        </p:nvCxnSpPr>
        <p:spPr>
          <a:xfrm flipH="1">
            <a:off x="1770380" y="45051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8F68FCC-3594-B993-53A8-5342C7429871}"/>
              </a:ext>
            </a:extLst>
          </p:cNvPr>
          <p:cNvCxnSpPr/>
          <p:nvPr/>
        </p:nvCxnSpPr>
        <p:spPr>
          <a:xfrm>
            <a:off x="1869694" y="4505198"/>
            <a:ext cx="17526" cy="122682"/>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752E1F4-E862-D8D4-B70C-44633B295540}"/>
              </a:ext>
            </a:extLst>
          </p:cNvPr>
          <p:cNvCxnSpPr/>
          <p:nvPr/>
        </p:nvCxnSpPr>
        <p:spPr>
          <a:xfrm flipH="1">
            <a:off x="1700276" y="4376674"/>
            <a:ext cx="87630" cy="70104"/>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3102AB9-2DE7-4617-BE86-19AA012C359A}"/>
              </a:ext>
            </a:extLst>
          </p:cNvPr>
          <p:cNvCxnSpPr/>
          <p:nvPr/>
        </p:nvCxnSpPr>
        <p:spPr>
          <a:xfrm flipV="1">
            <a:off x="1869694" y="4265676"/>
            <a:ext cx="93472" cy="110998"/>
          </a:xfrm>
          <a:prstGeom prst="line">
            <a:avLst/>
          </a:prstGeom>
          <a:ln w="29210">
            <a:solidFill>
              <a:srgbClr val="617286"/>
            </a:solidFill>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C003F0A1-BD00-0626-7F84-526A1024D1A3}"/>
              </a:ext>
            </a:extLst>
          </p:cNvPr>
          <p:cNvSpPr/>
          <p:nvPr/>
        </p:nvSpPr>
        <p:spPr>
          <a:xfrm>
            <a:off x="2552700" y="3556000"/>
            <a:ext cx="254000" cy="254000"/>
          </a:xfrm>
          <a:prstGeom prst="ellipse">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5D5BB78-E113-21B3-4AB3-884AF28B019E}"/>
              </a:ext>
            </a:extLst>
          </p:cNvPr>
          <p:cNvSpPr/>
          <p:nvPr/>
        </p:nvSpPr>
        <p:spPr>
          <a:xfrm>
            <a:off x="2514600" y="3898900"/>
            <a:ext cx="330200" cy="609600"/>
          </a:xfrm>
          <a:prstGeom prst="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B42F86BC-4FB8-CC34-3E6D-0A89DE789829}"/>
              </a:ext>
            </a:extLst>
          </p:cNvPr>
          <p:cNvCxnSpPr/>
          <p:nvPr/>
        </p:nvCxnSpPr>
        <p:spPr>
          <a:xfrm flipH="1">
            <a:off x="2527300" y="4457700"/>
            <a:ext cx="50800" cy="330200"/>
          </a:xfrm>
          <a:prstGeom prst="line">
            <a:avLst/>
          </a:prstGeom>
          <a:ln w="762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839FC07-8F09-FD8F-21DC-B3A7F8829B56}"/>
              </a:ext>
            </a:extLst>
          </p:cNvPr>
          <p:cNvCxnSpPr/>
          <p:nvPr/>
        </p:nvCxnSpPr>
        <p:spPr>
          <a:xfrm>
            <a:off x="2781300" y="4457700"/>
            <a:ext cx="76200" cy="330200"/>
          </a:xfrm>
          <a:prstGeom prst="line">
            <a:avLst/>
          </a:prstGeom>
          <a:ln w="76200">
            <a:solidFill>
              <a:srgbClr val="14263A"/>
            </a:solidFill>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F962A6BA-2E8D-9814-12B9-370E4E1D69F5}"/>
              </a:ext>
            </a:extLst>
          </p:cNvPr>
          <p:cNvSpPr/>
          <p:nvPr/>
        </p:nvSpPr>
        <p:spPr>
          <a:xfrm>
            <a:off x="2641600" y="3975100"/>
            <a:ext cx="469900" cy="330200"/>
          </a:xfrm>
          <a:prstGeom prst="rect">
            <a:avLst/>
          </a:prstGeom>
          <a:solidFill>
            <a:srgbClr val="61728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DA5D894-F8F1-C4D6-EEEF-11075996FF25}"/>
              </a:ext>
            </a:extLst>
          </p:cNvPr>
          <p:cNvSpPr/>
          <p:nvPr/>
        </p:nvSpPr>
        <p:spPr>
          <a:xfrm>
            <a:off x="2705100" y="4025900"/>
            <a:ext cx="342900" cy="2159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7B8DBAF3-4520-7C57-A114-276963FDE6BB}"/>
              </a:ext>
            </a:extLst>
          </p:cNvPr>
          <p:cNvCxnSpPr/>
          <p:nvPr/>
        </p:nvCxnSpPr>
        <p:spPr>
          <a:xfrm>
            <a:off x="2768600" y="3708400"/>
            <a:ext cx="177800" cy="190500"/>
          </a:xfrm>
          <a:prstGeom prst="line">
            <a:avLst/>
          </a:prstGeom>
          <a:ln w="25400">
            <a:solidFill>
              <a:srgbClr val="617286"/>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169597F2-519F-54BA-3729-4CB91F098C03}"/>
              </a:ext>
            </a:extLst>
          </p:cNvPr>
          <p:cNvCxnSpPr/>
          <p:nvPr/>
        </p:nvCxnSpPr>
        <p:spPr>
          <a:xfrm>
            <a:off x="2527300" y="3975100"/>
            <a:ext cx="177800" cy="292100"/>
          </a:xfrm>
          <a:prstGeom prst="line">
            <a:avLst/>
          </a:prstGeom>
          <a:ln w="635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26EEA0F-3089-B667-2160-EF8486CBD687}"/>
              </a:ext>
            </a:extLst>
          </p:cNvPr>
          <p:cNvCxnSpPr/>
          <p:nvPr/>
        </p:nvCxnSpPr>
        <p:spPr>
          <a:xfrm flipV="1">
            <a:off x="3238500" y="3746500"/>
            <a:ext cx="1168400" cy="368300"/>
          </a:xfrm>
          <a:prstGeom prst="line">
            <a:avLst/>
          </a:prstGeom>
          <a:ln w="25400">
            <a:solidFill>
              <a:srgbClr val="617286"/>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E500E6F-7156-273E-849D-B554CE603B74}"/>
              </a:ext>
            </a:extLst>
          </p:cNvPr>
          <p:cNvCxnSpPr/>
          <p:nvPr/>
        </p:nvCxnSpPr>
        <p:spPr>
          <a:xfrm flipH="1" flipV="1">
            <a:off x="4871466" y="3564001"/>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69E82EC5-5C5A-E2CD-EC7D-A7F5710E6EC8}"/>
              </a:ext>
            </a:extLst>
          </p:cNvPr>
          <p:cNvSpPr/>
          <p:nvPr/>
        </p:nvSpPr>
        <p:spPr>
          <a:xfrm>
            <a:off x="4778502" y="3471037"/>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0A78484D-EB5E-ED44-7F8E-FD6982D51C03}"/>
              </a:ext>
            </a:extLst>
          </p:cNvPr>
          <p:cNvCxnSpPr/>
          <p:nvPr/>
        </p:nvCxnSpPr>
        <p:spPr>
          <a:xfrm>
            <a:off x="4809490" y="3564001"/>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3A83593-3A33-8F37-45DF-980827551098}"/>
              </a:ext>
            </a:extLst>
          </p:cNvPr>
          <p:cNvCxnSpPr/>
          <p:nvPr/>
        </p:nvCxnSpPr>
        <p:spPr>
          <a:xfrm flipV="1">
            <a:off x="5041900" y="3564001"/>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58E60C0F-8C74-10CA-E74B-7E56E71742C6}"/>
              </a:ext>
            </a:extLst>
          </p:cNvPr>
          <p:cNvSpPr/>
          <p:nvPr/>
        </p:nvSpPr>
        <p:spPr>
          <a:xfrm>
            <a:off x="5119370" y="3471037"/>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328500C6-6E24-FAEE-E0BC-6629FE3F9ACC}"/>
              </a:ext>
            </a:extLst>
          </p:cNvPr>
          <p:cNvCxnSpPr/>
          <p:nvPr/>
        </p:nvCxnSpPr>
        <p:spPr>
          <a:xfrm>
            <a:off x="5150358" y="3564001"/>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4D46205B-E1F3-1C26-5AB6-5DDB2C45BFD1}"/>
              </a:ext>
            </a:extLst>
          </p:cNvPr>
          <p:cNvCxnSpPr/>
          <p:nvPr/>
        </p:nvCxnSpPr>
        <p:spPr>
          <a:xfrm flipH="1">
            <a:off x="4871466" y="3695700"/>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15D1977B-4DFB-8397-FC8C-0C614FA43F92}"/>
              </a:ext>
            </a:extLst>
          </p:cNvPr>
          <p:cNvSpPr/>
          <p:nvPr/>
        </p:nvSpPr>
        <p:spPr>
          <a:xfrm>
            <a:off x="4778502" y="3734435"/>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1777ED19-F51D-13D4-675A-765924A8886F}"/>
              </a:ext>
            </a:extLst>
          </p:cNvPr>
          <p:cNvCxnSpPr/>
          <p:nvPr/>
        </p:nvCxnSpPr>
        <p:spPr>
          <a:xfrm>
            <a:off x="4809490" y="3827399"/>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313276AF-F860-2E30-4712-BCAFE073FC82}"/>
              </a:ext>
            </a:extLst>
          </p:cNvPr>
          <p:cNvCxnSpPr/>
          <p:nvPr/>
        </p:nvCxnSpPr>
        <p:spPr>
          <a:xfrm>
            <a:off x="5041900" y="3695700"/>
            <a:ext cx="170434" cy="131699"/>
          </a:xfrm>
          <a:prstGeom prst="line">
            <a:avLst/>
          </a:prstGeom>
          <a:ln w="38735">
            <a:solidFill>
              <a:srgbClr val="14263A"/>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8BB53387-DDB2-C737-F10C-EE248931BAD0}"/>
              </a:ext>
            </a:extLst>
          </p:cNvPr>
          <p:cNvSpPr/>
          <p:nvPr/>
        </p:nvSpPr>
        <p:spPr>
          <a:xfrm>
            <a:off x="5119370" y="3734435"/>
            <a:ext cx="185928" cy="185928"/>
          </a:xfrm>
          <a:prstGeom prst="ellipse">
            <a:avLst/>
          </a:prstGeom>
          <a:noFill/>
          <a:ln w="1549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F1C94141-91BC-A16E-3CC7-914AB0685CDD}"/>
              </a:ext>
            </a:extLst>
          </p:cNvPr>
          <p:cNvCxnSpPr/>
          <p:nvPr/>
        </p:nvCxnSpPr>
        <p:spPr>
          <a:xfrm>
            <a:off x="5150358" y="3827399"/>
            <a:ext cx="12395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47" name="Rectangle: Rounded Corners 46">
            <a:extLst>
              <a:ext uri="{FF2B5EF4-FFF2-40B4-BE49-F238E27FC236}">
                <a16:creationId xmlns:a16="http://schemas.microsoft.com/office/drawing/2014/main" id="{B26940EE-AC3F-1EE7-C87B-264EF67C8F7B}"/>
              </a:ext>
            </a:extLst>
          </p:cNvPr>
          <p:cNvSpPr/>
          <p:nvPr/>
        </p:nvSpPr>
        <p:spPr>
          <a:xfrm>
            <a:off x="4972177" y="3571748"/>
            <a:ext cx="139446" cy="247904"/>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1BDC91FB-252C-46D7-D3B5-86B9F922E19E}"/>
              </a:ext>
            </a:extLst>
          </p:cNvPr>
          <p:cNvSpPr/>
          <p:nvPr/>
        </p:nvSpPr>
        <p:spPr>
          <a:xfrm>
            <a:off x="5018659" y="3618230"/>
            <a:ext cx="46482" cy="46482"/>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2E9A698F-2BC4-758A-6324-2086A31F3E4D}"/>
              </a:ext>
            </a:extLst>
          </p:cNvPr>
          <p:cNvSpPr txBox="1"/>
          <p:nvPr/>
        </p:nvSpPr>
        <p:spPr>
          <a:xfrm>
            <a:off x="723900" y="4800600"/>
            <a:ext cx="49657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Attention moves to the interface.</a:t>
            </a:r>
          </a:p>
        </p:txBody>
      </p:sp>
      <p:sp>
        <p:nvSpPr>
          <p:cNvPr id="50" name="TextBox 49">
            <a:extLst>
              <a:ext uri="{FF2B5EF4-FFF2-40B4-BE49-F238E27FC236}">
                <a16:creationId xmlns:a16="http://schemas.microsoft.com/office/drawing/2014/main" id="{401730E0-63B9-6DE7-2155-6DADC6CF076B}"/>
              </a:ext>
            </a:extLst>
          </p:cNvPr>
          <p:cNvSpPr txBox="1"/>
          <p:nvPr/>
        </p:nvSpPr>
        <p:spPr>
          <a:xfrm>
            <a:off x="6400800" y="2667000"/>
            <a:ext cx="50546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TACTLINK / ONBOARD VISION CONCEPT</a:t>
            </a:r>
          </a:p>
        </p:txBody>
      </p:sp>
      <p:sp>
        <p:nvSpPr>
          <p:cNvPr id="51" name="TextBox 50">
            <a:extLst>
              <a:ext uri="{FF2B5EF4-FFF2-40B4-BE49-F238E27FC236}">
                <a16:creationId xmlns:a16="http://schemas.microsoft.com/office/drawing/2014/main" id="{E4FDE280-408F-414F-5D1D-38F154F3CBB6}"/>
              </a:ext>
            </a:extLst>
          </p:cNvPr>
          <p:cNvSpPr txBox="1"/>
          <p:nvPr/>
        </p:nvSpPr>
        <p:spPr>
          <a:xfrm>
            <a:off x="6400800" y="3048000"/>
            <a:ext cx="50673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Signal directly to the drone</a:t>
            </a:r>
          </a:p>
        </p:txBody>
      </p:sp>
      <p:sp>
        <p:nvSpPr>
          <p:cNvPr id="52" name="Oval 51">
            <a:extLst>
              <a:ext uri="{FF2B5EF4-FFF2-40B4-BE49-F238E27FC236}">
                <a16:creationId xmlns:a16="http://schemas.microsoft.com/office/drawing/2014/main" id="{4AEFACCB-279E-6AE6-27E9-A8910FAE47EA}"/>
              </a:ext>
            </a:extLst>
          </p:cNvPr>
          <p:cNvSpPr/>
          <p:nvPr/>
        </p:nvSpPr>
        <p:spPr>
          <a:xfrm>
            <a:off x="6829806" y="4014724"/>
            <a:ext cx="81788" cy="8178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E9ECB218-EFE6-6DA6-941F-1E31887CA467}"/>
              </a:ext>
            </a:extLst>
          </p:cNvPr>
          <p:cNvSpPr/>
          <p:nvPr/>
        </p:nvSpPr>
        <p:spPr>
          <a:xfrm>
            <a:off x="6812280" y="4119880"/>
            <a:ext cx="116840" cy="18694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A1B314AB-7A8C-A109-9711-B0ECE899EDB2}"/>
              </a:ext>
            </a:extLst>
          </p:cNvPr>
          <p:cNvCxnSpPr/>
          <p:nvPr/>
        </p:nvCxnSpPr>
        <p:spPr>
          <a:xfrm flipH="1">
            <a:off x="6812280" y="42892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92053746-224D-BBB4-C86A-734365EB6D7C}"/>
              </a:ext>
            </a:extLst>
          </p:cNvPr>
          <p:cNvCxnSpPr/>
          <p:nvPr/>
        </p:nvCxnSpPr>
        <p:spPr>
          <a:xfrm>
            <a:off x="6911594" y="42892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6D0C4EAE-8E2F-71A4-9A2B-4ED3A5BE0CB5}"/>
              </a:ext>
            </a:extLst>
          </p:cNvPr>
          <p:cNvCxnSpPr/>
          <p:nvPr/>
        </p:nvCxnSpPr>
        <p:spPr>
          <a:xfrm flipH="1">
            <a:off x="6742176" y="4160774"/>
            <a:ext cx="87630" cy="70104"/>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5AAC371E-4B44-0A1E-A353-421B4531BBEC}"/>
              </a:ext>
            </a:extLst>
          </p:cNvPr>
          <p:cNvCxnSpPr/>
          <p:nvPr/>
        </p:nvCxnSpPr>
        <p:spPr>
          <a:xfrm flipV="1">
            <a:off x="6911594" y="4049776"/>
            <a:ext cx="93472" cy="110998"/>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F50C851B-5394-A158-24DB-A4CFC8E889A7}"/>
              </a:ext>
            </a:extLst>
          </p:cNvPr>
          <p:cNvSpPr/>
          <p:nvPr/>
        </p:nvSpPr>
        <p:spPr>
          <a:xfrm>
            <a:off x="7464806" y="4230624"/>
            <a:ext cx="81788" cy="8178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Rounded Corners 58">
            <a:extLst>
              <a:ext uri="{FF2B5EF4-FFF2-40B4-BE49-F238E27FC236}">
                <a16:creationId xmlns:a16="http://schemas.microsoft.com/office/drawing/2014/main" id="{94534BD3-09DD-3B9B-31A2-2EDC9F89AACB}"/>
              </a:ext>
            </a:extLst>
          </p:cNvPr>
          <p:cNvSpPr/>
          <p:nvPr/>
        </p:nvSpPr>
        <p:spPr>
          <a:xfrm>
            <a:off x="7447280" y="4335780"/>
            <a:ext cx="116840" cy="18694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4F98A11A-D0AD-E939-14D2-CC2935C3B366}"/>
              </a:ext>
            </a:extLst>
          </p:cNvPr>
          <p:cNvCxnSpPr/>
          <p:nvPr/>
        </p:nvCxnSpPr>
        <p:spPr>
          <a:xfrm flipH="1">
            <a:off x="7447280" y="45051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3B2C66F2-3C4A-DE5E-2B71-8CCC1B93A798}"/>
              </a:ext>
            </a:extLst>
          </p:cNvPr>
          <p:cNvCxnSpPr/>
          <p:nvPr/>
        </p:nvCxnSpPr>
        <p:spPr>
          <a:xfrm>
            <a:off x="7546594" y="4505198"/>
            <a:ext cx="17526" cy="122682"/>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7D63D20B-031C-DF7D-3EE3-67458CCC52D2}"/>
              </a:ext>
            </a:extLst>
          </p:cNvPr>
          <p:cNvCxnSpPr/>
          <p:nvPr/>
        </p:nvCxnSpPr>
        <p:spPr>
          <a:xfrm flipH="1">
            <a:off x="7377176" y="4376674"/>
            <a:ext cx="87630" cy="70104"/>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966DAE34-8C71-429C-5D7A-8D6E89479872}"/>
              </a:ext>
            </a:extLst>
          </p:cNvPr>
          <p:cNvCxnSpPr/>
          <p:nvPr/>
        </p:nvCxnSpPr>
        <p:spPr>
          <a:xfrm flipV="1">
            <a:off x="7546594" y="4265676"/>
            <a:ext cx="93472" cy="110998"/>
          </a:xfrm>
          <a:prstGeom prst="line">
            <a:avLst/>
          </a:prstGeom>
          <a:ln w="29210">
            <a:solidFill>
              <a:srgbClr val="006B62"/>
            </a:solidFill>
          </a:ln>
        </p:spPr>
        <p:style>
          <a:lnRef idx="2">
            <a:schemeClr val="accent1"/>
          </a:lnRef>
          <a:fillRef idx="0">
            <a:schemeClr val="accent1"/>
          </a:fillRef>
          <a:effectRef idx="1">
            <a:schemeClr val="accent1"/>
          </a:effectRef>
          <a:fontRef idx="minor">
            <a:schemeClr val="tx1"/>
          </a:fontRef>
        </p:style>
      </p:cxnSp>
      <p:sp>
        <p:nvSpPr>
          <p:cNvPr id="64" name="Oval 63">
            <a:extLst>
              <a:ext uri="{FF2B5EF4-FFF2-40B4-BE49-F238E27FC236}">
                <a16:creationId xmlns:a16="http://schemas.microsoft.com/office/drawing/2014/main" id="{B91EBA25-13DE-EED5-BE4B-031B727AAE47}"/>
              </a:ext>
            </a:extLst>
          </p:cNvPr>
          <p:cNvSpPr/>
          <p:nvPr/>
        </p:nvSpPr>
        <p:spPr>
          <a:xfrm>
            <a:off x="8350758" y="3862832"/>
            <a:ext cx="138684" cy="138684"/>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917DB6FB-3AC8-FFCE-5258-8A488F1C2C23}"/>
              </a:ext>
            </a:extLst>
          </p:cNvPr>
          <p:cNvSpPr/>
          <p:nvPr/>
        </p:nvSpPr>
        <p:spPr>
          <a:xfrm>
            <a:off x="8321040" y="4041140"/>
            <a:ext cx="198120" cy="316992"/>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Connector 65">
            <a:extLst>
              <a:ext uri="{FF2B5EF4-FFF2-40B4-BE49-F238E27FC236}">
                <a16:creationId xmlns:a16="http://schemas.microsoft.com/office/drawing/2014/main" id="{003B0A23-4241-03AA-FA48-BC0B2F2DB91C}"/>
              </a:ext>
            </a:extLst>
          </p:cNvPr>
          <p:cNvCxnSpPr/>
          <p:nvPr/>
        </p:nvCxnSpPr>
        <p:spPr>
          <a:xfrm flipH="1">
            <a:off x="8321040" y="4328414"/>
            <a:ext cx="29718" cy="208026"/>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B3808F62-32DF-47F2-A40C-EFD1C2334FAB}"/>
              </a:ext>
            </a:extLst>
          </p:cNvPr>
          <p:cNvCxnSpPr/>
          <p:nvPr/>
        </p:nvCxnSpPr>
        <p:spPr>
          <a:xfrm>
            <a:off x="8489442" y="4328414"/>
            <a:ext cx="29718" cy="208026"/>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CA02C4AB-8E33-8943-2556-3055CEBCEC0F}"/>
              </a:ext>
            </a:extLst>
          </p:cNvPr>
          <p:cNvCxnSpPr/>
          <p:nvPr/>
        </p:nvCxnSpPr>
        <p:spPr>
          <a:xfrm flipH="1">
            <a:off x="8202168" y="4110482"/>
            <a:ext cx="148590" cy="118872"/>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9670B828-9DFB-ED96-0C7D-A7C6878FFC13}"/>
              </a:ext>
            </a:extLst>
          </p:cNvPr>
          <p:cNvCxnSpPr/>
          <p:nvPr/>
        </p:nvCxnSpPr>
        <p:spPr>
          <a:xfrm flipV="1">
            <a:off x="8489442" y="3922268"/>
            <a:ext cx="158496" cy="188214"/>
          </a:xfrm>
          <a:prstGeom prst="line">
            <a:avLst/>
          </a:prstGeom>
          <a:ln w="495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71C85404-A43A-C686-1E46-574D96F99145}"/>
              </a:ext>
            </a:extLst>
          </p:cNvPr>
          <p:cNvCxnSpPr/>
          <p:nvPr/>
        </p:nvCxnSpPr>
        <p:spPr>
          <a:xfrm flipH="1" flipV="1">
            <a:off x="10666984" y="3582924"/>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0ACFACC6-6091-853C-61B7-3A556AD37397}"/>
              </a:ext>
            </a:extLst>
          </p:cNvPr>
          <p:cNvSpPr/>
          <p:nvPr/>
        </p:nvSpPr>
        <p:spPr>
          <a:xfrm>
            <a:off x="10569448" y="3485388"/>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8856C39A-B85B-65C7-139C-7ABD5C3074EA}"/>
              </a:ext>
            </a:extLst>
          </p:cNvPr>
          <p:cNvCxnSpPr/>
          <p:nvPr/>
        </p:nvCxnSpPr>
        <p:spPr>
          <a:xfrm>
            <a:off x="10601960" y="3582924"/>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0A5EAA3D-3407-3B4F-3EB0-9A9F1D4973E5}"/>
              </a:ext>
            </a:extLst>
          </p:cNvPr>
          <p:cNvCxnSpPr/>
          <p:nvPr/>
        </p:nvCxnSpPr>
        <p:spPr>
          <a:xfrm flipV="1">
            <a:off x="10845800" y="3582924"/>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7CED7FC3-61CB-5D13-EA70-D5F995E86783}"/>
              </a:ext>
            </a:extLst>
          </p:cNvPr>
          <p:cNvSpPr/>
          <p:nvPr/>
        </p:nvSpPr>
        <p:spPr>
          <a:xfrm>
            <a:off x="10927080" y="3485388"/>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BB358D24-FABF-FBE9-7370-79BE814ABD5D}"/>
              </a:ext>
            </a:extLst>
          </p:cNvPr>
          <p:cNvCxnSpPr/>
          <p:nvPr/>
        </p:nvCxnSpPr>
        <p:spPr>
          <a:xfrm>
            <a:off x="10959592" y="3582924"/>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A18C1D45-763E-D33E-D1F6-544D9CAE45A8}"/>
              </a:ext>
            </a:extLst>
          </p:cNvPr>
          <p:cNvCxnSpPr/>
          <p:nvPr/>
        </p:nvCxnSpPr>
        <p:spPr>
          <a:xfrm flipH="1">
            <a:off x="10666984" y="3721100"/>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DB423300-1882-D36F-475A-83C72E12A6BF}"/>
              </a:ext>
            </a:extLst>
          </p:cNvPr>
          <p:cNvSpPr/>
          <p:nvPr/>
        </p:nvSpPr>
        <p:spPr>
          <a:xfrm>
            <a:off x="10569448" y="3761740"/>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a:extLst>
              <a:ext uri="{FF2B5EF4-FFF2-40B4-BE49-F238E27FC236}">
                <a16:creationId xmlns:a16="http://schemas.microsoft.com/office/drawing/2014/main" id="{9FAA6160-AFDC-ACF6-5C3A-C4A54491788E}"/>
              </a:ext>
            </a:extLst>
          </p:cNvPr>
          <p:cNvCxnSpPr/>
          <p:nvPr/>
        </p:nvCxnSpPr>
        <p:spPr>
          <a:xfrm>
            <a:off x="10601960" y="3859276"/>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332B868C-2078-E8CB-B862-9A2A2F2B10B1}"/>
              </a:ext>
            </a:extLst>
          </p:cNvPr>
          <p:cNvCxnSpPr/>
          <p:nvPr/>
        </p:nvCxnSpPr>
        <p:spPr>
          <a:xfrm>
            <a:off x="10845800" y="3721100"/>
            <a:ext cx="178816" cy="138176"/>
          </a:xfrm>
          <a:prstGeom prst="line">
            <a:avLst/>
          </a:prstGeom>
          <a:ln w="40640">
            <a:solidFill>
              <a:srgbClr val="14263A"/>
            </a:solidFill>
          </a:ln>
        </p:spPr>
        <p:style>
          <a:lnRef idx="2">
            <a:schemeClr val="accent1"/>
          </a:lnRef>
          <a:fillRef idx="0">
            <a:schemeClr val="accent1"/>
          </a:fillRef>
          <a:effectRef idx="1">
            <a:schemeClr val="accent1"/>
          </a:effectRef>
          <a:fontRef idx="minor">
            <a:schemeClr val="tx1"/>
          </a:fontRef>
        </p:style>
      </p:cxnSp>
      <p:sp>
        <p:nvSpPr>
          <p:cNvPr id="80" name="Oval 79">
            <a:extLst>
              <a:ext uri="{FF2B5EF4-FFF2-40B4-BE49-F238E27FC236}">
                <a16:creationId xmlns:a16="http://schemas.microsoft.com/office/drawing/2014/main" id="{E2D14853-AFB6-270C-3249-4250B64CDCBF}"/>
              </a:ext>
            </a:extLst>
          </p:cNvPr>
          <p:cNvSpPr/>
          <p:nvPr/>
        </p:nvSpPr>
        <p:spPr>
          <a:xfrm>
            <a:off x="10927080" y="3761740"/>
            <a:ext cx="195072" cy="195072"/>
          </a:xfrm>
          <a:prstGeom prst="ellipse">
            <a:avLst/>
          </a:prstGeom>
          <a:noFill/>
          <a:ln w="1625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FB3297D2-6DDA-F052-5DF5-9AE9F67C2DEA}"/>
              </a:ext>
            </a:extLst>
          </p:cNvPr>
          <p:cNvCxnSpPr/>
          <p:nvPr/>
        </p:nvCxnSpPr>
        <p:spPr>
          <a:xfrm>
            <a:off x="10959592" y="3859276"/>
            <a:ext cx="13004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82" name="Rectangle: Rounded Corners 81">
            <a:extLst>
              <a:ext uri="{FF2B5EF4-FFF2-40B4-BE49-F238E27FC236}">
                <a16:creationId xmlns:a16="http://schemas.microsoft.com/office/drawing/2014/main" id="{F1CF2B9A-366C-6E87-8FCC-0C64772EC171}"/>
              </a:ext>
            </a:extLst>
          </p:cNvPr>
          <p:cNvSpPr/>
          <p:nvPr/>
        </p:nvSpPr>
        <p:spPr>
          <a:xfrm>
            <a:off x="10772648" y="3591052"/>
            <a:ext cx="146304" cy="26009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DC64218A-0E92-A175-F12D-E4D48F445D78}"/>
              </a:ext>
            </a:extLst>
          </p:cNvPr>
          <p:cNvSpPr/>
          <p:nvPr/>
        </p:nvSpPr>
        <p:spPr>
          <a:xfrm>
            <a:off x="10821416" y="3639820"/>
            <a:ext cx="48769" cy="4876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5809F765-792A-E970-554F-C58C9A7C7DC1}"/>
              </a:ext>
            </a:extLst>
          </p:cNvPr>
          <p:cNvCxnSpPr/>
          <p:nvPr/>
        </p:nvCxnSpPr>
        <p:spPr>
          <a:xfrm flipV="1">
            <a:off x="8801100" y="3721100"/>
            <a:ext cx="1549400" cy="1778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B30D9B6D-0703-267A-9D11-9075AB79ECE1}"/>
              </a:ext>
            </a:extLst>
          </p:cNvPr>
          <p:cNvSpPr txBox="1"/>
          <p:nvPr/>
        </p:nvSpPr>
        <p:spPr>
          <a:xfrm>
            <a:off x="8940800" y="4089400"/>
            <a:ext cx="1714500" cy="153888"/>
          </a:xfrm>
          <a:prstGeom prst="rect">
            <a:avLst/>
          </a:prstGeom>
          <a:noFill/>
        </p:spPr>
        <p:txBody>
          <a:bodyPr vert="horz" wrap="square" lIns="0" tIns="0" rIns="0" bIns="0" rtlCol="0">
            <a:spAutoFit/>
          </a:bodyPr>
          <a:lstStyle/>
          <a:p>
            <a:r>
              <a:rPr lang="en-US" sz="1000" b="1">
                <a:solidFill>
                  <a:srgbClr val="2563EB"/>
                </a:solidFill>
                <a:latin typeface="Aptos" panose="020B0004020202020204" pitchFamily="34" charset="0"/>
              </a:rPr>
              <a:t>VISUAL COMMAND</a:t>
            </a:r>
          </a:p>
        </p:txBody>
      </p:sp>
      <p:sp>
        <p:nvSpPr>
          <p:cNvPr id="86" name="TextBox 85">
            <a:extLst>
              <a:ext uri="{FF2B5EF4-FFF2-40B4-BE49-F238E27FC236}">
                <a16:creationId xmlns:a16="http://schemas.microsoft.com/office/drawing/2014/main" id="{3D354BB5-955E-3B80-65EF-0DD57D8C0572}"/>
              </a:ext>
            </a:extLst>
          </p:cNvPr>
          <p:cNvSpPr txBox="1"/>
          <p:nvPr/>
        </p:nvSpPr>
        <p:spPr>
          <a:xfrm>
            <a:off x="6400800" y="4800600"/>
            <a:ext cx="5067300" cy="246221"/>
          </a:xfrm>
          <a:prstGeom prst="rect">
            <a:avLst/>
          </a:prstGeom>
          <a:noFill/>
        </p:spPr>
        <p:txBody>
          <a:bodyPr vert="horz" wrap="square" lIns="0" tIns="0" rIns="0" bIns="0" rtlCol="0">
            <a:spAutoFit/>
          </a:bodyPr>
          <a:lstStyle/>
          <a:p>
            <a:r>
              <a:rPr lang="en-US" sz="1600">
                <a:solidFill>
                  <a:srgbClr val="006B62"/>
                </a:solidFill>
                <a:latin typeface="Aptos" panose="020B0004020202020204" pitchFamily="34" charset="0"/>
              </a:rPr>
              <a:t>Change intent while facing the squad.</a:t>
            </a:r>
          </a:p>
        </p:txBody>
      </p:sp>
      <p:sp>
        <p:nvSpPr>
          <p:cNvPr id="87" name="TextBox 86">
            <a:extLst>
              <a:ext uri="{FF2B5EF4-FFF2-40B4-BE49-F238E27FC236}">
                <a16:creationId xmlns:a16="http://schemas.microsoft.com/office/drawing/2014/main" id="{09F8A653-5D1D-E2CA-E04F-3876C119E10F}"/>
              </a:ext>
            </a:extLst>
          </p:cNvPr>
          <p:cNvSpPr txBox="1"/>
          <p:nvPr/>
        </p:nvSpPr>
        <p:spPr>
          <a:xfrm>
            <a:off x="508000" y="5359400"/>
            <a:ext cx="20701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INTENDED IMPACT</a:t>
            </a:r>
          </a:p>
        </p:txBody>
      </p:sp>
      <p:sp>
        <p:nvSpPr>
          <p:cNvPr id="88" name="TextBox 87">
            <a:extLst>
              <a:ext uri="{FF2B5EF4-FFF2-40B4-BE49-F238E27FC236}">
                <a16:creationId xmlns:a16="http://schemas.microsoft.com/office/drawing/2014/main" id="{79AC8D1C-30DF-DDCA-84DF-F022C93A18C7}"/>
              </a:ext>
            </a:extLst>
          </p:cNvPr>
          <p:cNvSpPr txBox="1"/>
          <p:nvPr/>
        </p:nvSpPr>
        <p:spPr>
          <a:xfrm>
            <a:off x="2654300" y="5283200"/>
            <a:ext cx="90170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Redirect drone support as squad needs change.</a:t>
            </a:r>
          </a:p>
        </p:txBody>
      </p:sp>
      <p:sp>
        <p:nvSpPr>
          <p:cNvPr id="89" name="TextBox 88">
            <a:extLst>
              <a:ext uri="{FF2B5EF4-FFF2-40B4-BE49-F238E27FC236}">
                <a16:creationId xmlns:a16="http://schemas.microsoft.com/office/drawing/2014/main" id="{46AD2018-2E93-603D-053A-FE91BAEC7A82}"/>
              </a:ext>
            </a:extLst>
          </p:cNvPr>
          <p:cNvSpPr txBox="1"/>
          <p:nvPr/>
        </p:nvSpPr>
        <p:spPr>
          <a:xfrm>
            <a:off x="508000" y="5829300"/>
            <a:ext cx="112014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Discovery: team conversation with a Mach Industries representative (paraphrased; informal user input).</a:t>
            </a:r>
          </a:p>
        </p:txBody>
      </p:sp>
      <p:sp>
        <p:nvSpPr>
          <p:cNvPr id="90" name="TextBox 89">
            <a:extLst>
              <a:ext uri="{FF2B5EF4-FFF2-40B4-BE49-F238E27FC236}">
                <a16:creationId xmlns:a16="http://schemas.microsoft.com/office/drawing/2014/main" id="{34387559-5A6C-C25F-B12B-D76271C6B1DD}"/>
              </a:ext>
            </a:extLst>
          </p:cNvPr>
          <p:cNvSpPr txBox="1"/>
          <p:nvPr/>
        </p:nvSpPr>
        <p:spPr>
          <a:xfrm>
            <a:off x="508000" y="6032500"/>
            <a:ext cx="112014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Today: connected simulation. Onboard vision is planned; GPS-independent navigation is a separate requirement.</a:t>
            </a:r>
          </a:p>
        </p:txBody>
      </p:sp>
    </p:spTree>
    <p:extLst>
      <p:ext uri="{BB962C8B-B14F-4D97-AF65-F5344CB8AC3E}">
        <p14:creationId xmlns:p14="http://schemas.microsoft.com/office/powerpoint/2010/main" val="547053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E927DF-6A4D-4B64-7FCC-8DDCD9038826}"/>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E8D14445-EF66-4EB7-84D8-B8BEBA910ECB}"/>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02 / THE INSPIRATION</a:t>
            </a:r>
          </a:p>
        </p:txBody>
      </p:sp>
      <p:sp>
        <p:nvSpPr>
          <p:cNvPr id="4" name="TextBox 3">
            <a:extLst>
              <a:ext uri="{FF2B5EF4-FFF2-40B4-BE49-F238E27FC236}">
                <a16:creationId xmlns:a16="http://schemas.microsoft.com/office/drawing/2014/main" id="{BA4A66D2-9467-503E-527E-BCC9D283DFDC}"/>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Human intent, in more than one form.</a:t>
            </a:r>
          </a:p>
        </p:txBody>
      </p:sp>
      <p:cxnSp>
        <p:nvCxnSpPr>
          <p:cNvPr id="5" name="Straight Connector 4">
            <a:extLst>
              <a:ext uri="{FF2B5EF4-FFF2-40B4-BE49-F238E27FC236}">
                <a16:creationId xmlns:a16="http://schemas.microsoft.com/office/drawing/2014/main" id="{98610E09-6969-F6C3-A459-AAFB3EFBAD7E}"/>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6398562-3A89-36A6-E487-F2F613E5D8D1}"/>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82FB5191-1B53-90E1-14E9-A5C04FA9C2D6}"/>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03</a:t>
            </a:r>
          </a:p>
        </p:txBody>
      </p:sp>
      <p:sp>
        <p:nvSpPr>
          <p:cNvPr id="8" name="Rectangle 7">
            <a:extLst>
              <a:ext uri="{FF2B5EF4-FFF2-40B4-BE49-F238E27FC236}">
                <a16:creationId xmlns:a16="http://schemas.microsoft.com/office/drawing/2014/main" id="{5BB128EE-10DA-05F0-CC27-C4836F48C221}"/>
              </a:ext>
            </a:extLst>
          </p:cNvPr>
          <p:cNvSpPr/>
          <p:nvPr/>
        </p:nvSpPr>
        <p:spPr>
          <a:xfrm>
            <a:off x="508000" y="2476500"/>
            <a:ext cx="4991100" cy="26797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8936A88-6BE6-DFC3-2B2D-6E5147289A9E}"/>
              </a:ext>
            </a:extLst>
          </p:cNvPr>
          <p:cNvSpPr txBox="1"/>
          <p:nvPr/>
        </p:nvSpPr>
        <p:spPr>
          <a:xfrm>
            <a:off x="736600" y="2743200"/>
            <a:ext cx="4533900" cy="184666"/>
          </a:xfrm>
          <a:prstGeom prst="rect">
            <a:avLst/>
          </a:prstGeom>
          <a:noFill/>
        </p:spPr>
        <p:txBody>
          <a:bodyPr vert="horz" wrap="square" lIns="0" tIns="0" rIns="0" bIns="0" rtlCol="0">
            <a:spAutoFit/>
          </a:bodyPr>
          <a:lstStyle/>
          <a:p>
            <a:r>
              <a:rPr lang="en-US" sz="1200" b="1">
                <a:solidFill>
                  <a:srgbClr val="617286"/>
                </a:solidFill>
                <a:latin typeface="Aptos" panose="020B0004020202020204" pitchFamily="34" charset="0"/>
              </a:rPr>
              <a:t>THE HACKATHON PROMPT</a:t>
            </a:r>
          </a:p>
        </p:txBody>
      </p:sp>
      <p:sp>
        <p:nvSpPr>
          <p:cNvPr id="10" name="TextBox 9">
            <a:extLst>
              <a:ext uri="{FF2B5EF4-FFF2-40B4-BE49-F238E27FC236}">
                <a16:creationId xmlns:a16="http://schemas.microsoft.com/office/drawing/2014/main" id="{C6AE85D2-DB37-D0B2-6516-FC3F750886C3}"/>
              </a:ext>
            </a:extLst>
          </p:cNvPr>
          <p:cNvSpPr txBox="1"/>
          <p:nvPr/>
        </p:nvSpPr>
        <p:spPr>
          <a:xfrm>
            <a:off x="736600" y="3276600"/>
            <a:ext cx="4457700" cy="892552"/>
          </a:xfrm>
          <a:prstGeom prst="rect">
            <a:avLst/>
          </a:prstGeom>
          <a:noFill/>
        </p:spPr>
        <p:txBody>
          <a:bodyPr vert="horz" wrap="square" lIns="0" tIns="0" rIns="0" bIns="0" rtlCol="0">
            <a:spAutoFit/>
          </a:bodyPr>
          <a:lstStyle/>
          <a:p>
            <a:r>
              <a:rPr lang="en-US" sz="2900" b="1">
                <a:solidFill>
                  <a:srgbClr val="14263A"/>
                </a:solidFill>
                <a:latin typeface="Aptos" panose="020B0004020202020204" pitchFamily="34" charset="0"/>
              </a:rPr>
              <a:t>“Flight paths in plain English”</a:t>
            </a:r>
          </a:p>
        </p:txBody>
      </p:sp>
      <p:sp>
        <p:nvSpPr>
          <p:cNvPr id="11" name="TextBox 10">
            <a:extLst>
              <a:ext uri="{FF2B5EF4-FFF2-40B4-BE49-F238E27FC236}">
                <a16:creationId xmlns:a16="http://schemas.microsoft.com/office/drawing/2014/main" id="{F809EA22-8641-4B81-5180-E1A6E674CB9E}"/>
              </a:ext>
            </a:extLst>
          </p:cNvPr>
          <p:cNvSpPr txBox="1"/>
          <p:nvPr/>
        </p:nvSpPr>
        <p:spPr>
          <a:xfrm>
            <a:off x="736600" y="4445000"/>
            <a:ext cx="4457700" cy="584775"/>
          </a:xfrm>
          <a:prstGeom prst="rect">
            <a:avLst/>
          </a:prstGeom>
          <a:noFill/>
        </p:spPr>
        <p:txBody>
          <a:bodyPr vert="horz" wrap="square" lIns="0" tIns="0" rIns="0" bIns="0" rtlCol="0">
            <a:spAutoFit/>
          </a:bodyPr>
          <a:lstStyle/>
          <a:p>
            <a:r>
              <a:rPr lang="en-US" sz="1900">
                <a:solidFill>
                  <a:srgbClr val="617286"/>
                </a:solidFill>
                <a:latin typeface="Aptos" panose="020B0004020202020204" pitchFamily="34" charset="0"/>
              </a:rPr>
              <a:t>Plan and adjust a flight path using natural language.</a:t>
            </a:r>
          </a:p>
        </p:txBody>
      </p:sp>
      <p:cxnSp>
        <p:nvCxnSpPr>
          <p:cNvPr id="12" name="Straight Connector 11">
            <a:extLst>
              <a:ext uri="{FF2B5EF4-FFF2-40B4-BE49-F238E27FC236}">
                <a16:creationId xmlns:a16="http://schemas.microsoft.com/office/drawing/2014/main" id="{A5AA2C69-A6C7-0FF9-32AF-C0880D2C2F98}"/>
              </a:ext>
            </a:extLst>
          </p:cNvPr>
          <p:cNvCxnSpPr/>
          <p:nvPr/>
        </p:nvCxnSpPr>
        <p:spPr>
          <a:xfrm>
            <a:off x="5689600" y="3771900"/>
            <a:ext cx="5588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73CCBD4C-D503-5A67-19F9-5C868D6D5117}"/>
              </a:ext>
            </a:extLst>
          </p:cNvPr>
          <p:cNvSpPr/>
          <p:nvPr/>
        </p:nvSpPr>
        <p:spPr>
          <a:xfrm>
            <a:off x="6438900" y="2476500"/>
            <a:ext cx="5245100" cy="26797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DB53309-353C-4B74-2DDA-296A5CB3CFC0}"/>
              </a:ext>
            </a:extLst>
          </p:cNvPr>
          <p:cNvSpPr txBox="1"/>
          <p:nvPr/>
        </p:nvSpPr>
        <p:spPr>
          <a:xfrm>
            <a:off x="6667500" y="2743200"/>
            <a:ext cx="47879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OUR EXTENSION</a:t>
            </a:r>
          </a:p>
        </p:txBody>
      </p:sp>
      <p:sp>
        <p:nvSpPr>
          <p:cNvPr id="15" name="TextBox 14">
            <a:extLst>
              <a:ext uri="{FF2B5EF4-FFF2-40B4-BE49-F238E27FC236}">
                <a16:creationId xmlns:a16="http://schemas.microsoft.com/office/drawing/2014/main" id="{21116F57-D9D8-F434-4D62-99186A4DFE95}"/>
              </a:ext>
            </a:extLst>
          </p:cNvPr>
          <p:cNvSpPr txBox="1"/>
          <p:nvPr/>
        </p:nvSpPr>
        <p:spPr>
          <a:xfrm>
            <a:off x="6667500" y="3276600"/>
            <a:ext cx="4686300" cy="892552"/>
          </a:xfrm>
          <a:prstGeom prst="rect">
            <a:avLst/>
          </a:prstGeom>
          <a:noFill/>
        </p:spPr>
        <p:txBody>
          <a:bodyPr vert="horz" wrap="square" lIns="0" tIns="0" rIns="0" bIns="0" rtlCol="0">
            <a:spAutoFit/>
          </a:bodyPr>
          <a:lstStyle/>
          <a:p>
            <a:r>
              <a:rPr lang="en-US" sz="2900" b="1">
                <a:solidFill>
                  <a:srgbClr val="14263A"/>
                </a:solidFill>
                <a:latin typeface="Aptos" panose="020B0004020202020204" pitchFamily="34" charset="0"/>
              </a:rPr>
              <a:t>Why not communicate with hand gestures, too?</a:t>
            </a:r>
          </a:p>
        </p:txBody>
      </p:sp>
      <p:sp>
        <p:nvSpPr>
          <p:cNvPr id="16" name="TextBox 15">
            <a:extLst>
              <a:ext uri="{FF2B5EF4-FFF2-40B4-BE49-F238E27FC236}">
                <a16:creationId xmlns:a16="http://schemas.microsoft.com/office/drawing/2014/main" id="{28FC3FAA-F9F6-0B87-F08F-41DF74BE38AE}"/>
              </a:ext>
            </a:extLst>
          </p:cNvPr>
          <p:cNvSpPr txBox="1"/>
          <p:nvPr/>
        </p:nvSpPr>
        <p:spPr>
          <a:xfrm>
            <a:off x="6667500" y="4445000"/>
            <a:ext cx="4699000" cy="584775"/>
          </a:xfrm>
          <a:prstGeom prst="rect">
            <a:avLst/>
          </a:prstGeom>
          <a:noFill/>
        </p:spPr>
        <p:txBody>
          <a:bodyPr vert="horz" wrap="square" lIns="0" tIns="0" rIns="0" bIns="0" rtlCol="0">
            <a:spAutoFit/>
          </a:bodyPr>
          <a:lstStyle/>
          <a:p>
            <a:r>
              <a:rPr lang="en-US" sz="1900">
                <a:solidFill>
                  <a:srgbClr val="006B62"/>
                </a:solidFill>
                <a:latin typeface="Aptos" panose="020B0004020202020204" pitchFamily="34" charset="0"/>
              </a:rPr>
              <a:t>Another human way to express intent and change drone behavior.</a:t>
            </a:r>
          </a:p>
        </p:txBody>
      </p:sp>
      <p:sp>
        <p:nvSpPr>
          <p:cNvPr id="17" name="TextBox 16">
            <a:extLst>
              <a:ext uri="{FF2B5EF4-FFF2-40B4-BE49-F238E27FC236}">
                <a16:creationId xmlns:a16="http://schemas.microsoft.com/office/drawing/2014/main" id="{CDA7ACE5-458A-3E88-5D41-A1CA108CC574}"/>
              </a:ext>
            </a:extLst>
          </p:cNvPr>
          <p:cNvSpPr txBox="1"/>
          <p:nvPr/>
        </p:nvSpPr>
        <p:spPr>
          <a:xfrm>
            <a:off x="508000" y="5511800"/>
            <a:ext cx="11150600" cy="646331"/>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Natural-language planning inspired us. Gesture interaction became our working demonstration.</a:t>
            </a:r>
          </a:p>
        </p:txBody>
      </p:sp>
      <p:sp>
        <p:nvSpPr>
          <p:cNvPr id="18" name="TextBox 17">
            <a:extLst>
              <a:ext uri="{FF2B5EF4-FFF2-40B4-BE49-F238E27FC236}">
                <a16:creationId xmlns:a16="http://schemas.microsoft.com/office/drawing/2014/main" id="{6A4467ED-5240-6963-1186-98AC1E5E828F}"/>
              </a:ext>
            </a:extLst>
          </p:cNvPr>
          <p:cNvSpPr txBox="1"/>
          <p:nvPr/>
        </p:nvSpPr>
        <p:spPr>
          <a:xfrm>
            <a:off x="508000" y="6083300"/>
            <a:ext cx="111887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Source: DNHacks Defense inspiration prompt, “Flight paths in plain English” (provided by team).</a:t>
            </a:r>
          </a:p>
        </p:txBody>
      </p:sp>
    </p:spTree>
    <p:extLst>
      <p:ext uri="{BB962C8B-B14F-4D97-AF65-F5344CB8AC3E}">
        <p14:creationId xmlns:p14="http://schemas.microsoft.com/office/powerpoint/2010/main" val="2093326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78ECDF-DE86-0FEF-6F7F-AF1A8C650650}"/>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1230BDC4-69A2-BAED-8708-7C5E8743BD47}"/>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03 / LIVE DEMO · 45 SECONDS</a:t>
            </a:r>
          </a:p>
        </p:txBody>
      </p:sp>
      <p:sp>
        <p:nvSpPr>
          <p:cNvPr id="4" name="TextBox 3">
            <a:extLst>
              <a:ext uri="{FF2B5EF4-FFF2-40B4-BE49-F238E27FC236}">
                <a16:creationId xmlns:a16="http://schemas.microsoft.com/office/drawing/2014/main" id="{4BAF9B34-C945-7917-515C-A874ADACB904}"/>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Four commands. One continuous demo.</a:t>
            </a:r>
          </a:p>
        </p:txBody>
      </p:sp>
      <p:cxnSp>
        <p:nvCxnSpPr>
          <p:cNvPr id="5" name="Straight Connector 4">
            <a:extLst>
              <a:ext uri="{FF2B5EF4-FFF2-40B4-BE49-F238E27FC236}">
                <a16:creationId xmlns:a16="http://schemas.microsoft.com/office/drawing/2014/main" id="{153D584D-B407-272F-6420-2A48D58C6470}"/>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E17AFF3-C6B7-D2B9-884F-389C76DEAB72}"/>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DA6D871D-74A5-6D89-C7BF-928613E5A2A3}"/>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04</a:t>
            </a:r>
          </a:p>
        </p:txBody>
      </p:sp>
      <p:sp>
        <p:nvSpPr>
          <p:cNvPr id="8" name="TextBox 7">
            <a:extLst>
              <a:ext uri="{FF2B5EF4-FFF2-40B4-BE49-F238E27FC236}">
                <a16:creationId xmlns:a16="http://schemas.microsoft.com/office/drawing/2014/main" id="{FC30EAC9-1C36-0209-4CC6-B3EA2DA08699}"/>
              </a:ext>
            </a:extLst>
          </p:cNvPr>
          <p:cNvSpPr txBox="1"/>
          <p:nvPr/>
        </p:nvSpPr>
        <p:spPr>
          <a:xfrm>
            <a:off x="5080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01</a:t>
            </a:r>
          </a:p>
        </p:txBody>
      </p:sp>
      <p:sp>
        <p:nvSpPr>
          <p:cNvPr id="9" name="TextBox 8">
            <a:extLst>
              <a:ext uri="{FF2B5EF4-FFF2-40B4-BE49-F238E27FC236}">
                <a16:creationId xmlns:a16="http://schemas.microsoft.com/office/drawing/2014/main" id="{98D843CA-1157-4A98-6D32-96D9DB6CBECE}"/>
              </a:ext>
            </a:extLst>
          </p:cNvPr>
          <p:cNvSpPr txBox="1"/>
          <p:nvPr/>
        </p:nvSpPr>
        <p:spPr>
          <a:xfrm>
            <a:off x="5080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Orbit</a:t>
            </a:r>
          </a:p>
        </p:txBody>
      </p:sp>
      <p:sp>
        <p:nvSpPr>
          <p:cNvPr id="10" name="TextBox 9">
            <a:extLst>
              <a:ext uri="{FF2B5EF4-FFF2-40B4-BE49-F238E27FC236}">
                <a16:creationId xmlns:a16="http://schemas.microsoft.com/office/drawing/2014/main" id="{A005DFB3-6EBC-F329-FD38-77A9DC9ECB82}"/>
              </a:ext>
            </a:extLst>
          </p:cNvPr>
          <p:cNvSpPr txBox="1"/>
          <p:nvPr/>
        </p:nvSpPr>
        <p:spPr>
          <a:xfrm>
            <a:off x="5080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Circle the operator.</a:t>
            </a:r>
          </a:p>
        </p:txBody>
      </p:sp>
      <p:cxnSp>
        <p:nvCxnSpPr>
          <p:cNvPr id="11" name="Straight Connector 10">
            <a:extLst>
              <a:ext uri="{FF2B5EF4-FFF2-40B4-BE49-F238E27FC236}">
                <a16:creationId xmlns:a16="http://schemas.microsoft.com/office/drawing/2014/main" id="{88EEFAC7-D178-46FF-0EEA-D6CCC0BF799D}"/>
              </a:ext>
            </a:extLst>
          </p:cNvPr>
          <p:cNvCxnSpPr/>
          <p:nvPr/>
        </p:nvCxnSpPr>
        <p:spPr>
          <a:xfrm>
            <a:off x="31877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F049964-B35E-4C88-DE80-2964A9B48994}"/>
              </a:ext>
            </a:extLst>
          </p:cNvPr>
          <p:cNvSpPr txBox="1"/>
          <p:nvPr/>
        </p:nvSpPr>
        <p:spPr>
          <a:xfrm>
            <a:off x="33528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02</a:t>
            </a:r>
          </a:p>
        </p:txBody>
      </p:sp>
      <p:sp>
        <p:nvSpPr>
          <p:cNvPr id="13" name="TextBox 12">
            <a:extLst>
              <a:ext uri="{FF2B5EF4-FFF2-40B4-BE49-F238E27FC236}">
                <a16:creationId xmlns:a16="http://schemas.microsoft.com/office/drawing/2014/main" id="{881A12C3-0BE5-ADE4-FF93-DE489DF5ECDD}"/>
              </a:ext>
            </a:extLst>
          </p:cNvPr>
          <p:cNvSpPr txBox="1"/>
          <p:nvPr/>
        </p:nvSpPr>
        <p:spPr>
          <a:xfrm>
            <a:off x="33528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Move</a:t>
            </a:r>
          </a:p>
        </p:txBody>
      </p:sp>
      <p:sp>
        <p:nvSpPr>
          <p:cNvPr id="14" name="TextBox 13">
            <a:extLst>
              <a:ext uri="{FF2B5EF4-FFF2-40B4-BE49-F238E27FC236}">
                <a16:creationId xmlns:a16="http://schemas.microsoft.com/office/drawing/2014/main" id="{19858027-A2DE-EF4D-3D25-52FDC1E56B5A}"/>
              </a:ext>
            </a:extLst>
          </p:cNvPr>
          <p:cNvSpPr txBox="1"/>
          <p:nvPr/>
        </p:nvSpPr>
        <p:spPr>
          <a:xfrm>
            <a:off x="33528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Follow directional intent.</a:t>
            </a:r>
          </a:p>
        </p:txBody>
      </p:sp>
      <p:cxnSp>
        <p:nvCxnSpPr>
          <p:cNvPr id="15" name="Straight Connector 14">
            <a:extLst>
              <a:ext uri="{FF2B5EF4-FFF2-40B4-BE49-F238E27FC236}">
                <a16:creationId xmlns:a16="http://schemas.microsoft.com/office/drawing/2014/main" id="{DFA073EF-E8E8-D1DB-04B8-00F221DDA4BC}"/>
              </a:ext>
            </a:extLst>
          </p:cNvPr>
          <p:cNvCxnSpPr/>
          <p:nvPr/>
        </p:nvCxnSpPr>
        <p:spPr>
          <a:xfrm>
            <a:off x="60325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8168EB82-70BF-7ECA-62E4-DC8064161431}"/>
              </a:ext>
            </a:extLst>
          </p:cNvPr>
          <p:cNvSpPr txBox="1"/>
          <p:nvPr/>
        </p:nvSpPr>
        <p:spPr>
          <a:xfrm>
            <a:off x="61976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03</a:t>
            </a:r>
          </a:p>
        </p:txBody>
      </p:sp>
      <p:sp>
        <p:nvSpPr>
          <p:cNvPr id="17" name="TextBox 16">
            <a:extLst>
              <a:ext uri="{FF2B5EF4-FFF2-40B4-BE49-F238E27FC236}">
                <a16:creationId xmlns:a16="http://schemas.microsoft.com/office/drawing/2014/main" id="{5B088F4B-3B08-C83C-1070-AA2C68DDF35D}"/>
              </a:ext>
            </a:extLst>
          </p:cNvPr>
          <p:cNvSpPr txBox="1"/>
          <p:nvPr/>
        </p:nvSpPr>
        <p:spPr>
          <a:xfrm>
            <a:off x="61976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Return</a:t>
            </a:r>
          </a:p>
        </p:txBody>
      </p:sp>
      <p:sp>
        <p:nvSpPr>
          <p:cNvPr id="18" name="TextBox 17">
            <a:extLst>
              <a:ext uri="{FF2B5EF4-FFF2-40B4-BE49-F238E27FC236}">
                <a16:creationId xmlns:a16="http://schemas.microsoft.com/office/drawing/2014/main" id="{6E70A768-C759-2AD6-9CB2-6CEC32D5EB92}"/>
              </a:ext>
            </a:extLst>
          </p:cNvPr>
          <p:cNvSpPr txBox="1"/>
          <p:nvPr/>
        </p:nvSpPr>
        <p:spPr>
          <a:xfrm>
            <a:off x="6197600" y="4953000"/>
            <a:ext cx="2603500" cy="26161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Overhead to the sender.</a:t>
            </a:r>
          </a:p>
        </p:txBody>
      </p:sp>
      <p:cxnSp>
        <p:nvCxnSpPr>
          <p:cNvPr id="19" name="Straight Connector 18">
            <a:extLst>
              <a:ext uri="{FF2B5EF4-FFF2-40B4-BE49-F238E27FC236}">
                <a16:creationId xmlns:a16="http://schemas.microsoft.com/office/drawing/2014/main" id="{C9BA8885-A703-78C4-A47F-D7000E212F6B}"/>
              </a:ext>
            </a:extLst>
          </p:cNvPr>
          <p:cNvCxnSpPr/>
          <p:nvPr/>
        </p:nvCxnSpPr>
        <p:spPr>
          <a:xfrm>
            <a:off x="8877300" y="2540000"/>
            <a:ext cx="0" cy="27051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60AF8507-4C1F-0C58-7570-1BDCD4EE932B}"/>
              </a:ext>
            </a:extLst>
          </p:cNvPr>
          <p:cNvSpPr txBox="1"/>
          <p:nvPr/>
        </p:nvSpPr>
        <p:spPr>
          <a:xfrm>
            <a:off x="9042400" y="2374900"/>
            <a:ext cx="635000" cy="184666"/>
          </a:xfrm>
          <a:prstGeom prst="rect">
            <a:avLst/>
          </a:prstGeom>
          <a:noFill/>
        </p:spPr>
        <p:txBody>
          <a:bodyPr vert="horz" wrap="square" lIns="0" tIns="0" rIns="0" bIns="0" rtlCol="0">
            <a:spAutoFit/>
          </a:bodyPr>
          <a:lstStyle/>
          <a:p>
            <a:r>
              <a:rPr lang="en-US" sz="1200" b="1">
                <a:solidFill>
                  <a:srgbClr val="006B62"/>
                </a:solidFill>
                <a:latin typeface="Aptos" panose="020B0004020202020204" pitchFamily="34" charset="0"/>
              </a:rPr>
              <a:t>04</a:t>
            </a:r>
          </a:p>
        </p:txBody>
      </p:sp>
      <p:sp>
        <p:nvSpPr>
          <p:cNvPr id="21" name="TextBox 20">
            <a:extLst>
              <a:ext uri="{FF2B5EF4-FFF2-40B4-BE49-F238E27FC236}">
                <a16:creationId xmlns:a16="http://schemas.microsoft.com/office/drawing/2014/main" id="{8999A8A3-38FA-3FCE-53FA-DA5EB63928C0}"/>
              </a:ext>
            </a:extLst>
          </p:cNvPr>
          <p:cNvSpPr txBox="1"/>
          <p:nvPr/>
        </p:nvSpPr>
        <p:spPr>
          <a:xfrm>
            <a:off x="9042400" y="2755900"/>
            <a:ext cx="2603500" cy="415498"/>
          </a:xfrm>
          <a:prstGeom prst="rect">
            <a:avLst/>
          </a:prstGeom>
          <a:noFill/>
        </p:spPr>
        <p:txBody>
          <a:bodyPr vert="horz" wrap="square" lIns="0" tIns="0" rIns="0" bIns="0" rtlCol="0">
            <a:spAutoFit/>
          </a:bodyPr>
          <a:lstStyle/>
          <a:p>
            <a:r>
              <a:rPr lang="en-US" sz="2700" b="1">
                <a:solidFill>
                  <a:srgbClr val="14263A"/>
                </a:solidFill>
                <a:latin typeface="Aptos" panose="020B0004020202020204" pitchFamily="34" charset="0"/>
              </a:rPr>
              <a:t>Stop</a:t>
            </a:r>
          </a:p>
        </p:txBody>
      </p:sp>
      <p:sp>
        <p:nvSpPr>
          <p:cNvPr id="22" name="TextBox 21">
            <a:extLst>
              <a:ext uri="{FF2B5EF4-FFF2-40B4-BE49-F238E27FC236}">
                <a16:creationId xmlns:a16="http://schemas.microsoft.com/office/drawing/2014/main" id="{9291FD04-DF60-6673-3321-594BE8211073}"/>
              </a:ext>
            </a:extLst>
          </p:cNvPr>
          <p:cNvSpPr txBox="1"/>
          <p:nvPr/>
        </p:nvSpPr>
        <p:spPr>
          <a:xfrm>
            <a:off x="9042400" y="4953000"/>
            <a:ext cx="2603500" cy="523220"/>
          </a:xfrm>
          <a:prstGeom prst="rect">
            <a:avLst/>
          </a:prstGeom>
          <a:noFill/>
        </p:spPr>
        <p:txBody>
          <a:bodyPr vert="horz" wrap="square" lIns="0" tIns="0" rIns="0" bIns="0" rtlCol="0">
            <a:spAutoFit/>
          </a:bodyPr>
          <a:lstStyle/>
          <a:p>
            <a:r>
              <a:rPr lang="en-US" sz="1700">
                <a:solidFill>
                  <a:srgbClr val="617286"/>
                </a:solidFill>
                <a:latin typeface="Aptos" panose="020B0004020202020204" pitchFamily="34" charset="0"/>
              </a:rPr>
              <a:t>Open-palm emergency stop.</a:t>
            </a:r>
          </a:p>
        </p:txBody>
      </p:sp>
      <p:sp>
        <p:nvSpPr>
          <p:cNvPr id="23" name="Oval 22">
            <a:extLst>
              <a:ext uri="{FF2B5EF4-FFF2-40B4-BE49-F238E27FC236}">
                <a16:creationId xmlns:a16="http://schemas.microsoft.com/office/drawing/2014/main" id="{73A6DF89-6C38-5EAD-3124-B673A74BC2F3}"/>
              </a:ext>
            </a:extLst>
          </p:cNvPr>
          <p:cNvSpPr/>
          <p:nvPr/>
        </p:nvSpPr>
        <p:spPr>
          <a:xfrm>
            <a:off x="1054100" y="3479800"/>
            <a:ext cx="1371600" cy="1371600"/>
          </a:xfrm>
          <a:prstGeom prst="ellipse">
            <a:avLst/>
          </a:prstGeom>
          <a:noFill/>
          <a:ln w="25400" cap="flat" cmpd="sng" algn="ctr">
            <a:solidFill>
              <a:srgbClr val="2563EB"/>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0D4688B-A41B-6BF9-76F0-F7BF332EFD21}"/>
              </a:ext>
            </a:extLst>
          </p:cNvPr>
          <p:cNvSpPr/>
          <p:nvPr/>
        </p:nvSpPr>
        <p:spPr>
          <a:xfrm>
            <a:off x="1675638" y="3883152"/>
            <a:ext cx="103124" cy="103124"/>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6515D42A-A1DB-5EB1-1722-2D8763B225F7}"/>
              </a:ext>
            </a:extLst>
          </p:cNvPr>
          <p:cNvSpPr/>
          <p:nvPr/>
        </p:nvSpPr>
        <p:spPr>
          <a:xfrm>
            <a:off x="1653540" y="4015740"/>
            <a:ext cx="147320" cy="235712"/>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398B13E6-AE37-43AB-DE00-C0DE506F67D8}"/>
              </a:ext>
            </a:extLst>
          </p:cNvPr>
          <p:cNvCxnSpPr/>
          <p:nvPr/>
        </p:nvCxnSpPr>
        <p:spPr>
          <a:xfrm flipH="1">
            <a:off x="1653540" y="4229354"/>
            <a:ext cx="22098" cy="154686"/>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466CA135-870B-55AE-1463-3EB653255AD0}"/>
              </a:ext>
            </a:extLst>
          </p:cNvPr>
          <p:cNvCxnSpPr/>
          <p:nvPr/>
        </p:nvCxnSpPr>
        <p:spPr>
          <a:xfrm>
            <a:off x="1778762" y="4229354"/>
            <a:ext cx="22098" cy="154686"/>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A5AE861-38C0-37FC-AAF7-7F741C77BCC1}"/>
              </a:ext>
            </a:extLst>
          </p:cNvPr>
          <p:cNvCxnSpPr/>
          <p:nvPr/>
        </p:nvCxnSpPr>
        <p:spPr>
          <a:xfrm flipH="1">
            <a:off x="1565148" y="4067302"/>
            <a:ext cx="110490" cy="88392"/>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B66D5816-DD3A-0138-861D-8AE4673685C6}"/>
              </a:ext>
            </a:extLst>
          </p:cNvPr>
          <p:cNvCxnSpPr/>
          <p:nvPr/>
        </p:nvCxnSpPr>
        <p:spPr>
          <a:xfrm flipV="1">
            <a:off x="1778762" y="3927348"/>
            <a:ext cx="117856" cy="139954"/>
          </a:xfrm>
          <a:prstGeom prst="line">
            <a:avLst/>
          </a:prstGeom>
          <a:ln w="3683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83FFE6D-6AC0-0904-AEB2-3757ED2E2FFF}"/>
              </a:ext>
            </a:extLst>
          </p:cNvPr>
          <p:cNvCxnSpPr/>
          <p:nvPr/>
        </p:nvCxnSpPr>
        <p:spPr>
          <a:xfrm flipH="1" flipV="1">
            <a:off x="2246376" y="3685286"/>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7B31A095-D023-939D-AB2B-460FB10255FF}"/>
              </a:ext>
            </a:extLst>
          </p:cNvPr>
          <p:cNvSpPr/>
          <p:nvPr/>
        </p:nvSpPr>
        <p:spPr>
          <a:xfrm>
            <a:off x="2176272" y="3615182"/>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CADEAC13-606C-AAB5-94E3-7BC4793ACABC}"/>
              </a:ext>
            </a:extLst>
          </p:cNvPr>
          <p:cNvCxnSpPr/>
          <p:nvPr/>
        </p:nvCxnSpPr>
        <p:spPr>
          <a:xfrm>
            <a:off x="2199640" y="3685286"/>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4DFEB9D-A171-EC0E-EF73-9D20332DBF52}"/>
              </a:ext>
            </a:extLst>
          </p:cNvPr>
          <p:cNvCxnSpPr/>
          <p:nvPr/>
        </p:nvCxnSpPr>
        <p:spPr>
          <a:xfrm flipV="1">
            <a:off x="2374900" y="3685286"/>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253738D8-5913-DDEB-7261-08D4BE506BCB}"/>
              </a:ext>
            </a:extLst>
          </p:cNvPr>
          <p:cNvSpPr/>
          <p:nvPr/>
        </p:nvSpPr>
        <p:spPr>
          <a:xfrm>
            <a:off x="2433320" y="3615182"/>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3A57C28A-6333-2EF0-6F3C-4B787E3E6476}"/>
              </a:ext>
            </a:extLst>
          </p:cNvPr>
          <p:cNvCxnSpPr/>
          <p:nvPr/>
        </p:nvCxnSpPr>
        <p:spPr>
          <a:xfrm>
            <a:off x="2456688" y="3685286"/>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5F4484C3-138B-F9D8-B43D-66CD76CF50A8}"/>
              </a:ext>
            </a:extLst>
          </p:cNvPr>
          <p:cNvCxnSpPr/>
          <p:nvPr/>
        </p:nvCxnSpPr>
        <p:spPr>
          <a:xfrm flipH="1">
            <a:off x="2246376" y="3784600"/>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37" name="Oval 36">
            <a:extLst>
              <a:ext uri="{FF2B5EF4-FFF2-40B4-BE49-F238E27FC236}">
                <a16:creationId xmlns:a16="http://schemas.microsoft.com/office/drawing/2014/main" id="{65737EEF-FAA3-F8AA-9C1A-23387499DB96}"/>
              </a:ext>
            </a:extLst>
          </p:cNvPr>
          <p:cNvSpPr/>
          <p:nvPr/>
        </p:nvSpPr>
        <p:spPr>
          <a:xfrm>
            <a:off x="2176272" y="3813810"/>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2062EC02-E26F-F639-C20B-8D20BE19CFE2}"/>
              </a:ext>
            </a:extLst>
          </p:cNvPr>
          <p:cNvCxnSpPr/>
          <p:nvPr/>
        </p:nvCxnSpPr>
        <p:spPr>
          <a:xfrm>
            <a:off x="2199640" y="3883914"/>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4640563F-CF54-04B2-6DE3-C4C7AB3D6867}"/>
              </a:ext>
            </a:extLst>
          </p:cNvPr>
          <p:cNvCxnSpPr/>
          <p:nvPr/>
        </p:nvCxnSpPr>
        <p:spPr>
          <a:xfrm>
            <a:off x="2374900" y="3784600"/>
            <a:ext cx="128524" cy="99314"/>
          </a:xfrm>
          <a:prstGeom prst="line">
            <a:avLst/>
          </a:prstGeom>
          <a:ln w="29210">
            <a:solidFill>
              <a:srgbClr val="14263A"/>
            </a:solidFill>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295E79E9-53CA-1859-3D53-97502DAE04C4}"/>
              </a:ext>
            </a:extLst>
          </p:cNvPr>
          <p:cNvSpPr/>
          <p:nvPr/>
        </p:nvSpPr>
        <p:spPr>
          <a:xfrm>
            <a:off x="2433320" y="3813810"/>
            <a:ext cx="140208" cy="140208"/>
          </a:xfrm>
          <a:prstGeom prst="ellipse">
            <a:avLst/>
          </a:prstGeom>
          <a:noFill/>
          <a:ln w="11684"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1711C6CF-643B-CE69-44C4-627C35DBD52E}"/>
              </a:ext>
            </a:extLst>
          </p:cNvPr>
          <p:cNvCxnSpPr/>
          <p:nvPr/>
        </p:nvCxnSpPr>
        <p:spPr>
          <a:xfrm>
            <a:off x="2456688" y="3883914"/>
            <a:ext cx="93472"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A41D1390-3F01-514C-D616-5E0ACD86BDB7}"/>
              </a:ext>
            </a:extLst>
          </p:cNvPr>
          <p:cNvSpPr/>
          <p:nvPr/>
        </p:nvSpPr>
        <p:spPr>
          <a:xfrm>
            <a:off x="2322322" y="3691128"/>
            <a:ext cx="105156" cy="186944"/>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A6ED6705-E37B-7DB7-1523-11B11A482027}"/>
              </a:ext>
            </a:extLst>
          </p:cNvPr>
          <p:cNvSpPr/>
          <p:nvPr/>
        </p:nvSpPr>
        <p:spPr>
          <a:xfrm>
            <a:off x="2357374" y="3726180"/>
            <a:ext cx="35052" cy="35052"/>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4DBB40EE-A173-EAB6-23D1-17755A05CE28}"/>
              </a:ext>
            </a:extLst>
          </p:cNvPr>
          <p:cNvCxnSpPr/>
          <p:nvPr/>
        </p:nvCxnSpPr>
        <p:spPr>
          <a:xfrm flipH="1" flipV="1">
            <a:off x="3691890" y="3961765"/>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2FE9F036-0BFF-4D5D-702C-85DDDD005959}"/>
              </a:ext>
            </a:extLst>
          </p:cNvPr>
          <p:cNvSpPr/>
          <p:nvPr/>
        </p:nvSpPr>
        <p:spPr>
          <a:xfrm>
            <a:off x="3592830" y="386270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B8D0130D-5A2D-8A7D-D6E1-3177B3CBF951}"/>
              </a:ext>
            </a:extLst>
          </p:cNvPr>
          <p:cNvCxnSpPr/>
          <p:nvPr/>
        </p:nvCxnSpPr>
        <p:spPr>
          <a:xfrm>
            <a:off x="3625850" y="396176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3D05A31C-4085-6342-0971-BFA154119A75}"/>
              </a:ext>
            </a:extLst>
          </p:cNvPr>
          <p:cNvCxnSpPr/>
          <p:nvPr/>
        </p:nvCxnSpPr>
        <p:spPr>
          <a:xfrm flipV="1">
            <a:off x="3873500" y="3961765"/>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FFE4EFFC-8A13-8854-92F4-4E81D9B7BEB7}"/>
              </a:ext>
            </a:extLst>
          </p:cNvPr>
          <p:cNvSpPr/>
          <p:nvPr/>
        </p:nvSpPr>
        <p:spPr>
          <a:xfrm>
            <a:off x="3956050" y="386270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1B4AA777-41E5-44B1-4AFE-CA09F65942F6}"/>
              </a:ext>
            </a:extLst>
          </p:cNvPr>
          <p:cNvCxnSpPr/>
          <p:nvPr/>
        </p:nvCxnSpPr>
        <p:spPr>
          <a:xfrm>
            <a:off x="3989070" y="396176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C8FD9169-EACD-2FE1-32F8-F511047FB0A4}"/>
              </a:ext>
            </a:extLst>
          </p:cNvPr>
          <p:cNvCxnSpPr/>
          <p:nvPr/>
        </p:nvCxnSpPr>
        <p:spPr>
          <a:xfrm flipH="1">
            <a:off x="3691890" y="4102100"/>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51" name="Oval 50">
            <a:extLst>
              <a:ext uri="{FF2B5EF4-FFF2-40B4-BE49-F238E27FC236}">
                <a16:creationId xmlns:a16="http://schemas.microsoft.com/office/drawing/2014/main" id="{0E97CEB8-0B14-D0BD-E917-ED422E2A49CD}"/>
              </a:ext>
            </a:extLst>
          </p:cNvPr>
          <p:cNvSpPr/>
          <p:nvPr/>
        </p:nvSpPr>
        <p:spPr>
          <a:xfrm>
            <a:off x="3592830" y="414337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010EF8DB-996F-1A1B-DDC9-44EE8A273CCD}"/>
              </a:ext>
            </a:extLst>
          </p:cNvPr>
          <p:cNvCxnSpPr/>
          <p:nvPr/>
        </p:nvCxnSpPr>
        <p:spPr>
          <a:xfrm>
            <a:off x="3625850" y="424243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4B9742C6-B8AD-8DC2-3607-1289E1BE999E}"/>
              </a:ext>
            </a:extLst>
          </p:cNvPr>
          <p:cNvCxnSpPr/>
          <p:nvPr/>
        </p:nvCxnSpPr>
        <p:spPr>
          <a:xfrm>
            <a:off x="3873500" y="4102100"/>
            <a:ext cx="181610" cy="140335"/>
          </a:xfrm>
          <a:prstGeom prst="line">
            <a:avLst/>
          </a:prstGeom>
          <a:ln w="41275">
            <a:solidFill>
              <a:srgbClr val="14263A"/>
            </a:solidFill>
          </a:ln>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92F9AF3B-DDA7-9003-CD34-BBCE1E20AD22}"/>
              </a:ext>
            </a:extLst>
          </p:cNvPr>
          <p:cNvSpPr/>
          <p:nvPr/>
        </p:nvSpPr>
        <p:spPr>
          <a:xfrm>
            <a:off x="3956050" y="4143375"/>
            <a:ext cx="198120" cy="198120"/>
          </a:xfrm>
          <a:prstGeom prst="ellipse">
            <a:avLst/>
          </a:prstGeom>
          <a:noFill/>
          <a:ln w="1651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15B74562-7501-5CB0-F980-697DE3DDEF77}"/>
              </a:ext>
            </a:extLst>
          </p:cNvPr>
          <p:cNvCxnSpPr/>
          <p:nvPr/>
        </p:nvCxnSpPr>
        <p:spPr>
          <a:xfrm>
            <a:off x="3989070" y="4242435"/>
            <a:ext cx="13208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56" name="Rectangle: Rounded Corners 55">
            <a:extLst>
              <a:ext uri="{FF2B5EF4-FFF2-40B4-BE49-F238E27FC236}">
                <a16:creationId xmlns:a16="http://schemas.microsoft.com/office/drawing/2014/main" id="{5F096710-070C-15E8-3BC8-BE80A61D8678}"/>
              </a:ext>
            </a:extLst>
          </p:cNvPr>
          <p:cNvSpPr/>
          <p:nvPr/>
        </p:nvSpPr>
        <p:spPr>
          <a:xfrm>
            <a:off x="3799205" y="3970020"/>
            <a:ext cx="148590" cy="26416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9D5378CE-3334-3B32-8083-1DFE127C5083}"/>
              </a:ext>
            </a:extLst>
          </p:cNvPr>
          <p:cNvSpPr/>
          <p:nvPr/>
        </p:nvSpPr>
        <p:spPr>
          <a:xfrm>
            <a:off x="3848735" y="4019550"/>
            <a:ext cx="49530" cy="4953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5FD8ACF9-270A-4671-783E-459610940A15}"/>
              </a:ext>
            </a:extLst>
          </p:cNvPr>
          <p:cNvCxnSpPr/>
          <p:nvPr/>
        </p:nvCxnSpPr>
        <p:spPr>
          <a:xfrm>
            <a:off x="4356100" y="4102100"/>
            <a:ext cx="10668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1CC2AF42-19C3-65D6-F75D-BFF24527717B}"/>
              </a:ext>
            </a:extLst>
          </p:cNvPr>
          <p:cNvCxnSpPr/>
          <p:nvPr/>
        </p:nvCxnSpPr>
        <p:spPr>
          <a:xfrm>
            <a:off x="5334000" y="3784600"/>
            <a:ext cx="0" cy="6350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60" name="Oval 59">
            <a:extLst>
              <a:ext uri="{FF2B5EF4-FFF2-40B4-BE49-F238E27FC236}">
                <a16:creationId xmlns:a16="http://schemas.microsoft.com/office/drawing/2014/main" id="{C25135DC-70DA-D603-0EAB-FD06B48B4B01}"/>
              </a:ext>
            </a:extLst>
          </p:cNvPr>
          <p:cNvSpPr/>
          <p:nvPr/>
        </p:nvSpPr>
        <p:spPr>
          <a:xfrm>
            <a:off x="8015605" y="4173220"/>
            <a:ext cx="97790" cy="9779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696E4B95-EFDE-BD38-8000-FF0DDD19CD55}"/>
              </a:ext>
            </a:extLst>
          </p:cNvPr>
          <p:cNvSpPr/>
          <p:nvPr/>
        </p:nvSpPr>
        <p:spPr>
          <a:xfrm>
            <a:off x="7994650" y="4298950"/>
            <a:ext cx="139700" cy="22352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EEC50989-1B0D-5078-AE5B-532EFEACD5BD}"/>
              </a:ext>
            </a:extLst>
          </p:cNvPr>
          <p:cNvCxnSpPr/>
          <p:nvPr/>
        </p:nvCxnSpPr>
        <p:spPr>
          <a:xfrm flipH="1">
            <a:off x="7994650" y="4501515"/>
            <a:ext cx="20955" cy="14668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D26BD09C-8592-9A98-6B63-7C7A2CC2F413}"/>
              </a:ext>
            </a:extLst>
          </p:cNvPr>
          <p:cNvCxnSpPr/>
          <p:nvPr/>
        </p:nvCxnSpPr>
        <p:spPr>
          <a:xfrm>
            <a:off x="8113395" y="4501515"/>
            <a:ext cx="20955" cy="14668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A272F01-E9F2-0EC6-D79F-6C83B26ACD64}"/>
              </a:ext>
            </a:extLst>
          </p:cNvPr>
          <p:cNvCxnSpPr/>
          <p:nvPr/>
        </p:nvCxnSpPr>
        <p:spPr>
          <a:xfrm flipH="1">
            <a:off x="7910830" y="4347845"/>
            <a:ext cx="104775" cy="83820"/>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1BD6960B-EB6A-0490-6646-96FAA2119E46}"/>
              </a:ext>
            </a:extLst>
          </p:cNvPr>
          <p:cNvCxnSpPr/>
          <p:nvPr/>
        </p:nvCxnSpPr>
        <p:spPr>
          <a:xfrm flipV="1">
            <a:off x="8113395" y="4215130"/>
            <a:ext cx="111760" cy="132715"/>
          </a:xfrm>
          <a:prstGeom prst="line">
            <a:avLst/>
          </a:prstGeom>
          <a:ln w="349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2110928D-077E-FFE1-CBA0-507C9F19C3A1}"/>
              </a:ext>
            </a:extLst>
          </p:cNvPr>
          <p:cNvCxnSpPr/>
          <p:nvPr/>
        </p:nvCxnSpPr>
        <p:spPr>
          <a:xfrm flipH="1" flipV="1">
            <a:off x="6640830" y="36277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3C917A2D-4F4B-D0BA-6AA8-1D27B9A49C9F}"/>
              </a:ext>
            </a:extLst>
          </p:cNvPr>
          <p:cNvSpPr/>
          <p:nvPr/>
        </p:nvSpPr>
        <p:spPr>
          <a:xfrm>
            <a:off x="6557010" y="35439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27889E3A-85AE-E2BE-A0C2-BC7BBD606AC4}"/>
              </a:ext>
            </a:extLst>
          </p:cNvPr>
          <p:cNvCxnSpPr/>
          <p:nvPr/>
        </p:nvCxnSpPr>
        <p:spPr>
          <a:xfrm>
            <a:off x="6584950" y="36277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1FCD65E4-7970-6175-E385-810D22776D6D}"/>
              </a:ext>
            </a:extLst>
          </p:cNvPr>
          <p:cNvCxnSpPr/>
          <p:nvPr/>
        </p:nvCxnSpPr>
        <p:spPr>
          <a:xfrm flipV="1">
            <a:off x="6794500" y="36277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0" name="Oval 69">
            <a:extLst>
              <a:ext uri="{FF2B5EF4-FFF2-40B4-BE49-F238E27FC236}">
                <a16:creationId xmlns:a16="http://schemas.microsoft.com/office/drawing/2014/main" id="{EAC48A6F-C484-815C-05D2-82992BE9E95E}"/>
              </a:ext>
            </a:extLst>
          </p:cNvPr>
          <p:cNvSpPr/>
          <p:nvPr/>
        </p:nvSpPr>
        <p:spPr>
          <a:xfrm>
            <a:off x="6864350" y="35439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28FB9602-788C-6CF6-DA88-B605433E22A6}"/>
              </a:ext>
            </a:extLst>
          </p:cNvPr>
          <p:cNvCxnSpPr/>
          <p:nvPr/>
        </p:nvCxnSpPr>
        <p:spPr>
          <a:xfrm>
            <a:off x="6892290" y="36277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848D0731-A8C3-AA43-9677-E87FB304FFC3}"/>
              </a:ext>
            </a:extLst>
          </p:cNvPr>
          <p:cNvCxnSpPr/>
          <p:nvPr/>
        </p:nvCxnSpPr>
        <p:spPr>
          <a:xfrm flipH="1">
            <a:off x="6640830" y="37465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3" name="Oval 72">
            <a:extLst>
              <a:ext uri="{FF2B5EF4-FFF2-40B4-BE49-F238E27FC236}">
                <a16:creationId xmlns:a16="http://schemas.microsoft.com/office/drawing/2014/main" id="{DF6D07EF-232F-F6EF-72CA-B5F9CD02891D}"/>
              </a:ext>
            </a:extLst>
          </p:cNvPr>
          <p:cNvSpPr/>
          <p:nvPr/>
        </p:nvSpPr>
        <p:spPr>
          <a:xfrm>
            <a:off x="6557010" y="37814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a:extLst>
              <a:ext uri="{FF2B5EF4-FFF2-40B4-BE49-F238E27FC236}">
                <a16:creationId xmlns:a16="http://schemas.microsoft.com/office/drawing/2014/main" id="{01E5519C-C1D8-EB48-2EE9-A4018E88CDE8}"/>
              </a:ext>
            </a:extLst>
          </p:cNvPr>
          <p:cNvCxnSpPr/>
          <p:nvPr/>
        </p:nvCxnSpPr>
        <p:spPr>
          <a:xfrm>
            <a:off x="6584950" y="38652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D1F008BC-51CD-718B-B1D4-BEBC903FB5D9}"/>
              </a:ext>
            </a:extLst>
          </p:cNvPr>
          <p:cNvCxnSpPr/>
          <p:nvPr/>
        </p:nvCxnSpPr>
        <p:spPr>
          <a:xfrm>
            <a:off x="6794500" y="37465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E001BEA1-813C-FB3F-A9BF-A65D57123B4F}"/>
              </a:ext>
            </a:extLst>
          </p:cNvPr>
          <p:cNvSpPr/>
          <p:nvPr/>
        </p:nvSpPr>
        <p:spPr>
          <a:xfrm>
            <a:off x="6864350" y="37814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Connector 76">
            <a:extLst>
              <a:ext uri="{FF2B5EF4-FFF2-40B4-BE49-F238E27FC236}">
                <a16:creationId xmlns:a16="http://schemas.microsoft.com/office/drawing/2014/main" id="{0AD04428-B4BE-EA37-5ED3-03F8AC567711}"/>
              </a:ext>
            </a:extLst>
          </p:cNvPr>
          <p:cNvCxnSpPr/>
          <p:nvPr/>
        </p:nvCxnSpPr>
        <p:spPr>
          <a:xfrm>
            <a:off x="6892290" y="38652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78" name="Rectangle: Rounded Corners 77">
            <a:extLst>
              <a:ext uri="{FF2B5EF4-FFF2-40B4-BE49-F238E27FC236}">
                <a16:creationId xmlns:a16="http://schemas.microsoft.com/office/drawing/2014/main" id="{C7ABCEE7-E0D3-0809-2F57-FC8A827BB14F}"/>
              </a:ext>
            </a:extLst>
          </p:cNvPr>
          <p:cNvSpPr/>
          <p:nvPr/>
        </p:nvSpPr>
        <p:spPr>
          <a:xfrm>
            <a:off x="6731635" y="3634740"/>
            <a:ext cx="125730" cy="22352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5EB420EB-526B-D617-CA98-20624B1B14DF}"/>
              </a:ext>
            </a:extLst>
          </p:cNvPr>
          <p:cNvSpPr/>
          <p:nvPr/>
        </p:nvSpPr>
        <p:spPr>
          <a:xfrm>
            <a:off x="6773545" y="3676650"/>
            <a:ext cx="41910" cy="4191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a:extLst>
              <a:ext uri="{FF2B5EF4-FFF2-40B4-BE49-F238E27FC236}">
                <a16:creationId xmlns:a16="http://schemas.microsoft.com/office/drawing/2014/main" id="{B887FFEA-0BEC-1561-DD21-78A4B476C36C}"/>
              </a:ext>
            </a:extLst>
          </p:cNvPr>
          <p:cNvCxnSpPr/>
          <p:nvPr/>
        </p:nvCxnSpPr>
        <p:spPr>
          <a:xfrm>
            <a:off x="7150100" y="3746500"/>
            <a:ext cx="9144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5FF133BF-42AC-FDDC-6264-88D99B5D9A46}"/>
              </a:ext>
            </a:extLst>
          </p:cNvPr>
          <p:cNvCxnSpPr/>
          <p:nvPr/>
        </p:nvCxnSpPr>
        <p:spPr>
          <a:xfrm>
            <a:off x="8064500" y="3771900"/>
            <a:ext cx="0" cy="330200"/>
          </a:xfrm>
          <a:prstGeom prst="line">
            <a:avLst/>
          </a:prstGeom>
          <a:ln w="25400">
            <a:solidFill>
              <a:srgbClr val="2563EB"/>
            </a:solidFill>
            <a:prstDash val="dash"/>
          </a:ln>
        </p:spPr>
        <p:style>
          <a:lnRef idx="2">
            <a:schemeClr val="accent1"/>
          </a:lnRef>
          <a:fillRef idx="0">
            <a:schemeClr val="accent1"/>
          </a:fillRef>
          <a:effectRef idx="1">
            <a:schemeClr val="accent1"/>
          </a:effectRef>
          <a:fontRef idx="minor">
            <a:schemeClr val="tx1"/>
          </a:fontRef>
        </p:style>
      </p:cxnSp>
      <p:sp>
        <p:nvSpPr>
          <p:cNvPr id="82" name="Rectangle: Rounded Corners 81">
            <a:extLst>
              <a:ext uri="{FF2B5EF4-FFF2-40B4-BE49-F238E27FC236}">
                <a16:creationId xmlns:a16="http://schemas.microsoft.com/office/drawing/2014/main" id="{55CE82DD-7C8B-B6CB-F07F-B2BB90F9DF85}"/>
              </a:ext>
            </a:extLst>
          </p:cNvPr>
          <p:cNvSpPr/>
          <p:nvPr/>
        </p:nvSpPr>
        <p:spPr>
          <a:xfrm>
            <a:off x="9740900" y="4075176"/>
            <a:ext cx="426720" cy="455168"/>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BD06D561-EDDF-6A77-441F-40DD2EED181B}"/>
              </a:ext>
            </a:extLst>
          </p:cNvPr>
          <p:cNvCxnSpPr/>
          <p:nvPr/>
        </p:nvCxnSpPr>
        <p:spPr>
          <a:xfrm flipV="1">
            <a:off x="9783572" y="3847592"/>
            <a:ext cx="0" cy="312928"/>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DDD337E8-04D7-DDA6-E4D4-54EFFB97AC37}"/>
              </a:ext>
            </a:extLst>
          </p:cNvPr>
          <p:cNvCxnSpPr/>
          <p:nvPr/>
        </p:nvCxnSpPr>
        <p:spPr>
          <a:xfrm flipV="1">
            <a:off x="9897364" y="3751839"/>
            <a:ext cx="0" cy="408681"/>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A57BC989-8673-A945-2079-429C3870A1B3}"/>
              </a:ext>
            </a:extLst>
          </p:cNvPr>
          <p:cNvCxnSpPr/>
          <p:nvPr/>
        </p:nvCxnSpPr>
        <p:spPr>
          <a:xfrm flipV="1">
            <a:off x="10011156" y="3744121"/>
            <a:ext cx="0" cy="416399"/>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3350267D-C4D6-41A0-C595-2F78DA7CE49B}"/>
              </a:ext>
            </a:extLst>
          </p:cNvPr>
          <p:cNvCxnSpPr/>
          <p:nvPr/>
        </p:nvCxnSpPr>
        <p:spPr>
          <a:xfrm flipV="1">
            <a:off x="10124948" y="3831534"/>
            <a:ext cx="0" cy="328986"/>
          </a:xfrm>
          <a:prstGeom prst="line">
            <a:avLst/>
          </a:prstGeom>
          <a:ln w="7112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D8FDD45C-D007-369F-6066-02E23E1E26D4}"/>
              </a:ext>
            </a:extLst>
          </p:cNvPr>
          <p:cNvCxnSpPr/>
          <p:nvPr/>
        </p:nvCxnSpPr>
        <p:spPr>
          <a:xfrm flipH="1" flipV="1">
            <a:off x="9598660" y="4089400"/>
            <a:ext cx="184912" cy="256032"/>
          </a:xfrm>
          <a:prstGeom prst="line">
            <a:avLst/>
          </a:prstGeom>
          <a:ln w="85344">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E0FACD22-32CE-5589-4454-6F1295075404}"/>
              </a:ext>
            </a:extLst>
          </p:cNvPr>
          <p:cNvCxnSpPr/>
          <p:nvPr/>
        </p:nvCxnSpPr>
        <p:spPr>
          <a:xfrm flipH="1" flipV="1">
            <a:off x="10831830" y="39833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2D9B0148-0FCD-D732-768A-A8CDEE58059C}"/>
              </a:ext>
            </a:extLst>
          </p:cNvPr>
          <p:cNvSpPr/>
          <p:nvPr/>
        </p:nvSpPr>
        <p:spPr>
          <a:xfrm>
            <a:off x="10748010" y="38995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A168F669-1BB2-F79D-A770-B83D6EA805E3}"/>
              </a:ext>
            </a:extLst>
          </p:cNvPr>
          <p:cNvCxnSpPr/>
          <p:nvPr/>
        </p:nvCxnSpPr>
        <p:spPr>
          <a:xfrm>
            <a:off x="10775950" y="39833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431E9072-1676-E6C5-5036-6804D14B6DCE}"/>
              </a:ext>
            </a:extLst>
          </p:cNvPr>
          <p:cNvCxnSpPr/>
          <p:nvPr/>
        </p:nvCxnSpPr>
        <p:spPr>
          <a:xfrm flipV="1">
            <a:off x="10985500" y="3983355"/>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2" name="Oval 91">
            <a:extLst>
              <a:ext uri="{FF2B5EF4-FFF2-40B4-BE49-F238E27FC236}">
                <a16:creationId xmlns:a16="http://schemas.microsoft.com/office/drawing/2014/main" id="{99234E96-51D7-BC1E-3727-864B8B8C5C17}"/>
              </a:ext>
            </a:extLst>
          </p:cNvPr>
          <p:cNvSpPr/>
          <p:nvPr/>
        </p:nvSpPr>
        <p:spPr>
          <a:xfrm>
            <a:off x="11055350" y="389953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D48AF538-D307-0FD4-A804-51F6D075B7CE}"/>
              </a:ext>
            </a:extLst>
          </p:cNvPr>
          <p:cNvCxnSpPr/>
          <p:nvPr/>
        </p:nvCxnSpPr>
        <p:spPr>
          <a:xfrm>
            <a:off x="11083290" y="398335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DFAB6C01-9B88-B50D-FA3C-89C9AC92EC40}"/>
              </a:ext>
            </a:extLst>
          </p:cNvPr>
          <p:cNvCxnSpPr/>
          <p:nvPr/>
        </p:nvCxnSpPr>
        <p:spPr>
          <a:xfrm flipH="1">
            <a:off x="10831830" y="41021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5" name="Oval 94">
            <a:extLst>
              <a:ext uri="{FF2B5EF4-FFF2-40B4-BE49-F238E27FC236}">
                <a16:creationId xmlns:a16="http://schemas.microsoft.com/office/drawing/2014/main" id="{EA0BDB0A-85F0-E218-0316-65F360BB0A08}"/>
              </a:ext>
            </a:extLst>
          </p:cNvPr>
          <p:cNvSpPr/>
          <p:nvPr/>
        </p:nvSpPr>
        <p:spPr>
          <a:xfrm>
            <a:off x="10748010" y="41370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62303658-9C8E-E794-9656-1A80CA1F27E8}"/>
              </a:ext>
            </a:extLst>
          </p:cNvPr>
          <p:cNvCxnSpPr/>
          <p:nvPr/>
        </p:nvCxnSpPr>
        <p:spPr>
          <a:xfrm>
            <a:off x="10775950" y="42208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2C29BB6B-4AF0-7920-15BD-35D471A0E33A}"/>
              </a:ext>
            </a:extLst>
          </p:cNvPr>
          <p:cNvCxnSpPr/>
          <p:nvPr/>
        </p:nvCxnSpPr>
        <p:spPr>
          <a:xfrm>
            <a:off x="10985500" y="4102100"/>
            <a:ext cx="153670" cy="118745"/>
          </a:xfrm>
          <a:prstGeom prst="line">
            <a:avLst/>
          </a:prstGeom>
          <a:ln w="34925">
            <a:solidFill>
              <a:srgbClr val="14263A"/>
            </a:solidFill>
          </a:ln>
        </p:spPr>
        <p:style>
          <a:lnRef idx="2">
            <a:schemeClr val="accent1"/>
          </a:lnRef>
          <a:fillRef idx="0">
            <a:schemeClr val="accent1"/>
          </a:fillRef>
          <a:effectRef idx="1">
            <a:schemeClr val="accent1"/>
          </a:effectRef>
          <a:fontRef idx="minor">
            <a:schemeClr val="tx1"/>
          </a:fontRef>
        </p:style>
      </p:cxnSp>
      <p:sp>
        <p:nvSpPr>
          <p:cNvPr id="98" name="Oval 97">
            <a:extLst>
              <a:ext uri="{FF2B5EF4-FFF2-40B4-BE49-F238E27FC236}">
                <a16:creationId xmlns:a16="http://schemas.microsoft.com/office/drawing/2014/main" id="{CDD0C1B7-ED6D-2C11-4286-6AA1F91C578E}"/>
              </a:ext>
            </a:extLst>
          </p:cNvPr>
          <p:cNvSpPr/>
          <p:nvPr/>
        </p:nvSpPr>
        <p:spPr>
          <a:xfrm>
            <a:off x="11055350" y="4137025"/>
            <a:ext cx="167640" cy="167640"/>
          </a:xfrm>
          <a:prstGeom prst="ellipse">
            <a:avLst/>
          </a:prstGeom>
          <a:noFill/>
          <a:ln w="13970"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960CCC38-42FD-4F20-1083-FA1B27EBF126}"/>
              </a:ext>
            </a:extLst>
          </p:cNvPr>
          <p:cNvCxnSpPr/>
          <p:nvPr/>
        </p:nvCxnSpPr>
        <p:spPr>
          <a:xfrm>
            <a:off x="11083290" y="4220845"/>
            <a:ext cx="111760"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100" name="Rectangle: Rounded Corners 99">
            <a:extLst>
              <a:ext uri="{FF2B5EF4-FFF2-40B4-BE49-F238E27FC236}">
                <a16:creationId xmlns:a16="http://schemas.microsoft.com/office/drawing/2014/main" id="{FCBA46AE-4802-D275-539F-99D0658D5117}"/>
              </a:ext>
            </a:extLst>
          </p:cNvPr>
          <p:cNvSpPr/>
          <p:nvPr/>
        </p:nvSpPr>
        <p:spPr>
          <a:xfrm>
            <a:off x="10922635" y="3990340"/>
            <a:ext cx="125730" cy="223520"/>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9427485D-AD4C-5BE4-2F60-B48B0EFBEAA2}"/>
              </a:ext>
            </a:extLst>
          </p:cNvPr>
          <p:cNvSpPr/>
          <p:nvPr/>
        </p:nvSpPr>
        <p:spPr>
          <a:xfrm>
            <a:off x="10964545" y="4032250"/>
            <a:ext cx="41910" cy="4191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8F6EF8E0-C65B-F866-669B-6AD5BA6CA7FC}"/>
              </a:ext>
            </a:extLst>
          </p:cNvPr>
          <p:cNvCxnSpPr/>
          <p:nvPr/>
        </p:nvCxnSpPr>
        <p:spPr>
          <a:xfrm>
            <a:off x="10541000" y="3771900"/>
            <a:ext cx="0" cy="635000"/>
          </a:xfrm>
          <a:prstGeom prst="line">
            <a:avLst/>
          </a:prstGeom>
          <a:ln w="50800">
            <a:solidFill>
              <a:srgbClr val="006B62"/>
            </a:solidFill>
          </a:ln>
        </p:spPr>
        <p:style>
          <a:lnRef idx="2">
            <a:schemeClr val="accent1"/>
          </a:lnRef>
          <a:fillRef idx="0">
            <a:schemeClr val="accent1"/>
          </a:fillRef>
          <a:effectRef idx="1">
            <a:schemeClr val="accent1"/>
          </a:effectRef>
          <a:fontRef idx="minor">
            <a:schemeClr val="tx1"/>
          </a:fontRef>
        </p:style>
      </p:cxnSp>
      <p:sp>
        <p:nvSpPr>
          <p:cNvPr id="103" name="Rectangle: Rounded Corners 102">
            <a:extLst>
              <a:ext uri="{FF2B5EF4-FFF2-40B4-BE49-F238E27FC236}">
                <a16:creationId xmlns:a16="http://schemas.microsoft.com/office/drawing/2014/main" id="{0A494EBE-F1CB-FE6D-843D-6F1ECAD545D8}"/>
              </a:ext>
            </a:extLst>
          </p:cNvPr>
          <p:cNvSpPr/>
          <p:nvPr/>
        </p:nvSpPr>
        <p:spPr>
          <a:xfrm>
            <a:off x="508000" y="5727700"/>
            <a:ext cx="1333500" cy="330200"/>
          </a:xfrm>
          <a:prstGeom prst="round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7A5D6859-65B4-1D57-13E9-7FA303A7108D}"/>
              </a:ext>
            </a:extLst>
          </p:cNvPr>
          <p:cNvSpPr txBox="1"/>
          <p:nvPr/>
        </p:nvSpPr>
        <p:spPr>
          <a:xfrm>
            <a:off x="635000" y="5791200"/>
            <a:ext cx="10795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LIVE SETUP</a:t>
            </a:r>
          </a:p>
        </p:txBody>
      </p:sp>
      <p:sp>
        <p:nvSpPr>
          <p:cNvPr id="105" name="TextBox 104">
            <a:extLst>
              <a:ext uri="{FF2B5EF4-FFF2-40B4-BE49-F238E27FC236}">
                <a16:creationId xmlns:a16="http://schemas.microsoft.com/office/drawing/2014/main" id="{A553646D-438D-1F27-0DE5-A4ACD07D5DC0}"/>
              </a:ext>
            </a:extLst>
          </p:cNvPr>
          <p:cNvSpPr txBox="1"/>
          <p:nvPr/>
        </p:nvSpPr>
        <p:spPr>
          <a:xfrm>
            <a:off x="2057400" y="5765800"/>
            <a:ext cx="957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Phones as operators  →  Main computer  →  Shared 3D simulation</a:t>
            </a:r>
          </a:p>
        </p:txBody>
      </p:sp>
    </p:spTree>
    <p:extLst>
      <p:ext uri="{BB962C8B-B14F-4D97-AF65-F5344CB8AC3E}">
        <p14:creationId xmlns:p14="http://schemas.microsoft.com/office/powerpoint/2010/main" val="3066866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EFDF5C-47C5-0218-DF8F-9CCD063643FF}"/>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3F90151F-12A8-F496-1B29-320DD430AE09}"/>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04 / MISSION PLANNING + LIVE CONTROL</a:t>
            </a:r>
          </a:p>
        </p:txBody>
      </p:sp>
      <p:sp>
        <p:nvSpPr>
          <p:cNvPr id="4" name="TextBox 3">
            <a:extLst>
              <a:ext uri="{FF2B5EF4-FFF2-40B4-BE49-F238E27FC236}">
                <a16:creationId xmlns:a16="http://schemas.microsoft.com/office/drawing/2014/main" id="{7483A37F-DBE1-0A08-A90B-0C9F33BA016D}"/>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Plan the route. Adapt mid-flight.</a:t>
            </a:r>
          </a:p>
        </p:txBody>
      </p:sp>
      <p:cxnSp>
        <p:nvCxnSpPr>
          <p:cNvPr id="5" name="Straight Connector 4">
            <a:extLst>
              <a:ext uri="{FF2B5EF4-FFF2-40B4-BE49-F238E27FC236}">
                <a16:creationId xmlns:a16="http://schemas.microsoft.com/office/drawing/2014/main" id="{F380FDD8-1B5A-0701-D41D-4DD4B9A471E5}"/>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C5FBAB8-4CE5-F5C2-39B3-1880F52288B5}"/>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A10EB6C1-B698-46D8-9FA6-9D61E0BE1688}"/>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05</a:t>
            </a:r>
          </a:p>
        </p:txBody>
      </p:sp>
      <p:sp>
        <p:nvSpPr>
          <p:cNvPr id="8" name="TextBox 7">
            <a:extLst>
              <a:ext uri="{FF2B5EF4-FFF2-40B4-BE49-F238E27FC236}">
                <a16:creationId xmlns:a16="http://schemas.microsoft.com/office/drawing/2014/main" id="{2C46DD35-1C44-789F-3BC3-0B902662B30B}"/>
              </a:ext>
            </a:extLst>
          </p:cNvPr>
          <p:cNvSpPr txBox="1"/>
          <p:nvPr/>
        </p:nvSpPr>
        <p:spPr>
          <a:xfrm>
            <a:off x="508000" y="1968500"/>
            <a:ext cx="11137900" cy="369332"/>
          </a:xfrm>
          <a:prstGeom prst="rect">
            <a:avLst/>
          </a:prstGeom>
          <a:noFill/>
        </p:spPr>
        <p:txBody>
          <a:bodyPr vert="horz" wrap="square" lIns="0" tIns="0" rIns="0" bIns="0" rtlCol="0">
            <a:spAutoFit/>
          </a:bodyPr>
          <a:lstStyle/>
          <a:p>
            <a:r>
              <a:rPr lang="en-US" sz="2400">
                <a:solidFill>
                  <a:srgbClr val="617286"/>
                </a:solidFill>
                <a:latin typeface="Aptos" panose="020B0004020202020204" pitchFamily="34" charset="0"/>
              </a:rPr>
              <a:t>A planned mission stays responsive to the operator.</a:t>
            </a:r>
          </a:p>
        </p:txBody>
      </p:sp>
      <p:sp>
        <p:nvSpPr>
          <p:cNvPr id="9" name="Rectangle 8">
            <a:extLst>
              <a:ext uri="{FF2B5EF4-FFF2-40B4-BE49-F238E27FC236}">
                <a16:creationId xmlns:a16="http://schemas.microsoft.com/office/drawing/2014/main" id="{0009A93E-0216-3D3C-7D95-B17E547B8C71}"/>
              </a:ext>
            </a:extLst>
          </p:cNvPr>
          <p:cNvSpPr/>
          <p:nvPr/>
        </p:nvSpPr>
        <p:spPr>
          <a:xfrm>
            <a:off x="508000" y="2603500"/>
            <a:ext cx="3111500" cy="18796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6F298D03-B29D-BA1E-FD97-86B979CF6035}"/>
              </a:ext>
            </a:extLst>
          </p:cNvPr>
          <p:cNvCxnSpPr/>
          <p:nvPr/>
        </p:nvCxnSpPr>
        <p:spPr>
          <a:xfrm>
            <a:off x="6985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DFA7A16-8771-1F3D-14F2-510AB6C1A66C}"/>
              </a:ext>
            </a:extLst>
          </p:cNvPr>
          <p:cNvCxnSpPr/>
          <p:nvPr/>
        </p:nvCxnSpPr>
        <p:spPr>
          <a:xfrm>
            <a:off x="11049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B27B073-DD8B-124D-E635-5D44CB7EF312}"/>
              </a:ext>
            </a:extLst>
          </p:cNvPr>
          <p:cNvCxnSpPr/>
          <p:nvPr/>
        </p:nvCxnSpPr>
        <p:spPr>
          <a:xfrm>
            <a:off x="15113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9ECD88B8-D64A-60CC-F36D-6BCCD7016B15}"/>
              </a:ext>
            </a:extLst>
          </p:cNvPr>
          <p:cNvCxnSpPr/>
          <p:nvPr/>
        </p:nvCxnSpPr>
        <p:spPr>
          <a:xfrm>
            <a:off x="19177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85D92CC-99E6-8906-EB24-725611BC93D8}"/>
              </a:ext>
            </a:extLst>
          </p:cNvPr>
          <p:cNvCxnSpPr/>
          <p:nvPr/>
        </p:nvCxnSpPr>
        <p:spPr>
          <a:xfrm>
            <a:off x="23241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9D4BFB8-1723-CEC0-0AFA-F7674FA76965}"/>
              </a:ext>
            </a:extLst>
          </p:cNvPr>
          <p:cNvCxnSpPr/>
          <p:nvPr/>
        </p:nvCxnSpPr>
        <p:spPr>
          <a:xfrm>
            <a:off x="27305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317AF63-B20D-A86D-9B76-F4BA1DDCE620}"/>
              </a:ext>
            </a:extLst>
          </p:cNvPr>
          <p:cNvCxnSpPr/>
          <p:nvPr/>
        </p:nvCxnSpPr>
        <p:spPr>
          <a:xfrm>
            <a:off x="3136900" y="2755900"/>
            <a:ext cx="0" cy="152400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EB1F457-9D7B-E31B-6173-D21BE962F705}"/>
              </a:ext>
            </a:extLst>
          </p:cNvPr>
          <p:cNvCxnSpPr/>
          <p:nvPr/>
        </p:nvCxnSpPr>
        <p:spPr>
          <a:xfrm>
            <a:off x="698500" y="27559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3F9ADAD-6565-8C2C-35BE-CD0198382AD6}"/>
              </a:ext>
            </a:extLst>
          </p:cNvPr>
          <p:cNvCxnSpPr/>
          <p:nvPr/>
        </p:nvCxnSpPr>
        <p:spPr>
          <a:xfrm>
            <a:off x="698500" y="31623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FF42DC6-9F53-2B1A-185B-566219AE197F}"/>
              </a:ext>
            </a:extLst>
          </p:cNvPr>
          <p:cNvCxnSpPr/>
          <p:nvPr/>
        </p:nvCxnSpPr>
        <p:spPr>
          <a:xfrm>
            <a:off x="698500" y="35687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50AB750-55A5-E945-F0E3-CF752F0C5457}"/>
              </a:ext>
            </a:extLst>
          </p:cNvPr>
          <p:cNvCxnSpPr/>
          <p:nvPr/>
        </p:nvCxnSpPr>
        <p:spPr>
          <a:xfrm>
            <a:off x="698500" y="3975100"/>
            <a:ext cx="2730500" cy="0"/>
          </a:xfrm>
          <a:prstGeom prst="line">
            <a:avLst/>
          </a:prstGeom>
          <a:ln w="508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0A28C8C-5792-C749-5931-E68501695E45}"/>
              </a:ext>
            </a:extLst>
          </p:cNvPr>
          <p:cNvCxnSpPr/>
          <p:nvPr/>
        </p:nvCxnSpPr>
        <p:spPr>
          <a:xfrm flipV="1">
            <a:off x="952500" y="3276600"/>
            <a:ext cx="444500" cy="7874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8A83D92-B130-B411-39E1-A281C817A5FA}"/>
              </a:ext>
            </a:extLst>
          </p:cNvPr>
          <p:cNvCxnSpPr/>
          <p:nvPr/>
        </p:nvCxnSpPr>
        <p:spPr>
          <a:xfrm>
            <a:off x="1397000" y="3276600"/>
            <a:ext cx="723900" cy="4318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D1DBCAE-6D3B-4CAA-4A5B-4D131D833EE9}"/>
              </a:ext>
            </a:extLst>
          </p:cNvPr>
          <p:cNvCxnSpPr/>
          <p:nvPr/>
        </p:nvCxnSpPr>
        <p:spPr>
          <a:xfrm flipV="1">
            <a:off x="2120900" y="2984500"/>
            <a:ext cx="952500" cy="7239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DE78A230-E4C1-725A-F3B8-72864E8B5A53}"/>
              </a:ext>
            </a:extLst>
          </p:cNvPr>
          <p:cNvSpPr/>
          <p:nvPr/>
        </p:nvSpPr>
        <p:spPr>
          <a:xfrm>
            <a:off x="889000" y="40005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92D788C-CF07-7AEA-DD0A-BC8F86DD227B}"/>
              </a:ext>
            </a:extLst>
          </p:cNvPr>
          <p:cNvSpPr/>
          <p:nvPr/>
        </p:nvSpPr>
        <p:spPr>
          <a:xfrm>
            <a:off x="1333500" y="32131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80D08B42-8194-EC4C-8CFC-DD909B84C036}"/>
              </a:ext>
            </a:extLst>
          </p:cNvPr>
          <p:cNvSpPr/>
          <p:nvPr/>
        </p:nvSpPr>
        <p:spPr>
          <a:xfrm>
            <a:off x="2057400" y="36449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BDA8197-2AFE-F932-0D28-7D867E0F2449}"/>
              </a:ext>
            </a:extLst>
          </p:cNvPr>
          <p:cNvSpPr/>
          <p:nvPr/>
        </p:nvSpPr>
        <p:spPr>
          <a:xfrm>
            <a:off x="3009900" y="2921000"/>
            <a:ext cx="127000" cy="1270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AF1BE07-E00B-AAFE-635D-81014E1B6AEE}"/>
              </a:ext>
            </a:extLst>
          </p:cNvPr>
          <p:cNvSpPr txBox="1"/>
          <p:nvPr/>
        </p:nvSpPr>
        <p:spPr>
          <a:xfrm>
            <a:off x="508000" y="4648200"/>
            <a:ext cx="3238500" cy="292388"/>
          </a:xfrm>
          <a:prstGeom prst="rect">
            <a:avLst/>
          </a:prstGeom>
          <a:noFill/>
        </p:spPr>
        <p:txBody>
          <a:bodyPr vert="horz" wrap="square" lIns="0" tIns="0" rIns="0" bIns="0" rtlCol="0">
            <a:spAutoFit/>
          </a:bodyPr>
          <a:lstStyle/>
          <a:p>
            <a:r>
              <a:rPr lang="en-US" sz="1900" b="1">
                <a:solidFill>
                  <a:srgbClr val="14263A"/>
                </a:solidFill>
                <a:latin typeface="Aptos" panose="020B0004020202020204" pitchFamily="34" charset="0"/>
              </a:rPr>
              <a:t>01  PLAN IN 2D</a:t>
            </a:r>
          </a:p>
        </p:txBody>
      </p:sp>
      <p:sp>
        <p:nvSpPr>
          <p:cNvPr id="29" name="TextBox 28">
            <a:extLst>
              <a:ext uri="{FF2B5EF4-FFF2-40B4-BE49-F238E27FC236}">
                <a16:creationId xmlns:a16="http://schemas.microsoft.com/office/drawing/2014/main" id="{ECC38BF1-373D-C91A-CBCD-911F98407B36}"/>
              </a:ext>
            </a:extLst>
          </p:cNvPr>
          <p:cNvSpPr txBox="1"/>
          <p:nvPr/>
        </p:nvSpPr>
        <p:spPr>
          <a:xfrm>
            <a:off x="508000" y="5016500"/>
            <a:ext cx="33020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Build the mission in a flight planner.</a:t>
            </a:r>
          </a:p>
        </p:txBody>
      </p:sp>
      <p:cxnSp>
        <p:nvCxnSpPr>
          <p:cNvPr id="30" name="Straight Connector 29">
            <a:extLst>
              <a:ext uri="{FF2B5EF4-FFF2-40B4-BE49-F238E27FC236}">
                <a16:creationId xmlns:a16="http://schemas.microsoft.com/office/drawing/2014/main" id="{39C13AE7-BD52-DDE9-F43C-A98393B09009}"/>
              </a:ext>
            </a:extLst>
          </p:cNvPr>
          <p:cNvCxnSpPr/>
          <p:nvPr/>
        </p:nvCxnSpPr>
        <p:spPr>
          <a:xfrm>
            <a:off x="3721100" y="3543300"/>
            <a:ext cx="3810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830782BE-8DE9-79B5-3F36-A3BBCB8F0D93}"/>
              </a:ext>
            </a:extLst>
          </p:cNvPr>
          <p:cNvSpPr/>
          <p:nvPr/>
        </p:nvSpPr>
        <p:spPr>
          <a:xfrm>
            <a:off x="4241800" y="2603500"/>
            <a:ext cx="3492500" cy="18796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B58DDD6A-8AC5-261A-B263-95DC7B65F62B}"/>
              </a:ext>
            </a:extLst>
          </p:cNvPr>
          <p:cNvCxnSpPr/>
          <p:nvPr/>
        </p:nvCxnSpPr>
        <p:spPr>
          <a:xfrm flipV="1">
            <a:off x="4432300" y="2895600"/>
            <a:ext cx="558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B228818-2D6C-31AD-F9D8-DBA8EBE4CB06}"/>
              </a:ext>
            </a:extLst>
          </p:cNvPr>
          <p:cNvCxnSpPr/>
          <p:nvPr/>
        </p:nvCxnSpPr>
        <p:spPr>
          <a:xfrm flipV="1">
            <a:off x="4800600" y="2895600"/>
            <a:ext cx="622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C243D518-3E1A-747E-AF6F-9529E655BE8F}"/>
              </a:ext>
            </a:extLst>
          </p:cNvPr>
          <p:cNvCxnSpPr/>
          <p:nvPr/>
        </p:nvCxnSpPr>
        <p:spPr>
          <a:xfrm flipV="1">
            <a:off x="5168900" y="2895600"/>
            <a:ext cx="685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E5EBEF8-B0D2-BDED-41D7-1D4F1D63D626}"/>
              </a:ext>
            </a:extLst>
          </p:cNvPr>
          <p:cNvCxnSpPr/>
          <p:nvPr/>
        </p:nvCxnSpPr>
        <p:spPr>
          <a:xfrm flipV="1">
            <a:off x="5537200" y="2895600"/>
            <a:ext cx="749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9F8A431A-B6FD-5A61-2C63-DBD79AA6D081}"/>
              </a:ext>
            </a:extLst>
          </p:cNvPr>
          <p:cNvCxnSpPr/>
          <p:nvPr/>
        </p:nvCxnSpPr>
        <p:spPr>
          <a:xfrm flipV="1">
            <a:off x="5905500" y="2895600"/>
            <a:ext cx="8128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D7FB3B1-70C3-CDE5-5F87-5A23F0329867}"/>
              </a:ext>
            </a:extLst>
          </p:cNvPr>
          <p:cNvCxnSpPr/>
          <p:nvPr/>
        </p:nvCxnSpPr>
        <p:spPr>
          <a:xfrm flipV="1">
            <a:off x="6273800" y="2895600"/>
            <a:ext cx="876300" cy="12954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DE8C759-C684-2A4C-F0B2-2A47699BD812}"/>
              </a:ext>
            </a:extLst>
          </p:cNvPr>
          <p:cNvCxnSpPr/>
          <p:nvPr/>
        </p:nvCxnSpPr>
        <p:spPr>
          <a:xfrm>
            <a:off x="4432300" y="4191000"/>
            <a:ext cx="1841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B7279D2B-8FC7-4125-1C30-216D22350613}"/>
              </a:ext>
            </a:extLst>
          </p:cNvPr>
          <p:cNvCxnSpPr/>
          <p:nvPr/>
        </p:nvCxnSpPr>
        <p:spPr>
          <a:xfrm>
            <a:off x="4572000" y="3867150"/>
            <a:ext cx="19050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0DC077D-9D76-E1D3-0D47-4736749D991F}"/>
              </a:ext>
            </a:extLst>
          </p:cNvPr>
          <p:cNvCxnSpPr/>
          <p:nvPr/>
        </p:nvCxnSpPr>
        <p:spPr>
          <a:xfrm>
            <a:off x="4711700" y="3543300"/>
            <a:ext cx="1968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33A3088A-E5C1-F89F-1976-883135E12078}"/>
              </a:ext>
            </a:extLst>
          </p:cNvPr>
          <p:cNvCxnSpPr/>
          <p:nvPr/>
        </p:nvCxnSpPr>
        <p:spPr>
          <a:xfrm>
            <a:off x="4851400" y="3219450"/>
            <a:ext cx="20320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25BB7CF-0E9A-DE65-053B-4471615AEE17}"/>
              </a:ext>
            </a:extLst>
          </p:cNvPr>
          <p:cNvCxnSpPr/>
          <p:nvPr/>
        </p:nvCxnSpPr>
        <p:spPr>
          <a:xfrm>
            <a:off x="4991100" y="2895600"/>
            <a:ext cx="2095500" cy="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F04C9DA-4C7D-3DD1-FD88-D3460284BF0D}"/>
              </a:ext>
            </a:extLst>
          </p:cNvPr>
          <p:cNvCxnSpPr/>
          <p:nvPr/>
        </p:nvCxnSpPr>
        <p:spPr>
          <a:xfrm flipV="1">
            <a:off x="4686300" y="3479800"/>
            <a:ext cx="736600" cy="4572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0BD7AC1A-3FDA-8643-405A-E2410212288D}"/>
              </a:ext>
            </a:extLst>
          </p:cNvPr>
          <p:cNvCxnSpPr/>
          <p:nvPr/>
        </p:nvCxnSpPr>
        <p:spPr>
          <a:xfrm>
            <a:off x="5422900" y="3479800"/>
            <a:ext cx="635000" cy="3175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988B62C3-7E00-D7F4-F705-C1C13B7120C9}"/>
              </a:ext>
            </a:extLst>
          </p:cNvPr>
          <p:cNvCxnSpPr/>
          <p:nvPr/>
        </p:nvCxnSpPr>
        <p:spPr>
          <a:xfrm flipV="1">
            <a:off x="6057900" y="3175000"/>
            <a:ext cx="1104900" cy="62230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sp>
        <p:nvSpPr>
          <p:cNvPr id="46" name="Oval 45">
            <a:extLst>
              <a:ext uri="{FF2B5EF4-FFF2-40B4-BE49-F238E27FC236}">
                <a16:creationId xmlns:a16="http://schemas.microsoft.com/office/drawing/2014/main" id="{AB2D618E-8826-5772-D097-59EBD3311D84}"/>
              </a:ext>
            </a:extLst>
          </p:cNvPr>
          <p:cNvSpPr/>
          <p:nvPr/>
        </p:nvSpPr>
        <p:spPr>
          <a:xfrm>
            <a:off x="4635500" y="38862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92CF9B2D-C1FA-CEC8-0875-372BD165DB6E}"/>
              </a:ext>
            </a:extLst>
          </p:cNvPr>
          <p:cNvSpPr/>
          <p:nvPr/>
        </p:nvSpPr>
        <p:spPr>
          <a:xfrm>
            <a:off x="5372100" y="34290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643BD65-5FA3-1393-2442-ECF6DE5035B1}"/>
              </a:ext>
            </a:extLst>
          </p:cNvPr>
          <p:cNvSpPr/>
          <p:nvPr/>
        </p:nvSpPr>
        <p:spPr>
          <a:xfrm>
            <a:off x="6007100" y="37465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375A29E3-E33E-7EFF-9DCE-EE47E2CF9087}"/>
              </a:ext>
            </a:extLst>
          </p:cNvPr>
          <p:cNvSpPr/>
          <p:nvPr/>
        </p:nvSpPr>
        <p:spPr>
          <a:xfrm>
            <a:off x="7112000" y="3124200"/>
            <a:ext cx="101600" cy="1016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F987318A-0D24-7EA3-0489-C5B5B3B7FEF9}"/>
              </a:ext>
            </a:extLst>
          </p:cNvPr>
          <p:cNvCxnSpPr/>
          <p:nvPr/>
        </p:nvCxnSpPr>
        <p:spPr>
          <a:xfrm flipV="1">
            <a:off x="6261100" y="3162300"/>
            <a:ext cx="0" cy="571500"/>
          </a:xfrm>
          <a:prstGeom prst="line">
            <a:avLst/>
          </a:prstGeom>
          <a:ln w="25400">
            <a:solidFill>
              <a:srgbClr val="617286"/>
            </a:solidFill>
            <a:prstDash val="dash"/>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8741FE63-17A1-6BEF-3183-650C13CE6204}"/>
              </a:ext>
            </a:extLst>
          </p:cNvPr>
          <p:cNvCxnSpPr/>
          <p:nvPr/>
        </p:nvCxnSpPr>
        <p:spPr>
          <a:xfrm flipH="1" flipV="1">
            <a:off x="6115812" y="2910332"/>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2" name="Oval 51">
            <a:extLst>
              <a:ext uri="{FF2B5EF4-FFF2-40B4-BE49-F238E27FC236}">
                <a16:creationId xmlns:a16="http://schemas.microsoft.com/office/drawing/2014/main" id="{9F2CFC21-41E5-D2BD-5D13-785BA4745DE3}"/>
              </a:ext>
            </a:extLst>
          </p:cNvPr>
          <p:cNvSpPr/>
          <p:nvPr/>
        </p:nvSpPr>
        <p:spPr>
          <a:xfrm>
            <a:off x="6036564" y="2831084"/>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49716457-7D4A-4D30-E8B8-E4F0184727E7}"/>
              </a:ext>
            </a:extLst>
          </p:cNvPr>
          <p:cNvCxnSpPr/>
          <p:nvPr/>
        </p:nvCxnSpPr>
        <p:spPr>
          <a:xfrm>
            <a:off x="6062980" y="2910332"/>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FA1A9A85-13A2-CD9F-4BA5-D6F35FB6075E}"/>
              </a:ext>
            </a:extLst>
          </p:cNvPr>
          <p:cNvCxnSpPr/>
          <p:nvPr/>
        </p:nvCxnSpPr>
        <p:spPr>
          <a:xfrm flipV="1">
            <a:off x="6261100" y="2910332"/>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FAC9D09F-2C75-943D-D323-38B87219ED1B}"/>
              </a:ext>
            </a:extLst>
          </p:cNvPr>
          <p:cNvSpPr/>
          <p:nvPr/>
        </p:nvSpPr>
        <p:spPr>
          <a:xfrm>
            <a:off x="6327140" y="2831084"/>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80785CD3-6B17-4BA8-4026-8EEA8035A090}"/>
              </a:ext>
            </a:extLst>
          </p:cNvPr>
          <p:cNvCxnSpPr/>
          <p:nvPr/>
        </p:nvCxnSpPr>
        <p:spPr>
          <a:xfrm>
            <a:off x="6353556" y="2910332"/>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301E55FA-1B21-5316-05C6-123E5C561F02}"/>
              </a:ext>
            </a:extLst>
          </p:cNvPr>
          <p:cNvCxnSpPr/>
          <p:nvPr/>
        </p:nvCxnSpPr>
        <p:spPr>
          <a:xfrm flipH="1">
            <a:off x="6115812" y="3022600"/>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733F1DF5-2CEA-DF77-B25F-848B42C1D964}"/>
              </a:ext>
            </a:extLst>
          </p:cNvPr>
          <p:cNvSpPr/>
          <p:nvPr/>
        </p:nvSpPr>
        <p:spPr>
          <a:xfrm>
            <a:off x="6036564" y="3055620"/>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47A4C17B-4598-FCC3-2C22-9A8BE2EB9EBF}"/>
              </a:ext>
            </a:extLst>
          </p:cNvPr>
          <p:cNvCxnSpPr/>
          <p:nvPr/>
        </p:nvCxnSpPr>
        <p:spPr>
          <a:xfrm>
            <a:off x="6062980" y="3134868"/>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56E86462-AC9F-78B0-7B17-2AB91DF326C7}"/>
              </a:ext>
            </a:extLst>
          </p:cNvPr>
          <p:cNvCxnSpPr/>
          <p:nvPr/>
        </p:nvCxnSpPr>
        <p:spPr>
          <a:xfrm>
            <a:off x="6261100" y="3022600"/>
            <a:ext cx="145288" cy="112268"/>
          </a:xfrm>
          <a:prstGeom prst="line">
            <a:avLst/>
          </a:prstGeom>
          <a:ln w="33020">
            <a:solidFill>
              <a:srgbClr val="14263A"/>
            </a:solidFill>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066CFF32-88FD-28A5-2928-129E84D07C69}"/>
              </a:ext>
            </a:extLst>
          </p:cNvPr>
          <p:cNvSpPr/>
          <p:nvPr/>
        </p:nvSpPr>
        <p:spPr>
          <a:xfrm>
            <a:off x="6327140" y="3055620"/>
            <a:ext cx="158496" cy="158496"/>
          </a:xfrm>
          <a:prstGeom prst="ellipse">
            <a:avLst/>
          </a:prstGeom>
          <a:noFill/>
          <a:ln w="1320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a:extLst>
              <a:ext uri="{FF2B5EF4-FFF2-40B4-BE49-F238E27FC236}">
                <a16:creationId xmlns:a16="http://schemas.microsoft.com/office/drawing/2014/main" id="{C67D3BAA-F04B-379C-1E3A-DB468C40804A}"/>
              </a:ext>
            </a:extLst>
          </p:cNvPr>
          <p:cNvCxnSpPr/>
          <p:nvPr/>
        </p:nvCxnSpPr>
        <p:spPr>
          <a:xfrm>
            <a:off x="6353556" y="3134868"/>
            <a:ext cx="10566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63" name="Rectangle: Rounded Corners 62">
            <a:extLst>
              <a:ext uri="{FF2B5EF4-FFF2-40B4-BE49-F238E27FC236}">
                <a16:creationId xmlns:a16="http://schemas.microsoft.com/office/drawing/2014/main" id="{903B26F2-36DF-8BBF-0AE6-E4015D0808FA}"/>
              </a:ext>
            </a:extLst>
          </p:cNvPr>
          <p:cNvSpPr/>
          <p:nvPr/>
        </p:nvSpPr>
        <p:spPr>
          <a:xfrm>
            <a:off x="6201664" y="2916936"/>
            <a:ext cx="118872" cy="211328"/>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B677EE4A-A75E-BA58-E3F6-27A66E8C5914}"/>
              </a:ext>
            </a:extLst>
          </p:cNvPr>
          <p:cNvSpPr/>
          <p:nvPr/>
        </p:nvSpPr>
        <p:spPr>
          <a:xfrm>
            <a:off x="6241288" y="2956560"/>
            <a:ext cx="39624" cy="39624"/>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75F6C956-ADB6-37A6-B793-9EA9FE53A489}"/>
              </a:ext>
            </a:extLst>
          </p:cNvPr>
          <p:cNvSpPr txBox="1"/>
          <p:nvPr/>
        </p:nvSpPr>
        <p:spPr>
          <a:xfrm>
            <a:off x="4241800" y="4648200"/>
            <a:ext cx="3594100" cy="292388"/>
          </a:xfrm>
          <a:prstGeom prst="rect">
            <a:avLst/>
          </a:prstGeom>
          <a:noFill/>
        </p:spPr>
        <p:txBody>
          <a:bodyPr vert="horz" wrap="square" lIns="0" tIns="0" rIns="0" bIns="0" rtlCol="0">
            <a:spAutoFit/>
          </a:bodyPr>
          <a:lstStyle/>
          <a:p>
            <a:r>
              <a:rPr lang="en-US" sz="1900" b="1">
                <a:solidFill>
                  <a:srgbClr val="14263A"/>
                </a:solidFill>
                <a:latin typeface="Aptos" panose="020B0004020202020204" pitchFamily="34" charset="0"/>
              </a:rPr>
              <a:t>02  VISUALIZE IN 3D</a:t>
            </a:r>
          </a:p>
        </p:txBody>
      </p:sp>
      <p:sp>
        <p:nvSpPr>
          <p:cNvPr id="66" name="TextBox 65">
            <a:extLst>
              <a:ext uri="{FF2B5EF4-FFF2-40B4-BE49-F238E27FC236}">
                <a16:creationId xmlns:a16="http://schemas.microsoft.com/office/drawing/2014/main" id="{68D7C930-9943-8EA1-A729-CFC4BC66DFBA}"/>
              </a:ext>
            </a:extLst>
          </p:cNvPr>
          <p:cNvSpPr txBox="1"/>
          <p:nvPr/>
        </p:nvSpPr>
        <p:spPr>
          <a:xfrm>
            <a:off x="4241800" y="5016500"/>
            <a:ext cx="3606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See the mission in a virtual world.</a:t>
            </a:r>
          </a:p>
        </p:txBody>
      </p:sp>
      <p:sp>
        <p:nvSpPr>
          <p:cNvPr id="67" name="Rectangle 66">
            <a:extLst>
              <a:ext uri="{FF2B5EF4-FFF2-40B4-BE49-F238E27FC236}">
                <a16:creationId xmlns:a16="http://schemas.microsoft.com/office/drawing/2014/main" id="{7A86A9AE-2310-CA2B-B7C0-45C270A0CC1F}"/>
              </a:ext>
            </a:extLst>
          </p:cNvPr>
          <p:cNvSpPr/>
          <p:nvPr/>
        </p:nvSpPr>
        <p:spPr>
          <a:xfrm>
            <a:off x="8445500" y="2603500"/>
            <a:ext cx="3175000" cy="18796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Rounded Corners 67">
            <a:extLst>
              <a:ext uri="{FF2B5EF4-FFF2-40B4-BE49-F238E27FC236}">
                <a16:creationId xmlns:a16="http://schemas.microsoft.com/office/drawing/2014/main" id="{31C755CD-1202-699E-9A4E-55BC6124325C}"/>
              </a:ext>
            </a:extLst>
          </p:cNvPr>
          <p:cNvSpPr/>
          <p:nvPr/>
        </p:nvSpPr>
        <p:spPr>
          <a:xfrm>
            <a:off x="8864600" y="3513328"/>
            <a:ext cx="327660" cy="34950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0A26684C-27D1-1B66-AD17-3789449BA817}"/>
              </a:ext>
            </a:extLst>
          </p:cNvPr>
          <p:cNvCxnSpPr/>
          <p:nvPr/>
        </p:nvCxnSpPr>
        <p:spPr>
          <a:xfrm flipV="1">
            <a:off x="8897366" y="3338576"/>
            <a:ext cx="0" cy="240284"/>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33B1D629-BB24-2DB2-A276-5690D6825D4A}"/>
              </a:ext>
            </a:extLst>
          </p:cNvPr>
          <p:cNvCxnSpPr/>
          <p:nvPr/>
        </p:nvCxnSpPr>
        <p:spPr>
          <a:xfrm flipV="1">
            <a:off x="8984742" y="3265051"/>
            <a:ext cx="0" cy="313809"/>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1AF7D641-96C6-0EF7-270F-1ED14C5EFC64}"/>
              </a:ext>
            </a:extLst>
          </p:cNvPr>
          <p:cNvCxnSpPr/>
          <p:nvPr/>
        </p:nvCxnSpPr>
        <p:spPr>
          <a:xfrm flipV="1">
            <a:off x="9072118" y="3259125"/>
            <a:ext cx="0" cy="319735"/>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C0C079E0-835D-7A8D-DD1C-21272F0E3968}"/>
              </a:ext>
            </a:extLst>
          </p:cNvPr>
          <p:cNvCxnSpPr/>
          <p:nvPr/>
        </p:nvCxnSpPr>
        <p:spPr>
          <a:xfrm flipV="1">
            <a:off x="9159494" y="3326245"/>
            <a:ext cx="0" cy="252615"/>
          </a:xfrm>
          <a:prstGeom prst="line">
            <a:avLst/>
          </a:prstGeom>
          <a:ln w="54610">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3BF74F19-D630-EA60-74D2-4FD9CFE6582A}"/>
              </a:ext>
            </a:extLst>
          </p:cNvPr>
          <p:cNvCxnSpPr/>
          <p:nvPr/>
        </p:nvCxnSpPr>
        <p:spPr>
          <a:xfrm flipH="1" flipV="1">
            <a:off x="8755380" y="3524250"/>
            <a:ext cx="141986" cy="196596"/>
          </a:xfrm>
          <a:prstGeom prst="line">
            <a:avLst/>
          </a:prstGeom>
          <a:ln w="65532">
            <a:solidFill>
              <a:srgbClr val="006B62"/>
            </a:solidFill>
          </a:ln>
        </p:spPr>
        <p:style>
          <a:lnRef idx="2">
            <a:schemeClr val="accent1"/>
          </a:lnRef>
          <a:fillRef idx="0">
            <a:schemeClr val="accent1"/>
          </a:fillRef>
          <a:effectRef idx="1">
            <a:schemeClr val="accent1"/>
          </a:effectRef>
          <a:fontRef idx="minor">
            <a:schemeClr val="tx1"/>
          </a:fontRef>
        </p:style>
      </p:cxnSp>
      <p:sp>
        <p:nvSpPr>
          <p:cNvPr id="74" name="Oval 73">
            <a:extLst>
              <a:ext uri="{FF2B5EF4-FFF2-40B4-BE49-F238E27FC236}">
                <a16:creationId xmlns:a16="http://schemas.microsoft.com/office/drawing/2014/main" id="{7690B207-8F12-1185-C4F0-CE9EEEFEBFC1}"/>
              </a:ext>
            </a:extLst>
          </p:cNvPr>
          <p:cNvSpPr/>
          <p:nvPr/>
        </p:nvSpPr>
        <p:spPr>
          <a:xfrm>
            <a:off x="10838561" y="3514344"/>
            <a:ext cx="90678" cy="90678"/>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Rounded Corners 74">
            <a:extLst>
              <a:ext uri="{FF2B5EF4-FFF2-40B4-BE49-F238E27FC236}">
                <a16:creationId xmlns:a16="http://schemas.microsoft.com/office/drawing/2014/main" id="{03B17691-6A29-62A7-64EC-2A41D417F793}"/>
              </a:ext>
            </a:extLst>
          </p:cNvPr>
          <p:cNvSpPr/>
          <p:nvPr/>
        </p:nvSpPr>
        <p:spPr>
          <a:xfrm>
            <a:off x="10819130" y="3630930"/>
            <a:ext cx="129540" cy="207264"/>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a:extLst>
              <a:ext uri="{FF2B5EF4-FFF2-40B4-BE49-F238E27FC236}">
                <a16:creationId xmlns:a16="http://schemas.microsoft.com/office/drawing/2014/main" id="{7B2A8536-7902-6CC0-C9AE-E23326956A33}"/>
              </a:ext>
            </a:extLst>
          </p:cNvPr>
          <p:cNvCxnSpPr/>
          <p:nvPr/>
        </p:nvCxnSpPr>
        <p:spPr>
          <a:xfrm flipH="1">
            <a:off x="10819130" y="3818763"/>
            <a:ext cx="19431" cy="136017"/>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DA5F399F-6AE9-7CF4-12DD-2C350092C804}"/>
              </a:ext>
            </a:extLst>
          </p:cNvPr>
          <p:cNvCxnSpPr/>
          <p:nvPr/>
        </p:nvCxnSpPr>
        <p:spPr>
          <a:xfrm>
            <a:off x="10929239" y="3818763"/>
            <a:ext cx="19431" cy="136017"/>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2DF5DE8D-9245-3BCB-AE7D-6B44F408EB96}"/>
              </a:ext>
            </a:extLst>
          </p:cNvPr>
          <p:cNvCxnSpPr/>
          <p:nvPr/>
        </p:nvCxnSpPr>
        <p:spPr>
          <a:xfrm flipH="1">
            <a:off x="10741406" y="3676269"/>
            <a:ext cx="97155" cy="77724"/>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9EF96319-1E6C-D148-8B33-F1B442D77EC3}"/>
              </a:ext>
            </a:extLst>
          </p:cNvPr>
          <p:cNvCxnSpPr/>
          <p:nvPr/>
        </p:nvCxnSpPr>
        <p:spPr>
          <a:xfrm flipV="1">
            <a:off x="10929239" y="3553206"/>
            <a:ext cx="103632" cy="123063"/>
          </a:xfrm>
          <a:prstGeom prst="line">
            <a:avLst/>
          </a:prstGeom>
          <a:ln w="3238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5A015649-D312-59A3-055C-48C93EF17614}"/>
              </a:ext>
            </a:extLst>
          </p:cNvPr>
          <p:cNvCxnSpPr/>
          <p:nvPr/>
        </p:nvCxnSpPr>
        <p:spPr>
          <a:xfrm flipH="1" flipV="1">
            <a:off x="10519664" y="2914904"/>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1" name="Oval 80">
            <a:extLst>
              <a:ext uri="{FF2B5EF4-FFF2-40B4-BE49-F238E27FC236}">
                <a16:creationId xmlns:a16="http://schemas.microsoft.com/office/drawing/2014/main" id="{B6B80825-2442-5676-24B8-BC41D5DA6061}"/>
              </a:ext>
            </a:extLst>
          </p:cNvPr>
          <p:cNvSpPr/>
          <p:nvPr/>
        </p:nvSpPr>
        <p:spPr>
          <a:xfrm>
            <a:off x="10452608" y="2847848"/>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Connector 81">
            <a:extLst>
              <a:ext uri="{FF2B5EF4-FFF2-40B4-BE49-F238E27FC236}">
                <a16:creationId xmlns:a16="http://schemas.microsoft.com/office/drawing/2014/main" id="{FCE684FB-1AF2-497E-DA81-0460557E8734}"/>
              </a:ext>
            </a:extLst>
          </p:cNvPr>
          <p:cNvCxnSpPr/>
          <p:nvPr/>
        </p:nvCxnSpPr>
        <p:spPr>
          <a:xfrm>
            <a:off x="10474960" y="2914904"/>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9A0601C6-B8AF-F561-55DB-13BA613E2929}"/>
              </a:ext>
            </a:extLst>
          </p:cNvPr>
          <p:cNvCxnSpPr/>
          <p:nvPr/>
        </p:nvCxnSpPr>
        <p:spPr>
          <a:xfrm flipV="1">
            <a:off x="10642600" y="2914904"/>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4" name="Oval 83">
            <a:extLst>
              <a:ext uri="{FF2B5EF4-FFF2-40B4-BE49-F238E27FC236}">
                <a16:creationId xmlns:a16="http://schemas.microsoft.com/office/drawing/2014/main" id="{4BF39239-19BF-D1C5-44D2-3A512A20CD86}"/>
              </a:ext>
            </a:extLst>
          </p:cNvPr>
          <p:cNvSpPr/>
          <p:nvPr/>
        </p:nvSpPr>
        <p:spPr>
          <a:xfrm>
            <a:off x="10698480" y="2847848"/>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5" name="Straight Connector 84">
            <a:extLst>
              <a:ext uri="{FF2B5EF4-FFF2-40B4-BE49-F238E27FC236}">
                <a16:creationId xmlns:a16="http://schemas.microsoft.com/office/drawing/2014/main" id="{9E2DCF78-EAD9-0B64-7F88-57AD017E40C5}"/>
              </a:ext>
            </a:extLst>
          </p:cNvPr>
          <p:cNvCxnSpPr/>
          <p:nvPr/>
        </p:nvCxnSpPr>
        <p:spPr>
          <a:xfrm>
            <a:off x="10720832" y="2914904"/>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32DFF1A7-D443-600D-3AEC-6523B58380C6}"/>
              </a:ext>
            </a:extLst>
          </p:cNvPr>
          <p:cNvCxnSpPr/>
          <p:nvPr/>
        </p:nvCxnSpPr>
        <p:spPr>
          <a:xfrm flipH="1">
            <a:off x="10519664" y="3009900"/>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87" name="Oval 86">
            <a:extLst>
              <a:ext uri="{FF2B5EF4-FFF2-40B4-BE49-F238E27FC236}">
                <a16:creationId xmlns:a16="http://schemas.microsoft.com/office/drawing/2014/main" id="{889BC873-89B4-9AE3-05ED-1A9B328357FC}"/>
              </a:ext>
            </a:extLst>
          </p:cNvPr>
          <p:cNvSpPr/>
          <p:nvPr/>
        </p:nvSpPr>
        <p:spPr>
          <a:xfrm>
            <a:off x="10452608" y="3037840"/>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5F1A9B23-6275-10AA-494F-A61116387183}"/>
              </a:ext>
            </a:extLst>
          </p:cNvPr>
          <p:cNvCxnSpPr/>
          <p:nvPr/>
        </p:nvCxnSpPr>
        <p:spPr>
          <a:xfrm>
            <a:off x="10474960" y="3104896"/>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A0524A10-53A2-A6ED-0B38-703CEF4E56EE}"/>
              </a:ext>
            </a:extLst>
          </p:cNvPr>
          <p:cNvCxnSpPr/>
          <p:nvPr/>
        </p:nvCxnSpPr>
        <p:spPr>
          <a:xfrm>
            <a:off x="10642600" y="3009900"/>
            <a:ext cx="122936" cy="94996"/>
          </a:xfrm>
          <a:prstGeom prst="line">
            <a:avLst/>
          </a:prstGeom>
          <a:ln w="27940">
            <a:solidFill>
              <a:srgbClr val="14263A"/>
            </a:solidFill>
          </a:ln>
        </p:spPr>
        <p:style>
          <a:lnRef idx="2">
            <a:schemeClr val="accent1"/>
          </a:lnRef>
          <a:fillRef idx="0">
            <a:schemeClr val="accent1"/>
          </a:fillRef>
          <a:effectRef idx="1">
            <a:schemeClr val="accent1"/>
          </a:effectRef>
          <a:fontRef idx="minor">
            <a:schemeClr val="tx1"/>
          </a:fontRef>
        </p:style>
      </p:cxnSp>
      <p:sp>
        <p:nvSpPr>
          <p:cNvPr id="90" name="Oval 89">
            <a:extLst>
              <a:ext uri="{FF2B5EF4-FFF2-40B4-BE49-F238E27FC236}">
                <a16:creationId xmlns:a16="http://schemas.microsoft.com/office/drawing/2014/main" id="{368FA415-4306-C291-C4E0-D524C655445C}"/>
              </a:ext>
            </a:extLst>
          </p:cNvPr>
          <p:cNvSpPr/>
          <p:nvPr/>
        </p:nvSpPr>
        <p:spPr>
          <a:xfrm>
            <a:off x="10698480" y="3037840"/>
            <a:ext cx="134112" cy="134112"/>
          </a:xfrm>
          <a:prstGeom prst="ellipse">
            <a:avLst/>
          </a:prstGeom>
          <a:noFill/>
          <a:ln w="11176"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EB5F1715-722E-2BF6-766E-CF25E38DD6CE}"/>
              </a:ext>
            </a:extLst>
          </p:cNvPr>
          <p:cNvCxnSpPr/>
          <p:nvPr/>
        </p:nvCxnSpPr>
        <p:spPr>
          <a:xfrm>
            <a:off x="10720832" y="3104896"/>
            <a:ext cx="89408"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92" name="Rectangle: Rounded Corners 91">
            <a:extLst>
              <a:ext uri="{FF2B5EF4-FFF2-40B4-BE49-F238E27FC236}">
                <a16:creationId xmlns:a16="http://schemas.microsoft.com/office/drawing/2014/main" id="{209C1897-6B92-4822-D42E-65E81C779590}"/>
              </a:ext>
            </a:extLst>
          </p:cNvPr>
          <p:cNvSpPr/>
          <p:nvPr/>
        </p:nvSpPr>
        <p:spPr>
          <a:xfrm>
            <a:off x="10592308" y="2920492"/>
            <a:ext cx="100584" cy="178816"/>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C1975C20-FBF3-867B-B3EA-6E8667C54F1F}"/>
              </a:ext>
            </a:extLst>
          </p:cNvPr>
          <p:cNvSpPr/>
          <p:nvPr/>
        </p:nvSpPr>
        <p:spPr>
          <a:xfrm>
            <a:off x="10625836" y="2954020"/>
            <a:ext cx="33528" cy="33528"/>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a:extLst>
              <a:ext uri="{FF2B5EF4-FFF2-40B4-BE49-F238E27FC236}">
                <a16:creationId xmlns:a16="http://schemas.microsoft.com/office/drawing/2014/main" id="{CE75CE91-362F-97B9-340F-3956A26D7ABC}"/>
              </a:ext>
            </a:extLst>
          </p:cNvPr>
          <p:cNvCxnSpPr/>
          <p:nvPr/>
        </p:nvCxnSpPr>
        <p:spPr>
          <a:xfrm flipV="1">
            <a:off x="9499600" y="3162300"/>
            <a:ext cx="711200" cy="31750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9CB2D371-AA1D-6BD5-734A-0F43401D1916}"/>
              </a:ext>
            </a:extLst>
          </p:cNvPr>
          <p:cNvCxnSpPr/>
          <p:nvPr/>
        </p:nvCxnSpPr>
        <p:spPr>
          <a:xfrm flipH="1">
            <a:off x="7810500" y="3543300"/>
            <a:ext cx="571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02813EB9-BE53-F8BF-E320-B727BD8115C7}"/>
              </a:ext>
            </a:extLst>
          </p:cNvPr>
          <p:cNvSpPr txBox="1"/>
          <p:nvPr/>
        </p:nvSpPr>
        <p:spPr>
          <a:xfrm>
            <a:off x="8445500" y="4648200"/>
            <a:ext cx="3365500" cy="261610"/>
          </a:xfrm>
          <a:prstGeom prst="rect">
            <a:avLst/>
          </a:prstGeom>
          <a:noFill/>
        </p:spPr>
        <p:txBody>
          <a:bodyPr vert="horz" wrap="square" lIns="0" tIns="0" rIns="0" bIns="0" rtlCol="0">
            <a:spAutoFit/>
          </a:bodyPr>
          <a:lstStyle/>
          <a:p>
            <a:r>
              <a:rPr lang="en-US" sz="1700" b="1">
                <a:solidFill>
                  <a:srgbClr val="006B62"/>
                </a:solidFill>
                <a:latin typeface="Aptos" panose="020B0004020202020204" pitchFamily="34" charset="0"/>
              </a:rPr>
              <a:t>03  INTERRUPT BY GESTURE</a:t>
            </a:r>
          </a:p>
        </p:txBody>
      </p:sp>
      <p:sp>
        <p:nvSpPr>
          <p:cNvPr id="97" name="TextBox 96">
            <a:extLst>
              <a:ext uri="{FF2B5EF4-FFF2-40B4-BE49-F238E27FC236}">
                <a16:creationId xmlns:a16="http://schemas.microsoft.com/office/drawing/2014/main" id="{CE1AFB56-B00A-E883-64E3-6F5485E30C4A}"/>
              </a:ext>
            </a:extLst>
          </p:cNvPr>
          <p:cNvSpPr txBox="1"/>
          <p:nvPr/>
        </p:nvSpPr>
        <p:spPr>
          <a:xfrm>
            <a:off x="8445500" y="5016500"/>
            <a:ext cx="33655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Change drone behavior mid-flight.</a:t>
            </a:r>
          </a:p>
        </p:txBody>
      </p:sp>
      <p:sp>
        <p:nvSpPr>
          <p:cNvPr id="98" name="Rectangle 97">
            <a:extLst>
              <a:ext uri="{FF2B5EF4-FFF2-40B4-BE49-F238E27FC236}">
                <a16:creationId xmlns:a16="http://schemas.microsoft.com/office/drawing/2014/main" id="{AAA990F3-5104-921D-B186-91D12A8455D6}"/>
              </a:ext>
            </a:extLst>
          </p:cNvPr>
          <p:cNvSpPr/>
          <p:nvPr/>
        </p:nvSpPr>
        <p:spPr>
          <a:xfrm>
            <a:off x="508000" y="5575300"/>
            <a:ext cx="11112500" cy="571500"/>
          </a:xfrm>
          <a:prstGeom prst="rect">
            <a:avLst/>
          </a:prstGeom>
          <a:solidFill>
            <a:srgbClr val="EAF5F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A14E09F7-E1A3-A8E6-CE0B-E531594E57A1}"/>
              </a:ext>
            </a:extLst>
          </p:cNvPr>
          <p:cNvSpPr txBox="1"/>
          <p:nvPr/>
        </p:nvSpPr>
        <p:spPr>
          <a:xfrm>
            <a:off x="698500" y="5689600"/>
            <a:ext cx="2451100" cy="169277"/>
          </a:xfrm>
          <a:prstGeom prst="rect">
            <a:avLst/>
          </a:prstGeom>
          <a:noFill/>
        </p:spPr>
        <p:txBody>
          <a:bodyPr vert="horz" wrap="square" lIns="0" tIns="0" rIns="0" bIns="0" rtlCol="0">
            <a:spAutoFit/>
          </a:bodyPr>
          <a:lstStyle/>
          <a:p>
            <a:r>
              <a:rPr lang="en-US" sz="1100" b="1">
                <a:solidFill>
                  <a:srgbClr val="006B62"/>
                </a:solidFill>
                <a:latin typeface="Aptos" panose="020B0004020202020204" pitchFamily="34" charset="0"/>
              </a:rPr>
              <a:t>POSSIBLE USE CASE</a:t>
            </a:r>
          </a:p>
        </p:txBody>
      </p:sp>
      <p:sp>
        <p:nvSpPr>
          <p:cNvPr id="100" name="TextBox 99">
            <a:extLst>
              <a:ext uri="{FF2B5EF4-FFF2-40B4-BE49-F238E27FC236}">
                <a16:creationId xmlns:a16="http://schemas.microsoft.com/office/drawing/2014/main" id="{45976010-95B4-CB4E-0F51-A40C86E2C6F2}"/>
              </a:ext>
            </a:extLst>
          </p:cNvPr>
          <p:cNvSpPr txBox="1"/>
          <p:nvPr/>
        </p:nvSpPr>
        <p:spPr>
          <a:xfrm>
            <a:off x="3048000" y="5715000"/>
            <a:ext cx="83820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Send a drone between operators to provide overwatch.</a:t>
            </a:r>
          </a:p>
        </p:txBody>
      </p:sp>
    </p:spTree>
    <p:extLst>
      <p:ext uri="{BB962C8B-B14F-4D97-AF65-F5344CB8AC3E}">
        <p14:creationId xmlns:p14="http://schemas.microsoft.com/office/powerpoint/2010/main" val="3009372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92EC78-2AE9-B718-EF75-074D4F749316}"/>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2B8AD042-B43B-7A3C-8631-4C5F5ED2E740}"/>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05 / VALIDATION &amp; DEPLOYMENT</a:t>
            </a:r>
          </a:p>
        </p:txBody>
      </p:sp>
      <p:sp>
        <p:nvSpPr>
          <p:cNvPr id="4" name="TextBox 3">
            <a:extLst>
              <a:ext uri="{FF2B5EF4-FFF2-40B4-BE49-F238E27FC236}">
                <a16:creationId xmlns:a16="http://schemas.microsoft.com/office/drawing/2014/main" id="{E8A5D8DB-5B69-19E2-D66A-962269A99A0B}"/>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A working prototype. A testable path.</a:t>
            </a:r>
          </a:p>
        </p:txBody>
      </p:sp>
      <p:cxnSp>
        <p:nvCxnSpPr>
          <p:cNvPr id="5" name="Straight Connector 4">
            <a:extLst>
              <a:ext uri="{FF2B5EF4-FFF2-40B4-BE49-F238E27FC236}">
                <a16:creationId xmlns:a16="http://schemas.microsoft.com/office/drawing/2014/main" id="{01EE6DE7-0832-6201-AAF2-FCB51FB46ABD}"/>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0CEACF9-2EF6-6E48-EFFE-ADFB1DEE753A}"/>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B5695742-E0C5-8778-A3D2-AFD35DBFFD83}"/>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06</a:t>
            </a:r>
          </a:p>
        </p:txBody>
      </p:sp>
      <p:sp>
        <p:nvSpPr>
          <p:cNvPr id="8" name="TextBox 7">
            <a:extLst>
              <a:ext uri="{FF2B5EF4-FFF2-40B4-BE49-F238E27FC236}">
                <a16:creationId xmlns:a16="http://schemas.microsoft.com/office/drawing/2014/main" id="{A5549D54-1019-CB64-64E7-581AAD9648E7}"/>
              </a:ext>
            </a:extLst>
          </p:cNvPr>
          <p:cNvSpPr txBox="1"/>
          <p:nvPr/>
        </p:nvSpPr>
        <p:spPr>
          <a:xfrm>
            <a:off x="508000" y="2413000"/>
            <a:ext cx="4368800" cy="200055"/>
          </a:xfrm>
          <a:prstGeom prst="rect">
            <a:avLst/>
          </a:prstGeom>
          <a:noFill/>
        </p:spPr>
        <p:txBody>
          <a:bodyPr vert="horz" wrap="square" lIns="0" tIns="0" rIns="0" bIns="0" rtlCol="0">
            <a:spAutoFit/>
          </a:bodyPr>
          <a:lstStyle/>
          <a:p>
            <a:r>
              <a:rPr lang="en-US" sz="1300" b="1">
                <a:solidFill>
                  <a:srgbClr val="006B62"/>
                </a:solidFill>
                <a:latin typeface="Aptos" panose="020B0004020202020204" pitchFamily="34" charset="0"/>
              </a:rPr>
              <a:t>WORKS IN SIMULATION</a:t>
            </a:r>
          </a:p>
        </p:txBody>
      </p:sp>
      <p:sp>
        <p:nvSpPr>
          <p:cNvPr id="9" name="Oval 8">
            <a:extLst>
              <a:ext uri="{FF2B5EF4-FFF2-40B4-BE49-F238E27FC236}">
                <a16:creationId xmlns:a16="http://schemas.microsoft.com/office/drawing/2014/main" id="{1A90EA8F-EA1D-36AC-FD21-8A42A0EE3E77}"/>
              </a:ext>
            </a:extLst>
          </p:cNvPr>
          <p:cNvSpPr/>
          <p:nvPr/>
        </p:nvSpPr>
        <p:spPr>
          <a:xfrm>
            <a:off x="508000" y="3086100"/>
            <a:ext cx="114300" cy="11430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F51BAD8-1C00-A5AA-A004-2C7598F8E023}"/>
              </a:ext>
            </a:extLst>
          </p:cNvPr>
          <p:cNvSpPr txBox="1"/>
          <p:nvPr/>
        </p:nvSpPr>
        <p:spPr>
          <a:xfrm>
            <a:off x="800100" y="3022600"/>
            <a:ext cx="16891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Stop</a:t>
            </a:r>
          </a:p>
        </p:txBody>
      </p:sp>
      <p:sp>
        <p:nvSpPr>
          <p:cNvPr id="11" name="TextBox 10">
            <a:extLst>
              <a:ext uri="{FF2B5EF4-FFF2-40B4-BE49-F238E27FC236}">
                <a16:creationId xmlns:a16="http://schemas.microsoft.com/office/drawing/2014/main" id="{9C89667B-1CF1-79F7-D746-EAF6A252F7BB}"/>
              </a:ext>
            </a:extLst>
          </p:cNvPr>
          <p:cNvSpPr txBox="1"/>
          <p:nvPr/>
        </p:nvSpPr>
        <p:spPr>
          <a:xfrm>
            <a:off x="800100" y="3390900"/>
            <a:ext cx="449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Open-palm intervention</a:t>
            </a:r>
          </a:p>
        </p:txBody>
      </p:sp>
      <p:sp>
        <p:nvSpPr>
          <p:cNvPr id="12" name="Oval 11">
            <a:extLst>
              <a:ext uri="{FF2B5EF4-FFF2-40B4-BE49-F238E27FC236}">
                <a16:creationId xmlns:a16="http://schemas.microsoft.com/office/drawing/2014/main" id="{EE5D823E-6528-2C70-940E-373D9496D945}"/>
              </a:ext>
            </a:extLst>
          </p:cNvPr>
          <p:cNvSpPr/>
          <p:nvPr/>
        </p:nvSpPr>
        <p:spPr>
          <a:xfrm>
            <a:off x="508000" y="3924300"/>
            <a:ext cx="114300" cy="11430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3566761-3846-DA53-5BE3-64D0652D82B8}"/>
              </a:ext>
            </a:extLst>
          </p:cNvPr>
          <p:cNvSpPr txBox="1"/>
          <p:nvPr/>
        </p:nvSpPr>
        <p:spPr>
          <a:xfrm>
            <a:off x="800100" y="3860800"/>
            <a:ext cx="16891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Continue</a:t>
            </a:r>
          </a:p>
        </p:txBody>
      </p:sp>
      <p:sp>
        <p:nvSpPr>
          <p:cNvPr id="14" name="TextBox 13">
            <a:extLst>
              <a:ext uri="{FF2B5EF4-FFF2-40B4-BE49-F238E27FC236}">
                <a16:creationId xmlns:a16="http://schemas.microsoft.com/office/drawing/2014/main" id="{0E7BAAE3-CA47-7AAF-EC5B-F3248965C539}"/>
              </a:ext>
            </a:extLst>
          </p:cNvPr>
          <p:cNvSpPr txBox="1"/>
          <p:nvPr/>
        </p:nvSpPr>
        <p:spPr>
          <a:xfrm>
            <a:off x="800100" y="4229100"/>
            <a:ext cx="449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Assigned path or idle without a hand</a:t>
            </a:r>
          </a:p>
        </p:txBody>
      </p:sp>
      <p:sp>
        <p:nvSpPr>
          <p:cNvPr id="15" name="Oval 14">
            <a:extLst>
              <a:ext uri="{FF2B5EF4-FFF2-40B4-BE49-F238E27FC236}">
                <a16:creationId xmlns:a16="http://schemas.microsoft.com/office/drawing/2014/main" id="{648C2640-B7E0-5285-5F68-425BF7742B45}"/>
              </a:ext>
            </a:extLst>
          </p:cNvPr>
          <p:cNvSpPr/>
          <p:nvPr/>
        </p:nvSpPr>
        <p:spPr>
          <a:xfrm>
            <a:off x="508000" y="4762500"/>
            <a:ext cx="114300" cy="114300"/>
          </a:xfrm>
          <a:prstGeom prst="ellipse">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5FA7D49-15FF-3FF5-5733-6B68B89ED6DC}"/>
              </a:ext>
            </a:extLst>
          </p:cNvPr>
          <p:cNvSpPr txBox="1"/>
          <p:nvPr/>
        </p:nvSpPr>
        <p:spPr>
          <a:xfrm>
            <a:off x="800100" y="4699000"/>
            <a:ext cx="16891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Select</a:t>
            </a:r>
          </a:p>
        </p:txBody>
      </p:sp>
      <p:sp>
        <p:nvSpPr>
          <p:cNvPr id="17" name="TextBox 16">
            <a:extLst>
              <a:ext uri="{FF2B5EF4-FFF2-40B4-BE49-F238E27FC236}">
                <a16:creationId xmlns:a16="http://schemas.microsoft.com/office/drawing/2014/main" id="{2FDC5FC1-4872-9373-C094-5699178E0DD4}"/>
              </a:ext>
            </a:extLst>
          </p:cNvPr>
          <p:cNvSpPr txBox="1"/>
          <p:nvPr/>
        </p:nvSpPr>
        <p:spPr>
          <a:xfrm>
            <a:off x="800100" y="5067300"/>
            <a:ext cx="4495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Preference for the nearest operator</a:t>
            </a:r>
          </a:p>
        </p:txBody>
      </p:sp>
      <p:cxnSp>
        <p:nvCxnSpPr>
          <p:cNvPr id="18" name="Straight Connector 17">
            <a:extLst>
              <a:ext uri="{FF2B5EF4-FFF2-40B4-BE49-F238E27FC236}">
                <a16:creationId xmlns:a16="http://schemas.microsoft.com/office/drawing/2014/main" id="{2008F314-9611-9335-B3D2-095CC55AF928}"/>
              </a:ext>
            </a:extLst>
          </p:cNvPr>
          <p:cNvCxnSpPr/>
          <p:nvPr/>
        </p:nvCxnSpPr>
        <p:spPr>
          <a:xfrm>
            <a:off x="5638800" y="2400300"/>
            <a:ext cx="0" cy="31750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B1BA5390-C84B-1405-9CCE-99176A017A56}"/>
              </a:ext>
            </a:extLst>
          </p:cNvPr>
          <p:cNvSpPr txBox="1"/>
          <p:nvPr/>
        </p:nvSpPr>
        <p:spPr>
          <a:xfrm>
            <a:off x="6172200" y="2413000"/>
            <a:ext cx="5422900" cy="200055"/>
          </a:xfrm>
          <a:prstGeom prst="rect">
            <a:avLst/>
          </a:prstGeom>
          <a:noFill/>
        </p:spPr>
        <p:txBody>
          <a:bodyPr vert="horz" wrap="square" lIns="0" tIns="0" rIns="0" bIns="0" rtlCol="0">
            <a:spAutoFit/>
          </a:bodyPr>
          <a:lstStyle/>
          <a:p>
            <a:r>
              <a:rPr lang="en-US" sz="1300" b="1">
                <a:solidFill>
                  <a:srgbClr val="2563EB"/>
                </a:solidFill>
                <a:latin typeface="Aptos" panose="020B0004020202020204" pitchFamily="34" charset="0"/>
              </a:rPr>
              <a:t>NEXT VALIDATION GATES</a:t>
            </a:r>
          </a:p>
        </p:txBody>
      </p:sp>
      <p:cxnSp>
        <p:nvCxnSpPr>
          <p:cNvPr id="20" name="Straight Connector 19">
            <a:extLst>
              <a:ext uri="{FF2B5EF4-FFF2-40B4-BE49-F238E27FC236}">
                <a16:creationId xmlns:a16="http://schemas.microsoft.com/office/drawing/2014/main" id="{BFD7A78F-0DD5-6892-A836-0B15D8276FC3}"/>
              </a:ext>
            </a:extLst>
          </p:cNvPr>
          <p:cNvCxnSpPr/>
          <p:nvPr/>
        </p:nvCxnSpPr>
        <p:spPr>
          <a:xfrm>
            <a:off x="6375400" y="3213100"/>
            <a:ext cx="0" cy="1778000"/>
          </a:xfrm>
          <a:prstGeom prst="line">
            <a:avLst/>
          </a:prstGeom>
          <a:ln w="25400">
            <a:solidFill>
              <a:srgbClr val="DFE6ED"/>
            </a:solidFill>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19C1962F-1732-F00E-0942-B1D6969F034A}"/>
              </a:ext>
            </a:extLst>
          </p:cNvPr>
          <p:cNvSpPr/>
          <p:nvPr/>
        </p:nvSpPr>
        <p:spPr>
          <a:xfrm>
            <a:off x="6210300" y="3035300"/>
            <a:ext cx="330200" cy="3302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67F7B60-9E86-2484-8911-D44673DB2564}"/>
              </a:ext>
            </a:extLst>
          </p:cNvPr>
          <p:cNvSpPr txBox="1"/>
          <p:nvPr/>
        </p:nvSpPr>
        <p:spPr>
          <a:xfrm>
            <a:off x="6261100" y="3098800"/>
            <a:ext cx="292100" cy="153888"/>
          </a:xfrm>
          <a:prstGeom prst="rect">
            <a:avLst/>
          </a:prstGeom>
          <a:noFill/>
        </p:spPr>
        <p:txBody>
          <a:bodyPr vert="horz" wrap="square" lIns="0" tIns="0" rIns="0" bIns="0" rtlCol="0">
            <a:spAutoFit/>
          </a:bodyPr>
          <a:lstStyle/>
          <a:p>
            <a:r>
              <a:rPr lang="en-US" sz="1000" b="1">
                <a:solidFill>
                  <a:srgbClr val="FFFFFF"/>
                </a:solidFill>
                <a:latin typeface="Aptos" panose="020B0004020202020204" pitchFamily="34" charset="0"/>
              </a:rPr>
              <a:t>01</a:t>
            </a:r>
          </a:p>
        </p:txBody>
      </p:sp>
      <p:sp>
        <p:nvSpPr>
          <p:cNvPr id="23" name="TextBox 22">
            <a:extLst>
              <a:ext uri="{FF2B5EF4-FFF2-40B4-BE49-F238E27FC236}">
                <a16:creationId xmlns:a16="http://schemas.microsoft.com/office/drawing/2014/main" id="{43B55176-E9EA-11A6-BD62-646300E9A402}"/>
              </a:ext>
            </a:extLst>
          </p:cNvPr>
          <p:cNvSpPr txBox="1"/>
          <p:nvPr/>
        </p:nvSpPr>
        <p:spPr>
          <a:xfrm>
            <a:off x="6794500" y="2997200"/>
            <a:ext cx="47117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Measure</a:t>
            </a:r>
          </a:p>
        </p:txBody>
      </p:sp>
      <p:sp>
        <p:nvSpPr>
          <p:cNvPr id="24" name="TextBox 23">
            <a:extLst>
              <a:ext uri="{FF2B5EF4-FFF2-40B4-BE49-F238E27FC236}">
                <a16:creationId xmlns:a16="http://schemas.microsoft.com/office/drawing/2014/main" id="{8BECA3F0-56BD-8F59-1EB0-5F0220A6E954}"/>
              </a:ext>
            </a:extLst>
          </p:cNvPr>
          <p:cNvSpPr txBox="1"/>
          <p:nvPr/>
        </p:nvSpPr>
        <p:spPr>
          <a:xfrm>
            <a:off x="6794500" y="3365500"/>
            <a:ext cx="4749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Errors, latency, unintended commands</a:t>
            </a:r>
          </a:p>
        </p:txBody>
      </p:sp>
      <p:sp>
        <p:nvSpPr>
          <p:cNvPr id="25" name="Oval 24">
            <a:extLst>
              <a:ext uri="{FF2B5EF4-FFF2-40B4-BE49-F238E27FC236}">
                <a16:creationId xmlns:a16="http://schemas.microsoft.com/office/drawing/2014/main" id="{2A31811D-B5BD-0C57-F0F7-38CD8A04F5F3}"/>
              </a:ext>
            </a:extLst>
          </p:cNvPr>
          <p:cNvSpPr/>
          <p:nvPr/>
        </p:nvSpPr>
        <p:spPr>
          <a:xfrm>
            <a:off x="6210300" y="3873500"/>
            <a:ext cx="330200" cy="3302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FB276F0-682E-EB5F-6A91-4C2CAC1A1F06}"/>
              </a:ext>
            </a:extLst>
          </p:cNvPr>
          <p:cNvSpPr txBox="1"/>
          <p:nvPr/>
        </p:nvSpPr>
        <p:spPr>
          <a:xfrm>
            <a:off x="6261100" y="3937000"/>
            <a:ext cx="292100" cy="153888"/>
          </a:xfrm>
          <a:prstGeom prst="rect">
            <a:avLst/>
          </a:prstGeom>
          <a:noFill/>
        </p:spPr>
        <p:txBody>
          <a:bodyPr vert="horz" wrap="square" lIns="0" tIns="0" rIns="0" bIns="0" rtlCol="0">
            <a:spAutoFit/>
          </a:bodyPr>
          <a:lstStyle/>
          <a:p>
            <a:r>
              <a:rPr lang="en-US" sz="1000" b="1">
                <a:solidFill>
                  <a:srgbClr val="FFFFFF"/>
                </a:solidFill>
                <a:latin typeface="Aptos" panose="020B0004020202020204" pitchFamily="34" charset="0"/>
              </a:rPr>
              <a:t>02</a:t>
            </a:r>
          </a:p>
        </p:txBody>
      </p:sp>
      <p:sp>
        <p:nvSpPr>
          <p:cNvPr id="27" name="TextBox 26">
            <a:extLst>
              <a:ext uri="{FF2B5EF4-FFF2-40B4-BE49-F238E27FC236}">
                <a16:creationId xmlns:a16="http://schemas.microsoft.com/office/drawing/2014/main" id="{6CA1F47A-C7A4-B03D-E612-91ECE1818808}"/>
              </a:ext>
            </a:extLst>
          </p:cNvPr>
          <p:cNvSpPr txBox="1"/>
          <p:nvPr/>
        </p:nvSpPr>
        <p:spPr>
          <a:xfrm>
            <a:off x="6794500" y="3835400"/>
            <a:ext cx="47117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Stress-test</a:t>
            </a:r>
          </a:p>
        </p:txBody>
      </p:sp>
      <p:sp>
        <p:nvSpPr>
          <p:cNvPr id="28" name="TextBox 27">
            <a:extLst>
              <a:ext uri="{FF2B5EF4-FFF2-40B4-BE49-F238E27FC236}">
                <a16:creationId xmlns:a16="http://schemas.microsoft.com/office/drawing/2014/main" id="{CD19751C-51CA-DE8F-F3FC-FBDF9551622E}"/>
              </a:ext>
            </a:extLst>
          </p:cNvPr>
          <p:cNvSpPr txBox="1"/>
          <p:nvPr/>
        </p:nvSpPr>
        <p:spPr>
          <a:xfrm>
            <a:off x="6794500" y="4203700"/>
            <a:ext cx="4749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Visibility and competing operators</a:t>
            </a:r>
          </a:p>
        </p:txBody>
      </p:sp>
      <p:sp>
        <p:nvSpPr>
          <p:cNvPr id="29" name="Oval 28">
            <a:extLst>
              <a:ext uri="{FF2B5EF4-FFF2-40B4-BE49-F238E27FC236}">
                <a16:creationId xmlns:a16="http://schemas.microsoft.com/office/drawing/2014/main" id="{752D0A82-8ABB-EB12-3BB3-AD3946C7D0DB}"/>
              </a:ext>
            </a:extLst>
          </p:cNvPr>
          <p:cNvSpPr/>
          <p:nvPr/>
        </p:nvSpPr>
        <p:spPr>
          <a:xfrm>
            <a:off x="6210300" y="4711700"/>
            <a:ext cx="330200" cy="330200"/>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92A2D6BC-4165-1754-0E17-603A7EFB9D41}"/>
              </a:ext>
            </a:extLst>
          </p:cNvPr>
          <p:cNvSpPr txBox="1"/>
          <p:nvPr/>
        </p:nvSpPr>
        <p:spPr>
          <a:xfrm>
            <a:off x="6261100" y="4775200"/>
            <a:ext cx="292100" cy="153888"/>
          </a:xfrm>
          <a:prstGeom prst="rect">
            <a:avLst/>
          </a:prstGeom>
          <a:noFill/>
        </p:spPr>
        <p:txBody>
          <a:bodyPr vert="horz" wrap="square" lIns="0" tIns="0" rIns="0" bIns="0" rtlCol="0">
            <a:spAutoFit/>
          </a:bodyPr>
          <a:lstStyle/>
          <a:p>
            <a:r>
              <a:rPr lang="en-US" sz="1000" b="1">
                <a:solidFill>
                  <a:srgbClr val="FFFFFF"/>
                </a:solidFill>
                <a:latin typeface="Aptos" panose="020B0004020202020204" pitchFamily="34" charset="0"/>
              </a:rPr>
              <a:t>03</a:t>
            </a:r>
          </a:p>
        </p:txBody>
      </p:sp>
      <p:sp>
        <p:nvSpPr>
          <p:cNvPr id="31" name="TextBox 30">
            <a:extLst>
              <a:ext uri="{FF2B5EF4-FFF2-40B4-BE49-F238E27FC236}">
                <a16:creationId xmlns:a16="http://schemas.microsoft.com/office/drawing/2014/main" id="{49CBA1B1-28ED-0194-38F5-EBCF0B505233}"/>
              </a:ext>
            </a:extLst>
          </p:cNvPr>
          <p:cNvSpPr txBox="1"/>
          <p:nvPr/>
        </p:nvSpPr>
        <p:spPr>
          <a:xfrm>
            <a:off x="6794500" y="4673600"/>
            <a:ext cx="4711700" cy="323165"/>
          </a:xfrm>
          <a:prstGeom prst="rect">
            <a:avLst/>
          </a:prstGeom>
          <a:noFill/>
        </p:spPr>
        <p:txBody>
          <a:bodyPr vert="horz" wrap="square" lIns="0" tIns="0" rIns="0" bIns="0" rtlCol="0">
            <a:spAutoFit/>
          </a:bodyPr>
          <a:lstStyle/>
          <a:p>
            <a:r>
              <a:rPr lang="en-US" sz="2100" b="1">
                <a:solidFill>
                  <a:srgbClr val="14263A"/>
                </a:solidFill>
                <a:latin typeface="Aptos" panose="020B0004020202020204" pitchFamily="34" charset="0"/>
              </a:rPr>
              <a:t>Integrate</a:t>
            </a:r>
          </a:p>
        </p:txBody>
      </p:sp>
      <p:sp>
        <p:nvSpPr>
          <p:cNvPr id="32" name="TextBox 31">
            <a:extLst>
              <a:ext uri="{FF2B5EF4-FFF2-40B4-BE49-F238E27FC236}">
                <a16:creationId xmlns:a16="http://schemas.microsoft.com/office/drawing/2014/main" id="{4EF286B2-70FB-D192-7396-847FCE946D5E}"/>
              </a:ext>
            </a:extLst>
          </p:cNvPr>
          <p:cNvSpPr txBox="1"/>
          <p:nvPr/>
        </p:nvSpPr>
        <p:spPr>
          <a:xfrm>
            <a:off x="6794500" y="5041900"/>
            <a:ext cx="47498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Onboard compute and physical flight</a:t>
            </a:r>
          </a:p>
        </p:txBody>
      </p:sp>
      <p:sp>
        <p:nvSpPr>
          <p:cNvPr id="33" name="TextBox 32">
            <a:extLst>
              <a:ext uri="{FF2B5EF4-FFF2-40B4-BE49-F238E27FC236}">
                <a16:creationId xmlns:a16="http://schemas.microsoft.com/office/drawing/2014/main" id="{40F0E96F-D1FF-E17B-57DE-795545BAA177}"/>
              </a:ext>
            </a:extLst>
          </p:cNvPr>
          <p:cNvSpPr txBox="1"/>
          <p:nvPr/>
        </p:nvSpPr>
        <p:spPr>
          <a:xfrm>
            <a:off x="508000" y="5829300"/>
            <a:ext cx="11176000" cy="200055"/>
          </a:xfrm>
          <a:prstGeom prst="rect">
            <a:avLst/>
          </a:prstGeom>
          <a:noFill/>
        </p:spPr>
        <p:txBody>
          <a:bodyPr vert="horz" wrap="square" lIns="0" tIns="0" rIns="0" bIns="0" rtlCol="0">
            <a:spAutoFit/>
          </a:bodyPr>
          <a:lstStyle/>
          <a:p>
            <a:r>
              <a:rPr lang="en-US" sz="1300">
                <a:solidFill>
                  <a:srgbClr val="617286"/>
                </a:solidFill>
                <a:latin typeface="Aptos" panose="020B0004020202020204" pitchFamily="34" charset="0"/>
              </a:rPr>
              <a:t>TODAY: Connected phone prototype. No physical flight data. GPS-independent navigation remains separate.</a:t>
            </a:r>
          </a:p>
        </p:txBody>
      </p:sp>
    </p:spTree>
    <p:extLst>
      <p:ext uri="{BB962C8B-B14F-4D97-AF65-F5344CB8AC3E}">
        <p14:creationId xmlns:p14="http://schemas.microsoft.com/office/powerpoint/2010/main" val="984523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5DC60A-12F9-0792-0F27-4298EA8FAAF2}"/>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4E7D56D9-11F0-8741-7F90-12E51F045FE3}"/>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CUSTOM MACHINE LEARNING</a:t>
            </a:r>
          </a:p>
        </p:txBody>
      </p:sp>
      <p:sp>
        <p:nvSpPr>
          <p:cNvPr id="4" name="TextBox 3">
            <a:extLst>
              <a:ext uri="{FF2B5EF4-FFF2-40B4-BE49-F238E27FC236}">
                <a16:creationId xmlns:a16="http://schemas.microsoft.com/office/drawing/2014/main" id="{726BA929-756A-D569-261B-05B4EDE0719B}"/>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A gesture vocabulary we can train.</a:t>
            </a:r>
          </a:p>
        </p:txBody>
      </p:sp>
      <p:cxnSp>
        <p:nvCxnSpPr>
          <p:cNvPr id="5" name="Straight Connector 4">
            <a:extLst>
              <a:ext uri="{FF2B5EF4-FFF2-40B4-BE49-F238E27FC236}">
                <a16:creationId xmlns:a16="http://schemas.microsoft.com/office/drawing/2014/main" id="{97B5F146-AA53-A0D6-A4EA-4EB94CC3E716}"/>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F8D9A3F-F140-B55E-99E8-DFEFCE1215C8}"/>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F85BE60B-2E84-0302-726D-0F59DEDBDEAD}"/>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07</a:t>
            </a:r>
          </a:p>
        </p:txBody>
      </p:sp>
      <p:sp>
        <p:nvSpPr>
          <p:cNvPr id="8" name="TextBox 7">
            <a:extLst>
              <a:ext uri="{FF2B5EF4-FFF2-40B4-BE49-F238E27FC236}">
                <a16:creationId xmlns:a16="http://schemas.microsoft.com/office/drawing/2014/main" id="{5FA2FF39-5E15-E647-32AE-94B7E99BC24B}"/>
              </a:ext>
            </a:extLst>
          </p:cNvPr>
          <p:cNvSpPr txBox="1"/>
          <p:nvPr/>
        </p:nvSpPr>
        <p:spPr>
          <a:xfrm>
            <a:off x="508000" y="2387600"/>
            <a:ext cx="11112500" cy="415498"/>
          </a:xfrm>
          <a:prstGeom prst="rect">
            <a:avLst/>
          </a:prstGeom>
          <a:noFill/>
        </p:spPr>
        <p:txBody>
          <a:bodyPr vert="horz" wrap="square" lIns="0" tIns="0" rIns="0" bIns="0" rtlCol="0">
            <a:spAutoFit/>
          </a:bodyPr>
          <a:lstStyle/>
          <a:p>
            <a:r>
              <a:rPr lang="en-US" sz="2700" b="1">
                <a:solidFill>
                  <a:srgbClr val="006B62"/>
                </a:solidFill>
                <a:latin typeface="Aptos" panose="020B0004020202020204" pitchFamily="34" charset="0"/>
              </a:rPr>
              <a:t>We trained a model on our own hand signals.</a:t>
            </a:r>
          </a:p>
        </p:txBody>
      </p:sp>
      <p:sp>
        <p:nvSpPr>
          <p:cNvPr id="9" name="TextBox 8">
            <a:extLst>
              <a:ext uri="{FF2B5EF4-FFF2-40B4-BE49-F238E27FC236}">
                <a16:creationId xmlns:a16="http://schemas.microsoft.com/office/drawing/2014/main" id="{B0B351E9-7530-0F15-0BA1-FD06855A3DE5}"/>
              </a:ext>
            </a:extLst>
          </p:cNvPr>
          <p:cNvSpPr txBox="1"/>
          <p:nvPr/>
        </p:nvSpPr>
        <p:spPr>
          <a:xfrm>
            <a:off x="508000" y="3124200"/>
            <a:ext cx="10922000" cy="707886"/>
          </a:xfrm>
          <a:prstGeom prst="rect">
            <a:avLst/>
          </a:prstGeom>
          <a:noFill/>
        </p:spPr>
        <p:txBody>
          <a:bodyPr vert="horz" wrap="square" lIns="0" tIns="0" rIns="0" bIns="0" rtlCol="0">
            <a:spAutoFit/>
          </a:bodyPr>
          <a:lstStyle/>
          <a:p>
            <a:r>
              <a:rPr lang="en-US" sz="2300">
                <a:solidFill>
                  <a:srgbClr val="617286"/>
                </a:solidFill>
                <a:latin typeface="Aptos" panose="020B0004020202020204" pitchFamily="34" charset="0"/>
              </a:rPr>
              <a:t>Our custom gesture-training pipeline shows that the command vocabulary can expand beyond preset gestures.</a:t>
            </a:r>
          </a:p>
        </p:txBody>
      </p:sp>
      <p:sp>
        <p:nvSpPr>
          <p:cNvPr id="10" name="Rectangle 9">
            <a:extLst>
              <a:ext uri="{FF2B5EF4-FFF2-40B4-BE49-F238E27FC236}">
                <a16:creationId xmlns:a16="http://schemas.microsoft.com/office/drawing/2014/main" id="{D98BEFD2-E341-27EB-9170-672071CBA580}"/>
              </a:ext>
            </a:extLst>
          </p:cNvPr>
          <p:cNvSpPr/>
          <p:nvPr/>
        </p:nvSpPr>
        <p:spPr>
          <a:xfrm>
            <a:off x="508000" y="4406900"/>
            <a:ext cx="2578100" cy="8763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912BA7-AD0C-4B8E-D7CD-7054B291625B}"/>
              </a:ext>
            </a:extLst>
          </p:cNvPr>
          <p:cNvSpPr txBox="1"/>
          <p:nvPr/>
        </p:nvSpPr>
        <p:spPr>
          <a:xfrm>
            <a:off x="673100" y="4686300"/>
            <a:ext cx="22987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Record examples</a:t>
            </a:r>
          </a:p>
        </p:txBody>
      </p:sp>
      <p:cxnSp>
        <p:nvCxnSpPr>
          <p:cNvPr id="12" name="Straight Connector 11">
            <a:extLst>
              <a:ext uri="{FF2B5EF4-FFF2-40B4-BE49-F238E27FC236}">
                <a16:creationId xmlns:a16="http://schemas.microsoft.com/office/drawing/2014/main" id="{DCA46684-1812-888F-9DAA-722B6C303E4D}"/>
              </a:ext>
            </a:extLst>
          </p:cNvPr>
          <p:cNvCxnSpPr/>
          <p:nvPr/>
        </p:nvCxnSpPr>
        <p:spPr>
          <a:xfrm>
            <a:off x="3111500" y="4838700"/>
            <a:ext cx="190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9E8E8F1E-11FC-C926-B815-A9B2F6073912}"/>
              </a:ext>
            </a:extLst>
          </p:cNvPr>
          <p:cNvSpPr/>
          <p:nvPr/>
        </p:nvSpPr>
        <p:spPr>
          <a:xfrm>
            <a:off x="3352800" y="4406900"/>
            <a:ext cx="2578100" cy="8763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1DA08D1-CA11-44E3-FC25-EA06ADACD35F}"/>
              </a:ext>
            </a:extLst>
          </p:cNvPr>
          <p:cNvSpPr txBox="1"/>
          <p:nvPr/>
        </p:nvSpPr>
        <p:spPr>
          <a:xfrm>
            <a:off x="3517900" y="4686300"/>
            <a:ext cx="22987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Label the signals</a:t>
            </a:r>
          </a:p>
        </p:txBody>
      </p:sp>
      <p:cxnSp>
        <p:nvCxnSpPr>
          <p:cNvPr id="15" name="Straight Connector 14">
            <a:extLst>
              <a:ext uri="{FF2B5EF4-FFF2-40B4-BE49-F238E27FC236}">
                <a16:creationId xmlns:a16="http://schemas.microsoft.com/office/drawing/2014/main" id="{D70D187E-424E-A9F8-0734-34DB605A39BF}"/>
              </a:ext>
            </a:extLst>
          </p:cNvPr>
          <p:cNvCxnSpPr/>
          <p:nvPr/>
        </p:nvCxnSpPr>
        <p:spPr>
          <a:xfrm>
            <a:off x="5956300" y="4838700"/>
            <a:ext cx="190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7C0AA151-8AED-986D-1512-8329BFAF665B}"/>
              </a:ext>
            </a:extLst>
          </p:cNvPr>
          <p:cNvSpPr/>
          <p:nvPr/>
        </p:nvSpPr>
        <p:spPr>
          <a:xfrm>
            <a:off x="6197600" y="4406900"/>
            <a:ext cx="2578100" cy="8763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3A97EBF-7AD6-DAC8-A665-807795ECF8C5}"/>
              </a:ext>
            </a:extLst>
          </p:cNvPr>
          <p:cNvSpPr txBox="1"/>
          <p:nvPr/>
        </p:nvSpPr>
        <p:spPr>
          <a:xfrm>
            <a:off x="6362700" y="4686300"/>
            <a:ext cx="22987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Train the model</a:t>
            </a:r>
          </a:p>
        </p:txBody>
      </p:sp>
      <p:cxnSp>
        <p:nvCxnSpPr>
          <p:cNvPr id="18" name="Straight Connector 17">
            <a:extLst>
              <a:ext uri="{FF2B5EF4-FFF2-40B4-BE49-F238E27FC236}">
                <a16:creationId xmlns:a16="http://schemas.microsoft.com/office/drawing/2014/main" id="{B58D530A-478F-B655-D11A-741A05DBEF13}"/>
              </a:ext>
            </a:extLst>
          </p:cNvPr>
          <p:cNvCxnSpPr/>
          <p:nvPr/>
        </p:nvCxnSpPr>
        <p:spPr>
          <a:xfrm>
            <a:off x="8801100" y="4838700"/>
            <a:ext cx="190500" cy="0"/>
          </a:xfrm>
          <a:prstGeom prst="line">
            <a:avLst/>
          </a:prstGeom>
          <a:ln w="25400">
            <a:solidFill>
              <a:srgbClr val="006B62"/>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B6180951-416F-7F9B-8408-EFAA08A3B95F}"/>
              </a:ext>
            </a:extLst>
          </p:cNvPr>
          <p:cNvSpPr/>
          <p:nvPr/>
        </p:nvSpPr>
        <p:spPr>
          <a:xfrm>
            <a:off x="9042400" y="4406900"/>
            <a:ext cx="2578100" cy="8763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343BE62-65A0-FC64-09FD-ED93D12CCE08}"/>
              </a:ext>
            </a:extLst>
          </p:cNvPr>
          <p:cNvSpPr txBox="1"/>
          <p:nvPr/>
        </p:nvSpPr>
        <p:spPr>
          <a:xfrm>
            <a:off x="9207500" y="4686300"/>
            <a:ext cx="2298700" cy="276999"/>
          </a:xfrm>
          <a:prstGeom prst="rect">
            <a:avLst/>
          </a:prstGeom>
          <a:noFill/>
        </p:spPr>
        <p:txBody>
          <a:bodyPr vert="horz" wrap="square" lIns="0" tIns="0" rIns="0" bIns="0" rtlCol="0">
            <a:spAutoFit/>
          </a:bodyPr>
          <a:lstStyle/>
          <a:p>
            <a:r>
              <a:rPr lang="en-US" b="1">
                <a:solidFill>
                  <a:srgbClr val="14263A"/>
                </a:solidFill>
                <a:latin typeface="Aptos" panose="020B0004020202020204" pitchFamily="34" charset="0"/>
              </a:rPr>
              <a:t>Connect commands</a:t>
            </a:r>
          </a:p>
        </p:txBody>
      </p:sp>
      <p:sp>
        <p:nvSpPr>
          <p:cNvPr id="21" name="TextBox 20">
            <a:extLst>
              <a:ext uri="{FF2B5EF4-FFF2-40B4-BE49-F238E27FC236}">
                <a16:creationId xmlns:a16="http://schemas.microsoft.com/office/drawing/2014/main" id="{2CCB729F-9732-9DD3-39C6-CB7248129D05}"/>
              </a:ext>
            </a:extLst>
          </p:cNvPr>
          <p:cNvSpPr txBox="1"/>
          <p:nvPr/>
        </p:nvSpPr>
        <p:spPr>
          <a:xfrm>
            <a:off x="508000" y="5549900"/>
            <a:ext cx="11112500" cy="353943"/>
          </a:xfrm>
          <a:prstGeom prst="rect">
            <a:avLst/>
          </a:prstGeom>
          <a:noFill/>
        </p:spPr>
        <p:txBody>
          <a:bodyPr vert="horz" wrap="square" lIns="0" tIns="0" rIns="0" bIns="0" rtlCol="0">
            <a:spAutoFit/>
          </a:bodyPr>
          <a:lstStyle/>
          <a:p>
            <a:r>
              <a:rPr lang="en-US" sz="2300" b="1">
                <a:solidFill>
                  <a:srgbClr val="006B62"/>
                </a:solidFill>
                <a:latin typeface="Aptos" panose="020B0004020202020204" pitchFamily="34" charset="0"/>
              </a:rPr>
              <a:t>Build the vocabulary around the people using it.</a:t>
            </a:r>
          </a:p>
        </p:txBody>
      </p:sp>
    </p:spTree>
    <p:extLst>
      <p:ext uri="{BB962C8B-B14F-4D97-AF65-F5344CB8AC3E}">
        <p14:creationId xmlns:p14="http://schemas.microsoft.com/office/powerpoint/2010/main" val="962153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4B357-B2B1-2539-B9D3-49316FEE23BB}"/>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9DCAC2F0-21F1-F845-B84F-2E74B5DF13B9}"/>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06 / THE VISION</a:t>
            </a:r>
          </a:p>
        </p:txBody>
      </p:sp>
      <p:sp>
        <p:nvSpPr>
          <p:cNvPr id="4" name="TextBox 3">
            <a:extLst>
              <a:ext uri="{FF2B5EF4-FFF2-40B4-BE49-F238E27FC236}">
                <a16:creationId xmlns:a16="http://schemas.microsoft.com/office/drawing/2014/main" id="{FD2B1E55-7AF4-BCEC-F85C-675207AC9C0B}"/>
              </a:ext>
            </a:extLst>
          </p:cNvPr>
          <p:cNvSpPr txBox="1"/>
          <p:nvPr/>
        </p:nvSpPr>
        <p:spPr>
          <a:xfrm>
            <a:off x="508000" y="939800"/>
            <a:ext cx="11239500" cy="1107996"/>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One drone.
Two ways to communicate.</a:t>
            </a:r>
          </a:p>
        </p:txBody>
      </p:sp>
      <p:cxnSp>
        <p:nvCxnSpPr>
          <p:cNvPr id="5" name="Straight Connector 4">
            <a:extLst>
              <a:ext uri="{FF2B5EF4-FFF2-40B4-BE49-F238E27FC236}">
                <a16:creationId xmlns:a16="http://schemas.microsoft.com/office/drawing/2014/main" id="{BC4DBA96-3909-EF06-C08B-A020B0CD1955}"/>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6F73612-6853-F2C7-F739-3894FF5B4364}"/>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DF55363C-46AA-9E83-B4BF-D23DCC5BC5FC}"/>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08</a:t>
            </a:r>
          </a:p>
        </p:txBody>
      </p:sp>
      <p:sp>
        <p:nvSpPr>
          <p:cNvPr id="8" name="TextBox 7">
            <a:extLst>
              <a:ext uri="{FF2B5EF4-FFF2-40B4-BE49-F238E27FC236}">
                <a16:creationId xmlns:a16="http://schemas.microsoft.com/office/drawing/2014/main" id="{9561D462-B3DC-0BCD-9CBE-B6C6185E9B87}"/>
              </a:ext>
            </a:extLst>
          </p:cNvPr>
          <p:cNvSpPr txBox="1"/>
          <p:nvPr/>
        </p:nvSpPr>
        <p:spPr>
          <a:xfrm>
            <a:off x="508000" y="2692400"/>
            <a:ext cx="11112500" cy="369332"/>
          </a:xfrm>
          <a:prstGeom prst="rect">
            <a:avLst/>
          </a:prstGeom>
          <a:noFill/>
        </p:spPr>
        <p:txBody>
          <a:bodyPr vert="horz" wrap="square" lIns="0" tIns="0" rIns="0" bIns="0" rtlCol="0">
            <a:spAutoFit/>
          </a:bodyPr>
          <a:lstStyle/>
          <a:p>
            <a:r>
              <a:rPr lang="en-US" sz="2400" b="1">
                <a:solidFill>
                  <a:srgbClr val="006B62"/>
                </a:solidFill>
                <a:latin typeface="Aptos" panose="020B0004020202020204" pitchFamily="34" charset="0"/>
              </a:rPr>
              <a:t>Follow the mission. Adapt through gestures and spoken commands.</a:t>
            </a:r>
          </a:p>
        </p:txBody>
      </p:sp>
      <p:sp>
        <p:nvSpPr>
          <p:cNvPr id="9" name="Rectangle: Rounded Corners 8">
            <a:extLst>
              <a:ext uri="{FF2B5EF4-FFF2-40B4-BE49-F238E27FC236}">
                <a16:creationId xmlns:a16="http://schemas.microsoft.com/office/drawing/2014/main" id="{A7682443-F67F-86BA-83C2-52E217CCE031}"/>
              </a:ext>
            </a:extLst>
          </p:cNvPr>
          <p:cNvSpPr/>
          <p:nvPr/>
        </p:nvSpPr>
        <p:spPr>
          <a:xfrm>
            <a:off x="1130300" y="3934460"/>
            <a:ext cx="361950" cy="386080"/>
          </a:xfrm>
          <a:prstGeom prst="roundRect">
            <a:avLst/>
          </a:prstGeom>
          <a:solidFill>
            <a:srgbClr val="006B6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B1F2CAF4-3277-E33A-1CCE-FBEF916169E0}"/>
              </a:ext>
            </a:extLst>
          </p:cNvPr>
          <p:cNvCxnSpPr/>
          <p:nvPr/>
        </p:nvCxnSpPr>
        <p:spPr>
          <a:xfrm flipV="1">
            <a:off x="1166495" y="3741420"/>
            <a:ext cx="0" cy="265430"/>
          </a:xfrm>
          <a:prstGeom prst="line">
            <a:avLst/>
          </a:prstGeom>
          <a:ln w="603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76F8CEF-C20E-A7EE-E261-23B06281356D}"/>
              </a:ext>
            </a:extLst>
          </p:cNvPr>
          <p:cNvCxnSpPr/>
          <p:nvPr/>
        </p:nvCxnSpPr>
        <p:spPr>
          <a:xfrm flipV="1">
            <a:off x="1263015" y="3660201"/>
            <a:ext cx="0" cy="346649"/>
          </a:xfrm>
          <a:prstGeom prst="line">
            <a:avLst/>
          </a:prstGeom>
          <a:ln w="603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214AC6E-95DF-9396-2947-908B2FE10BA9}"/>
              </a:ext>
            </a:extLst>
          </p:cNvPr>
          <p:cNvCxnSpPr/>
          <p:nvPr/>
        </p:nvCxnSpPr>
        <p:spPr>
          <a:xfrm flipV="1">
            <a:off x="1359535" y="3653655"/>
            <a:ext cx="0" cy="353195"/>
          </a:xfrm>
          <a:prstGeom prst="line">
            <a:avLst/>
          </a:prstGeom>
          <a:ln w="603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AB9EF34C-E553-2C4C-8BEA-5C7285FDA7C8}"/>
              </a:ext>
            </a:extLst>
          </p:cNvPr>
          <p:cNvCxnSpPr/>
          <p:nvPr/>
        </p:nvCxnSpPr>
        <p:spPr>
          <a:xfrm flipV="1">
            <a:off x="1456055" y="3727799"/>
            <a:ext cx="0" cy="279051"/>
          </a:xfrm>
          <a:prstGeom prst="line">
            <a:avLst/>
          </a:prstGeom>
          <a:ln w="60325">
            <a:solidFill>
              <a:srgbClr val="006B62"/>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9737541-0984-98AE-CC8C-7F10804BD509}"/>
              </a:ext>
            </a:extLst>
          </p:cNvPr>
          <p:cNvCxnSpPr/>
          <p:nvPr/>
        </p:nvCxnSpPr>
        <p:spPr>
          <a:xfrm flipH="1" flipV="1">
            <a:off x="1009650" y="3946525"/>
            <a:ext cx="156845" cy="217170"/>
          </a:xfrm>
          <a:prstGeom prst="line">
            <a:avLst/>
          </a:prstGeom>
          <a:ln w="72390">
            <a:solidFill>
              <a:srgbClr val="006B62"/>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38357423-D875-4DB0-0197-BEA00BC2491D}"/>
              </a:ext>
            </a:extLst>
          </p:cNvPr>
          <p:cNvSpPr txBox="1"/>
          <p:nvPr/>
        </p:nvSpPr>
        <p:spPr>
          <a:xfrm>
            <a:off x="1866900" y="3657600"/>
            <a:ext cx="4686300" cy="246221"/>
          </a:xfrm>
          <a:prstGeom prst="rect">
            <a:avLst/>
          </a:prstGeom>
          <a:noFill/>
        </p:spPr>
        <p:txBody>
          <a:bodyPr vert="horz" wrap="square" lIns="0" tIns="0" rIns="0" bIns="0" rtlCol="0">
            <a:spAutoFit/>
          </a:bodyPr>
          <a:lstStyle/>
          <a:p>
            <a:r>
              <a:rPr lang="en-US" sz="1600" b="1">
                <a:solidFill>
                  <a:srgbClr val="006B62"/>
                </a:solidFill>
                <a:latin typeface="Aptos" panose="020B0004020202020204" pitchFamily="34" charset="0"/>
              </a:rPr>
              <a:t>HAND GESTURES</a:t>
            </a:r>
          </a:p>
        </p:txBody>
      </p:sp>
      <p:sp>
        <p:nvSpPr>
          <p:cNvPr id="16" name="TextBox 15">
            <a:extLst>
              <a:ext uri="{FF2B5EF4-FFF2-40B4-BE49-F238E27FC236}">
                <a16:creationId xmlns:a16="http://schemas.microsoft.com/office/drawing/2014/main" id="{F146D03B-C411-4579-E714-1DFBD40CB1DF}"/>
              </a:ext>
            </a:extLst>
          </p:cNvPr>
          <p:cNvSpPr txBox="1"/>
          <p:nvPr/>
        </p:nvSpPr>
        <p:spPr>
          <a:xfrm>
            <a:off x="1866900" y="4051300"/>
            <a:ext cx="4826000" cy="246221"/>
          </a:xfrm>
          <a:prstGeom prst="rect">
            <a:avLst/>
          </a:prstGeom>
          <a:noFill/>
        </p:spPr>
        <p:txBody>
          <a:bodyPr vert="horz" wrap="square" lIns="0" tIns="0" rIns="0" bIns="0" rtlCol="0">
            <a:spAutoFit/>
          </a:bodyPr>
          <a:lstStyle/>
          <a:p>
            <a:r>
              <a:rPr lang="en-US" sz="1600">
                <a:solidFill>
                  <a:srgbClr val="617286"/>
                </a:solidFill>
                <a:latin typeface="Aptos" panose="020B0004020202020204" pitchFamily="34" charset="0"/>
              </a:rPr>
              <a:t>Demonstrated in simulation</a:t>
            </a:r>
          </a:p>
        </p:txBody>
      </p:sp>
      <p:sp>
        <p:nvSpPr>
          <p:cNvPr id="17" name="Rectangle 16">
            <a:extLst>
              <a:ext uri="{FF2B5EF4-FFF2-40B4-BE49-F238E27FC236}">
                <a16:creationId xmlns:a16="http://schemas.microsoft.com/office/drawing/2014/main" id="{2E24C223-6369-BF95-DBA0-A4524A3534E1}"/>
              </a:ext>
            </a:extLst>
          </p:cNvPr>
          <p:cNvSpPr/>
          <p:nvPr/>
        </p:nvSpPr>
        <p:spPr>
          <a:xfrm>
            <a:off x="762000" y="4737100"/>
            <a:ext cx="5981700" cy="812800"/>
          </a:xfrm>
          <a:prstGeom prst="rect">
            <a:avLst/>
          </a:prstGeom>
          <a:solidFill>
            <a:srgbClr val="F2F5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A725544-FEDD-94CA-AFF2-179B4DAF3CEE}"/>
              </a:ext>
            </a:extLst>
          </p:cNvPr>
          <p:cNvSpPr txBox="1"/>
          <p:nvPr/>
        </p:nvSpPr>
        <p:spPr>
          <a:xfrm>
            <a:off x="952500" y="4927600"/>
            <a:ext cx="5626100" cy="369332"/>
          </a:xfrm>
          <a:prstGeom prst="rect">
            <a:avLst/>
          </a:prstGeom>
          <a:noFill/>
        </p:spPr>
        <p:txBody>
          <a:bodyPr vert="horz" wrap="square" lIns="0" tIns="0" rIns="0" bIns="0" rtlCol="0">
            <a:spAutoFit/>
          </a:bodyPr>
          <a:lstStyle/>
          <a:p>
            <a:r>
              <a:rPr lang="en-US" sz="2400" b="1">
                <a:solidFill>
                  <a:srgbClr val="14263A"/>
                </a:solidFill>
                <a:latin typeface="Aptos" panose="020B0004020202020204" pitchFamily="34" charset="0"/>
              </a:rPr>
              <a:t>“Take a picture of my location.”</a:t>
            </a:r>
          </a:p>
        </p:txBody>
      </p:sp>
      <p:sp>
        <p:nvSpPr>
          <p:cNvPr id="19" name="TextBox 18">
            <a:extLst>
              <a:ext uri="{FF2B5EF4-FFF2-40B4-BE49-F238E27FC236}">
                <a16:creationId xmlns:a16="http://schemas.microsoft.com/office/drawing/2014/main" id="{8713B2FB-01FA-2181-CEF4-442725DA6C40}"/>
              </a:ext>
            </a:extLst>
          </p:cNvPr>
          <p:cNvSpPr txBox="1"/>
          <p:nvPr/>
        </p:nvSpPr>
        <p:spPr>
          <a:xfrm>
            <a:off x="952500" y="5664200"/>
            <a:ext cx="5803900" cy="184666"/>
          </a:xfrm>
          <a:prstGeom prst="rect">
            <a:avLst/>
          </a:prstGeom>
          <a:noFill/>
        </p:spPr>
        <p:txBody>
          <a:bodyPr vert="horz" wrap="square" lIns="0" tIns="0" rIns="0" bIns="0" rtlCol="0">
            <a:spAutoFit/>
          </a:bodyPr>
          <a:lstStyle/>
          <a:p>
            <a:r>
              <a:rPr lang="en-US" sz="1200" b="1">
                <a:solidFill>
                  <a:srgbClr val="617286"/>
                </a:solidFill>
                <a:latin typeface="Aptos" panose="020B0004020202020204" pitchFamily="34" charset="0"/>
              </a:rPr>
              <a:t>SPOKEN COMMANDS / IN DEVELOPMENT</a:t>
            </a:r>
          </a:p>
        </p:txBody>
      </p:sp>
      <p:cxnSp>
        <p:nvCxnSpPr>
          <p:cNvPr id="20" name="Straight Connector 19">
            <a:extLst>
              <a:ext uri="{FF2B5EF4-FFF2-40B4-BE49-F238E27FC236}">
                <a16:creationId xmlns:a16="http://schemas.microsoft.com/office/drawing/2014/main" id="{00CF4140-FBC0-D990-0CB3-9814E89006B9}"/>
              </a:ext>
            </a:extLst>
          </p:cNvPr>
          <p:cNvCxnSpPr/>
          <p:nvPr/>
        </p:nvCxnSpPr>
        <p:spPr>
          <a:xfrm>
            <a:off x="6921500" y="3975100"/>
            <a:ext cx="7747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F25A535C-0C5E-0298-2EBC-0685649AC7A1}"/>
              </a:ext>
            </a:extLst>
          </p:cNvPr>
          <p:cNvCxnSpPr/>
          <p:nvPr/>
        </p:nvCxnSpPr>
        <p:spPr>
          <a:xfrm>
            <a:off x="6921500" y="5143500"/>
            <a:ext cx="774700"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B00D866-27DA-F722-1147-DCC275B2C09B}"/>
              </a:ext>
            </a:extLst>
          </p:cNvPr>
          <p:cNvCxnSpPr/>
          <p:nvPr/>
        </p:nvCxnSpPr>
        <p:spPr>
          <a:xfrm>
            <a:off x="7696200" y="3975100"/>
            <a:ext cx="0" cy="116840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E851CD1-4262-3518-158B-89C3B85926A6}"/>
              </a:ext>
            </a:extLst>
          </p:cNvPr>
          <p:cNvCxnSpPr/>
          <p:nvPr/>
        </p:nvCxnSpPr>
        <p:spPr>
          <a:xfrm>
            <a:off x="7696200" y="4559300"/>
            <a:ext cx="1536700" cy="0"/>
          </a:xfrm>
          <a:prstGeom prst="line">
            <a:avLst/>
          </a:prstGeom>
          <a:ln w="25400">
            <a:solidFill>
              <a:srgbClr val="2563EB"/>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394355D1-17D4-1007-C7E4-3486FCCA0D23}"/>
              </a:ext>
            </a:extLst>
          </p:cNvPr>
          <p:cNvCxnSpPr/>
          <p:nvPr/>
        </p:nvCxnSpPr>
        <p:spPr>
          <a:xfrm flipH="1" flipV="1">
            <a:off x="10126472" y="4317492"/>
            <a:ext cx="312928" cy="241808"/>
          </a:xfrm>
          <a:prstGeom prst="line">
            <a:avLst/>
          </a:prstGeom>
          <a:ln w="71120">
            <a:solidFill>
              <a:srgbClr val="14263A"/>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E923FB93-3F4F-C263-C44C-B3248001C6E1}"/>
              </a:ext>
            </a:extLst>
          </p:cNvPr>
          <p:cNvSpPr/>
          <p:nvPr/>
        </p:nvSpPr>
        <p:spPr>
          <a:xfrm>
            <a:off x="9955784" y="4146804"/>
            <a:ext cx="341376" cy="341376"/>
          </a:xfrm>
          <a:prstGeom prst="ellipse">
            <a:avLst/>
          </a:prstGeom>
          <a:noFill/>
          <a:ln w="2844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A64CB78C-69C6-25EB-08FA-D0644F9259E9}"/>
              </a:ext>
            </a:extLst>
          </p:cNvPr>
          <p:cNvCxnSpPr/>
          <p:nvPr/>
        </p:nvCxnSpPr>
        <p:spPr>
          <a:xfrm>
            <a:off x="10012680" y="4317492"/>
            <a:ext cx="22758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B77E2CD-E65C-6677-1B4D-6513F64381B9}"/>
              </a:ext>
            </a:extLst>
          </p:cNvPr>
          <p:cNvCxnSpPr/>
          <p:nvPr/>
        </p:nvCxnSpPr>
        <p:spPr>
          <a:xfrm flipV="1">
            <a:off x="10439400" y="4317492"/>
            <a:ext cx="312928" cy="241808"/>
          </a:xfrm>
          <a:prstGeom prst="line">
            <a:avLst/>
          </a:prstGeom>
          <a:ln w="71120">
            <a:solidFill>
              <a:srgbClr val="14263A"/>
            </a:solidFill>
          </a:ln>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5DF63606-A675-13DE-7B36-D5DC8D509B5E}"/>
              </a:ext>
            </a:extLst>
          </p:cNvPr>
          <p:cNvSpPr/>
          <p:nvPr/>
        </p:nvSpPr>
        <p:spPr>
          <a:xfrm>
            <a:off x="10581640" y="4146804"/>
            <a:ext cx="341376" cy="341376"/>
          </a:xfrm>
          <a:prstGeom prst="ellipse">
            <a:avLst/>
          </a:prstGeom>
          <a:noFill/>
          <a:ln w="2844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755CFEB6-4D15-6DB3-BD03-47EEDBE37104}"/>
              </a:ext>
            </a:extLst>
          </p:cNvPr>
          <p:cNvCxnSpPr/>
          <p:nvPr/>
        </p:nvCxnSpPr>
        <p:spPr>
          <a:xfrm>
            <a:off x="10638536" y="4317492"/>
            <a:ext cx="22758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4C10D158-A56B-3C07-B23F-ABD1A646D6DD}"/>
              </a:ext>
            </a:extLst>
          </p:cNvPr>
          <p:cNvCxnSpPr/>
          <p:nvPr/>
        </p:nvCxnSpPr>
        <p:spPr>
          <a:xfrm flipH="1">
            <a:off x="10126472" y="4559300"/>
            <a:ext cx="312928" cy="241808"/>
          </a:xfrm>
          <a:prstGeom prst="line">
            <a:avLst/>
          </a:prstGeom>
          <a:ln w="71120">
            <a:solidFill>
              <a:srgbClr val="14263A"/>
            </a:solidFill>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C438CC6A-C154-F68A-9EE2-5FB2746DB03B}"/>
              </a:ext>
            </a:extLst>
          </p:cNvPr>
          <p:cNvSpPr/>
          <p:nvPr/>
        </p:nvSpPr>
        <p:spPr>
          <a:xfrm>
            <a:off x="9955784" y="4630420"/>
            <a:ext cx="341376" cy="341376"/>
          </a:xfrm>
          <a:prstGeom prst="ellipse">
            <a:avLst/>
          </a:prstGeom>
          <a:noFill/>
          <a:ln w="2844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C699EDF3-8F4D-F681-D047-218AA3E77118}"/>
              </a:ext>
            </a:extLst>
          </p:cNvPr>
          <p:cNvCxnSpPr/>
          <p:nvPr/>
        </p:nvCxnSpPr>
        <p:spPr>
          <a:xfrm>
            <a:off x="10012680" y="4801108"/>
            <a:ext cx="22758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CD76FE9-5669-4E74-7873-489C9C482130}"/>
              </a:ext>
            </a:extLst>
          </p:cNvPr>
          <p:cNvCxnSpPr/>
          <p:nvPr/>
        </p:nvCxnSpPr>
        <p:spPr>
          <a:xfrm>
            <a:off x="10439400" y="4559300"/>
            <a:ext cx="312928" cy="241808"/>
          </a:xfrm>
          <a:prstGeom prst="line">
            <a:avLst/>
          </a:prstGeom>
          <a:ln w="71120">
            <a:solidFill>
              <a:srgbClr val="14263A"/>
            </a:solidFill>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A33A67FB-885E-C98C-0A46-A78E86309D11}"/>
              </a:ext>
            </a:extLst>
          </p:cNvPr>
          <p:cNvSpPr/>
          <p:nvPr/>
        </p:nvSpPr>
        <p:spPr>
          <a:xfrm>
            <a:off x="10581640" y="4630420"/>
            <a:ext cx="341376" cy="341376"/>
          </a:xfrm>
          <a:prstGeom prst="ellipse">
            <a:avLst/>
          </a:prstGeom>
          <a:noFill/>
          <a:ln w="28448" cap="flat" cmpd="sng" algn="ctr">
            <a:solidFill>
              <a:srgbClr val="14263A"/>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34AA7BD1-7FB3-B354-67DC-CFEEFC28210B}"/>
              </a:ext>
            </a:extLst>
          </p:cNvPr>
          <p:cNvCxnSpPr/>
          <p:nvPr/>
        </p:nvCxnSpPr>
        <p:spPr>
          <a:xfrm>
            <a:off x="10638536" y="4801108"/>
            <a:ext cx="227584" cy="0"/>
          </a:xfrm>
          <a:prstGeom prst="line">
            <a:avLst/>
          </a:prstGeom>
          <a:ln w="25400">
            <a:solidFill>
              <a:srgbClr val="14263A"/>
            </a:solidFill>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4A689293-AED3-F8FC-6F08-17208BD92088}"/>
              </a:ext>
            </a:extLst>
          </p:cNvPr>
          <p:cNvSpPr/>
          <p:nvPr/>
        </p:nvSpPr>
        <p:spPr>
          <a:xfrm>
            <a:off x="10311384" y="4331716"/>
            <a:ext cx="256031" cy="455168"/>
          </a:xfrm>
          <a:prstGeom prst="roundRect">
            <a:avLst/>
          </a:prstGeom>
          <a:solidFill>
            <a:srgbClr val="1426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89351C77-F3E5-A8F3-8DE0-F79025B12246}"/>
              </a:ext>
            </a:extLst>
          </p:cNvPr>
          <p:cNvSpPr/>
          <p:nvPr/>
        </p:nvSpPr>
        <p:spPr>
          <a:xfrm>
            <a:off x="10396728" y="4417060"/>
            <a:ext cx="85344" cy="85344"/>
          </a:xfrm>
          <a:prstGeom prst="ellipse">
            <a:avLst/>
          </a:prstGeom>
          <a:solidFill>
            <a:srgbClr val="2563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46A1588-57DB-20C2-86A3-D1A6ED972C80}"/>
              </a:ext>
            </a:extLst>
          </p:cNvPr>
          <p:cNvSpPr txBox="1"/>
          <p:nvPr/>
        </p:nvSpPr>
        <p:spPr>
          <a:xfrm>
            <a:off x="9093200" y="5359400"/>
            <a:ext cx="2705100" cy="200055"/>
          </a:xfrm>
          <a:prstGeom prst="rect">
            <a:avLst/>
          </a:prstGeom>
          <a:noFill/>
        </p:spPr>
        <p:txBody>
          <a:bodyPr vert="horz" wrap="square" lIns="0" tIns="0" rIns="0" bIns="0" rtlCol="0">
            <a:spAutoFit/>
          </a:bodyPr>
          <a:lstStyle/>
          <a:p>
            <a:r>
              <a:rPr lang="en-US" sz="1300" b="1">
                <a:solidFill>
                  <a:srgbClr val="2563EB"/>
                </a:solidFill>
                <a:latin typeface="Aptos" panose="020B0004020202020204" pitchFamily="34" charset="0"/>
              </a:rPr>
              <a:t>UNDERSTAND INTENT</a:t>
            </a:r>
          </a:p>
        </p:txBody>
      </p:sp>
      <p:sp>
        <p:nvSpPr>
          <p:cNvPr id="39" name="TextBox 38">
            <a:extLst>
              <a:ext uri="{FF2B5EF4-FFF2-40B4-BE49-F238E27FC236}">
                <a16:creationId xmlns:a16="http://schemas.microsoft.com/office/drawing/2014/main" id="{770BE0E2-2687-4B12-252D-0486C61CC698}"/>
              </a:ext>
            </a:extLst>
          </p:cNvPr>
          <p:cNvSpPr txBox="1"/>
          <p:nvPr/>
        </p:nvSpPr>
        <p:spPr>
          <a:xfrm>
            <a:off x="9093200" y="5689600"/>
            <a:ext cx="2781300" cy="230832"/>
          </a:xfrm>
          <a:prstGeom prst="rect">
            <a:avLst/>
          </a:prstGeom>
          <a:noFill/>
        </p:spPr>
        <p:txBody>
          <a:bodyPr vert="horz" wrap="square" lIns="0" tIns="0" rIns="0" bIns="0" rtlCol="0">
            <a:spAutoFit/>
          </a:bodyPr>
          <a:lstStyle/>
          <a:p>
            <a:r>
              <a:rPr lang="en-US" sz="1500">
                <a:solidFill>
                  <a:srgbClr val="617286"/>
                </a:solidFill>
                <a:latin typeface="Aptos" panose="020B0004020202020204" pitchFamily="34" charset="0"/>
              </a:rPr>
              <a:t>Translate it into action</a:t>
            </a:r>
          </a:p>
        </p:txBody>
      </p:sp>
    </p:spTree>
    <p:extLst>
      <p:ext uri="{BB962C8B-B14F-4D97-AF65-F5344CB8AC3E}">
        <p14:creationId xmlns:p14="http://schemas.microsoft.com/office/powerpoint/2010/main" val="2599939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614AD2-D19D-3A68-848C-7330E8F009A1}"/>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06D05377-0FCE-B2BB-9B81-316EF2415BCB}"/>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Q&amp;A</a:t>
            </a:r>
          </a:p>
        </p:txBody>
      </p:sp>
      <p:sp>
        <p:nvSpPr>
          <p:cNvPr id="4" name="TextBox 3">
            <a:extLst>
              <a:ext uri="{FF2B5EF4-FFF2-40B4-BE49-F238E27FC236}">
                <a16:creationId xmlns:a16="http://schemas.microsoft.com/office/drawing/2014/main" id="{71C9663C-72DC-A515-AAF1-C13E27158D5C}"/>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Deployment questions we must answer.</a:t>
            </a:r>
          </a:p>
        </p:txBody>
      </p:sp>
      <p:cxnSp>
        <p:nvCxnSpPr>
          <p:cNvPr id="5" name="Straight Connector 4">
            <a:extLst>
              <a:ext uri="{FF2B5EF4-FFF2-40B4-BE49-F238E27FC236}">
                <a16:creationId xmlns:a16="http://schemas.microsoft.com/office/drawing/2014/main" id="{C04349D3-75E0-5BD6-A5CD-BDAD5E0FF242}"/>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901BAAB-5012-9404-4662-1A3FE3B1C085}"/>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48924E18-5C5D-D804-AA01-D0F6FA453974}"/>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A1</a:t>
            </a:r>
          </a:p>
        </p:txBody>
      </p:sp>
      <p:sp>
        <p:nvSpPr>
          <p:cNvPr id="8" name="TextBox 7">
            <a:extLst>
              <a:ext uri="{FF2B5EF4-FFF2-40B4-BE49-F238E27FC236}">
                <a16:creationId xmlns:a16="http://schemas.microsoft.com/office/drawing/2014/main" id="{43FB6212-D9EB-E98D-C6C5-F73D16752228}"/>
              </a:ext>
            </a:extLst>
          </p:cNvPr>
          <p:cNvSpPr txBox="1"/>
          <p:nvPr/>
        </p:nvSpPr>
        <p:spPr>
          <a:xfrm>
            <a:off x="508000" y="23495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Hardware &amp; cost</a:t>
            </a:r>
          </a:p>
        </p:txBody>
      </p:sp>
      <p:sp>
        <p:nvSpPr>
          <p:cNvPr id="9" name="TextBox 8">
            <a:extLst>
              <a:ext uri="{FF2B5EF4-FFF2-40B4-BE49-F238E27FC236}">
                <a16:creationId xmlns:a16="http://schemas.microsoft.com/office/drawing/2014/main" id="{2120B504-879C-D624-CF7D-AF7F0726B030}"/>
              </a:ext>
            </a:extLst>
          </p:cNvPr>
          <p:cNvSpPr txBox="1"/>
          <p:nvPr/>
        </p:nvSpPr>
        <p:spPr>
          <a:xfrm>
            <a:off x="3581400" y="23495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Select compute after measuring latency, power, thermal load, and flight-time impact.</a:t>
            </a:r>
          </a:p>
        </p:txBody>
      </p:sp>
      <p:sp>
        <p:nvSpPr>
          <p:cNvPr id="10" name="TextBox 9">
            <a:extLst>
              <a:ext uri="{FF2B5EF4-FFF2-40B4-BE49-F238E27FC236}">
                <a16:creationId xmlns:a16="http://schemas.microsoft.com/office/drawing/2014/main" id="{8E057F07-7CBF-7C5F-E9D2-3D139256E549}"/>
              </a:ext>
            </a:extLst>
          </p:cNvPr>
          <p:cNvSpPr txBox="1"/>
          <p:nvPr/>
        </p:nvSpPr>
        <p:spPr>
          <a:xfrm>
            <a:off x="508000" y="30861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Integration</a:t>
            </a:r>
          </a:p>
        </p:txBody>
      </p:sp>
      <p:sp>
        <p:nvSpPr>
          <p:cNvPr id="11" name="TextBox 10">
            <a:extLst>
              <a:ext uri="{FF2B5EF4-FFF2-40B4-BE49-F238E27FC236}">
                <a16:creationId xmlns:a16="http://schemas.microsoft.com/office/drawing/2014/main" id="{558A3AC2-1E80-0290-C762-B08178A41A13}"/>
              </a:ext>
            </a:extLst>
          </p:cNvPr>
          <p:cNvSpPr txBox="1"/>
          <p:nvPr/>
        </p:nvSpPr>
        <p:spPr>
          <a:xfrm>
            <a:off x="3581400" y="30861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Connect perception to a flight controller; validate command and link-loss behavior.</a:t>
            </a:r>
          </a:p>
        </p:txBody>
      </p:sp>
      <p:sp>
        <p:nvSpPr>
          <p:cNvPr id="12" name="TextBox 11">
            <a:extLst>
              <a:ext uri="{FF2B5EF4-FFF2-40B4-BE49-F238E27FC236}">
                <a16:creationId xmlns:a16="http://schemas.microsoft.com/office/drawing/2014/main" id="{305963AD-68F4-D658-7C9C-3D3173D03AE3}"/>
              </a:ext>
            </a:extLst>
          </p:cNvPr>
          <p:cNvSpPr txBox="1"/>
          <p:nvPr/>
        </p:nvSpPr>
        <p:spPr>
          <a:xfrm>
            <a:off x="508000" y="38227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Security</a:t>
            </a:r>
          </a:p>
        </p:txBody>
      </p:sp>
      <p:sp>
        <p:nvSpPr>
          <p:cNvPr id="13" name="TextBox 12">
            <a:extLst>
              <a:ext uri="{FF2B5EF4-FFF2-40B4-BE49-F238E27FC236}">
                <a16:creationId xmlns:a16="http://schemas.microsoft.com/office/drawing/2014/main" id="{48C76A25-D3A0-B11E-22B7-C5FBF90DAAD6}"/>
              </a:ext>
            </a:extLst>
          </p:cNvPr>
          <p:cNvSpPr txBox="1"/>
          <p:nvPr/>
        </p:nvSpPr>
        <p:spPr>
          <a:xfrm>
            <a:off x="3581400" y="38227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Nearest-person preference is not authorization. Validate who may issue commands.</a:t>
            </a:r>
          </a:p>
        </p:txBody>
      </p:sp>
      <p:sp>
        <p:nvSpPr>
          <p:cNvPr id="14" name="TextBox 13">
            <a:extLst>
              <a:ext uri="{FF2B5EF4-FFF2-40B4-BE49-F238E27FC236}">
                <a16:creationId xmlns:a16="http://schemas.microsoft.com/office/drawing/2014/main" id="{33C7AC04-648B-09EC-5ECA-6C359D1B2E0A}"/>
              </a:ext>
            </a:extLst>
          </p:cNvPr>
          <p:cNvSpPr txBox="1"/>
          <p:nvPr/>
        </p:nvSpPr>
        <p:spPr>
          <a:xfrm>
            <a:off x="508000" y="45593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Adoption &amp; testing</a:t>
            </a:r>
          </a:p>
        </p:txBody>
      </p:sp>
      <p:sp>
        <p:nvSpPr>
          <p:cNvPr id="15" name="TextBox 14">
            <a:extLst>
              <a:ext uri="{FF2B5EF4-FFF2-40B4-BE49-F238E27FC236}">
                <a16:creationId xmlns:a16="http://schemas.microsoft.com/office/drawing/2014/main" id="{4C4B88C2-88AD-15D1-CC46-BC3278F4FC17}"/>
              </a:ext>
            </a:extLst>
          </p:cNvPr>
          <p:cNvSpPr txBox="1"/>
          <p:nvPr/>
        </p:nvSpPr>
        <p:spPr>
          <a:xfrm>
            <a:off x="3581400" y="45593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Test gesture learnability, gloves, distance, lighting, occlusion, and competing signals.</a:t>
            </a:r>
          </a:p>
        </p:txBody>
      </p:sp>
      <p:sp>
        <p:nvSpPr>
          <p:cNvPr id="16" name="TextBox 15">
            <a:extLst>
              <a:ext uri="{FF2B5EF4-FFF2-40B4-BE49-F238E27FC236}">
                <a16:creationId xmlns:a16="http://schemas.microsoft.com/office/drawing/2014/main" id="{16D03A4B-A655-790D-A6A8-8267123303E2}"/>
              </a:ext>
            </a:extLst>
          </p:cNvPr>
          <p:cNvSpPr txBox="1"/>
          <p:nvPr/>
        </p:nvSpPr>
        <p:spPr>
          <a:xfrm>
            <a:off x="508000" y="5295900"/>
            <a:ext cx="2857500" cy="276999"/>
          </a:xfrm>
          <a:prstGeom prst="rect">
            <a:avLst/>
          </a:prstGeom>
          <a:noFill/>
        </p:spPr>
        <p:txBody>
          <a:bodyPr vert="horz" wrap="square" lIns="0" tIns="0" rIns="0" bIns="0" rtlCol="0">
            <a:spAutoFit/>
          </a:bodyPr>
          <a:lstStyle/>
          <a:p>
            <a:r>
              <a:rPr lang="en-US" b="1">
                <a:solidFill>
                  <a:srgbClr val="006B62"/>
                </a:solidFill>
                <a:latin typeface="Aptos" panose="020B0004020202020204" pitchFamily="34" charset="0"/>
              </a:rPr>
              <a:t>Field readiness</a:t>
            </a:r>
          </a:p>
        </p:txBody>
      </p:sp>
      <p:sp>
        <p:nvSpPr>
          <p:cNvPr id="17" name="TextBox 16">
            <a:extLst>
              <a:ext uri="{FF2B5EF4-FFF2-40B4-BE49-F238E27FC236}">
                <a16:creationId xmlns:a16="http://schemas.microsoft.com/office/drawing/2014/main" id="{3C80FBA1-7CFD-23E8-DD17-43B70C2AF0E6}"/>
              </a:ext>
            </a:extLst>
          </p:cNvPr>
          <p:cNvSpPr txBox="1"/>
          <p:nvPr/>
        </p:nvSpPr>
        <p:spPr>
          <a:xfrm>
            <a:off x="3581400" y="5295900"/>
            <a:ext cx="8013700" cy="52322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Plan physical trials, applicable flight approvals, and GPS-independent navigation separately.</a:t>
            </a:r>
          </a:p>
        </p:txBody>
      </p:sp>
    </p:spTree>
    <p:extLst>
      <p:ext uri="{BB962C8B-B14F-4D97-AF65-F5344CB8AC3E}">
        <p14:creationId xmlns:p14="http://schemas.microsoft.com/office/powerpoint/2010/main" val="308659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6202A1-34F4-84BC-5269-B6D8483E7783}"/>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076E06BC-7B43-1A2F-2B08-4317D9AD6AD5}"/>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EVALUATION PLAN</a:t>
            </a:r>
          </a:p>
        </p:txBody>
      </p:sp>
      <p:sp>
        <p:nvSpPr>
          <p:cNvPr id="4" name="TextBox 3">
            <a:extLst>
              <a:ext uri="{FF2B5EF4-FFF2-40B4-BE49-F238E27FC236}">
                <a16:creationId xmlns:a16="http://schemas.microsoft.com/office/drawing/2014/main" id="{536E751D-DEC9-1DB5-08B6-E5B49071057B}"/>
              </a:ext>
            </a:extLst>
          </p:cNvPr>
          <p:cNvSpPr txBox="1"/>
          <p:nvPr/>
        </p:nvSpPr>
        <p:spPr>
          <a:xfrm>
            <a:off x="508000" y="939800"/>
            <a:ext cx="11239500" cy="553998"/>
          </a:xfrm>
          <a:prstGeom prst="rect">
            <a:avLst/>
          </a:prstGeom>
          <a:noFill/>
        </p:spPr>
        <p:txBody>
          <a:bodyPr vert="horz" wrap="square" lIns="0" tIns="0" rIns="0" bIns="0" rtlCol="0">
            <a:spAutoFit/>
          </a:bodyPr>
          <a:lstStyle/>
          <a:p>
            <a:r>
              <a:rPr lang="en-US" sz="3600" b="1">
                <a:solidFill>
                  <a:srgbClr val="14263A"/>
                </a:solidFill>
                <a:latin typeface="Aptos" panose="020B0004020202020204" pitchFamily="34" charset="0"/>
              </a:rPr>
              <a:t>Turn the next demo into evidence.</a:t>
            </a:r>
          </a:p>
        </p:txBody>
      </p:sp>
      <p:cxnSp>
        <p:nvCxnSpPr>
          <p:cNvPr id="5" name="Straight Connector 4">
            <a:extLst>
              <a:ext uri="{FF2B5EF4-FFF2-40B4-BE49-F238E27FC236}">
                <a16:creationId xmlns:a16="http://schemas.microsoft.com/office/drawing/2014/main" id="{C21FAAC4-82CE-F578-0143-5993CEAE5ABF}"/>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2B6A03E-9AED-40F5-21FE-7633F896C298}"/>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2705C3AB-5D4E-084B-6BF7-53835AD701E6}"/>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A2</a:t>
            </a:r>
          </a:p>
        </p:txBody>
      </p:sp>
      <p:sp>
        <p:nvSpPr>
          <p:cNvPr id="8" name="TextBox 7">
            <a:extLst>
              <a:ext uri="{FF2B5EF4-FFF2-40B4-BE49-F238E27FC236}">
                <a16:creationId xmlns:a16="http://schemas.microsoft.com/office/drawing/2014/main" id="{E95DEA6D-120E-5E64-3E32-3826EA1EE907}"/>
              </a:ext>
            </a:extLst>
          </p:cNvPr>
          <p:cNvSpPr txBox="1"/>
          <p:nvPr/>
        </p:nvSpPr>
        <p:spPr>
          <a:xfrm>
            <a:off x="508000" y="23495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Command success</a:t>
            </a:r>
          </a:p>
        </p:txBody>
      </p:sp>
      <p:sp>
        <p:nvSpPr>
          <p:cNvPr id="9" name="TextBox 8">
            <a:extLst>
              <a:ext uri="{FF2B5EF4-FFF2-40B4-BE49-F238E27FC236}">
                <a16:creationId xmlns:a16="http://schemas.microsoft.com/office/drawing/2014/main" id="{33326158-593C-6608-98EB-62B596F3670A}"/>
              </a:ext>
            </a:extLst>
          </p:cNvPr>
          <p:cNvSpPr txBox="1"/>
          <p:nvPr/>
        </p:nvSpPr>
        <p:spPr>
          <a:xfrm>
            <a:off x="3581400" y="23495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Correct action / attempted commands, broken down by gesture.</a:t>
            </a:r>
          </a:p>
        </p:txBody>
      </p:sp>
      <p:sp>
        <p:nvSpPr>
          <p:cNvPr id="10" name="TextBox 9">
            <a:extLst>
              <a:ext uri="{FF2B5EF4-FFF2-40B4-BE49-F238E27FC236}">
                <a16:creationId xmlns:a16="http://schemas.microsoft.com/office/drawing/2014/main" id="{DA655B6E-C80F-CE1C-D539-4EDCAE01DC0D}"/>
              </a:ext>
            </a:extLst>
          </p:cNvPr>
          <p:cNvSpPr txBox="1"/>
          <p:nvPr/>
        </p:nvSpPr>
        <p:spPr>
          <a:xfrm>
            <a:off x="508000" y="30861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Response time</a:t>
            </a:r>
          </a:p>
        </p:txBody>
      </p:sp>
      <p:sp>
        <p:nvSpPr>
          <p:cNvPr id="11" name="TextBox 10">
            <a:extLst>
              <a:ext uri="{FF2B5EF4-FFF2-40B4-BE49-F238E27FC236}">
                <a16:creationId xmlns:a16="http://schemas.microsoft.com/office/drawing/2014/main" id="{7B23588A-3EF5-0813-C430-3F66AAD896AB}"/>
              </a:ext>
            </a:extLst>
          </p:cNvPr>
          <p:cNvSpPr txBox="1"/>
          <p:nvPr/>
        </p:nvSpPr>
        <p:spPr>
          <a:xfrm>
            <a:off x="3581400" y="30861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Time from completed gesture to simulated action; report median and slow cases.</a:t>
            </a:r>
          </a:p>
        </p:txBody>
      </p:sp>
      <p:sp>
        <p:nvSpPr>
          <p:cNvPr id="12" name="TextBox 11">
            <a:extLst>
              <a:ext uri="{FF2B5EF4-FFF2-40B4-BE49-F238E27FC236}">
                <a16:creationId xmlns:a16="http://schemas.microsoft.com/office/drawing/2014/main" id="{27C80F44-C6B6-DA04-92BE-D0EE2E311B92}"/>
              </a:ext>
            </a:extLst>
          </p:cNvPr>
          <p:cNvSpPr txBox="1"/>
          <p:nvPr/>
        </p:nvSpPr>
        <p:spPr>
          <a:xfrm>
            <a:off x="508000" y="38227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False activation</a:t>
            </a:r>
          </a:p>
        </p:txBody>
      </p:sp>
      <p:sp>
        <p:nvSpPr>
          <p:cNvPr id="13" name="TextBox 12">
            <a:extLst>
              <a:ext uri="{FF2B5EF4-FFF2-40B4-BE49-F238E27FC236}">
                <a16:creationId xmlns:a16="http://schemas.microsoft.com/office/drawing/2014/main" id="{C6D98D34-A5B1-1F10-6A07-34D5427EF6BF}"/>
              </a:ext>
            </a:extLst>
          </p:cNvPr>
          <p:cNvSpPr txBox="1"/>
          <p:nvPr/>
        </p:nvSpPr>
        <p:spPr>
          <a:xfrm>
            <a:off x="3581400" y="38227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Count unintended commands during ordinary movement and no-command periods.</a:t>
            </a:r>
          </a:p>
        </p:txBody>
      </p:sp>
      <p:sp>
        <p:nvSpPr>
          <p:cNvPr id="14" name="TextBox 13">
            <a:extLst>
              <a:ext uri="{FF2B5EF4-FFF2-40B4-BE49-F238E27FC236}">
                <a16:creationId xmlns:a16="http://schemas.microsoft.com/office/drawing/2014/main" id="{8A9581D3-681E-B04D-7E2D-6287AE0B2BB8}"/>
              </a:ext>
            </a:extLst>
          </p:cNvPr>
          <p:cNvSpPr txBox="1"/>
          <p:nvPr/>
        </p:nvSpPr>
        <p:spPr>
          <a:xfrm>
            <a:off x="508000" y="45593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Operator selection</a:t>
            </a:r>
          </a:p>
        </p:txBody>
      </p:sp>
      <p:sp>
        <p:nvSpPr>
          <p:cNvPr id="15" name="TextBox 14">
            <a:extLst>
              <a:ext uri="{FF2B5EF4-FFF2-40B4-BE49-F238E27FC236}">
                <a16:creationId xmlns:a16="http://schemas.microsoft.com/office/drawing/2014/main" id="{79365DEE-6CFE-8289-0841-C57B115BA619}"/>
              </a:ext>
            </a:extLst>
          </p:cNvPr>
          <p:cNvSpPr txBox="1"/>
          <p:nvPr/>
        </p:nvSpPr>
        <p:spPr>
          <a:xfrm>
            <a:off x="3581400" y="45593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Test overlapping gestures, near-equal distances, and return-to-sender behavior.</a:t>
            </a:r>
          </a:p>
        </p:txBody>
      </p:sp>
      <p:sp>
        <p:nvSpPr>
          <p:cNvPr id="16" name="TextBox 15">
            <a:extLst>
              <a:ext uri="{FF2B5EF4-FFF2-40B4-BE49-F238E27FC236}">
                <a16:creationId xmlns:a16="http://schemas.microsoft.com/office/drawing/2014/main" id="{E43F7500-285F-4CCE-2241-00681381635A}"/>
              </a:ext>
            </a:extLst>
          </p:cNvPr>
          <p:cNvSpPr txBox="1"/>
          <p:nvPr/>
        </p:nvSpPr>
        <p:spPr>
          <a:xfrm>
            <a:off x="508000" y="5295900"/>
            <a:ext cx="2857500" cy="276999"/>
          </a:xfrm>
          <a:prstGeom prst="rect">
            <a:avLst/>
          </a:prstGeom>
          <a:noFill/>
        </p:spPr>
        <p:txBody>
          <a:bodyPr vert="horz" wrap="square" lIns="0" tIns="0" rIns="0" bIns="0" rtlCol="0">
            <a:spAutoFit/>
          </a:bodyPr>
          <a:lstStyle/>
          <a:p>
            <a:r>
              <a:rPr lang="en-US" b="1">
                <a:solidFill>
                  <a:srgbClr val="2563EB"/>
                </a:solidFill>
                <a:latin typeface="Aptos" panose="020B0004020202020204" pitchFamily="34" charset="0"/>
              </a:rPr>
              <a:t>Stop behavior</a:t>
            </a:r>
          </a:p>
        </p:txBody>
      </p:sp>
      <p:sp>
        <p:nvSpPr>
          <p:cNvPr id="17" name="TextBox 16">
            <a:extLst>
              <a:ext uri="{FF2B5EF4-FFF2-40B4-BE49-F238E27FC236}">
                <a16:creationId xmlns:a16="http://schemas.microsoft.com/office/drawing/2014/main" id="{3F6F36B1-B709-219B-82F2-08BA21A83815}"/>
              </a:ext>
            </a:extLst>
          </p:cNvPr>
          <p:cNvSpPr txBox="1"/>
          <p:nvPr/>
        </p:nvSpPr>
        <p:spPr>
          <a:xfrm>
            <a:off x="3581400" y="5295900"/>
            <a:ext cx="8013700" cy="261610"/>
          </a:xfrm>
          <a:prstGeom prst="rect">
            <a:avLst/>
          </a:prstGeom>
          <a:noFill/>
        </p:spPr>
        <p:txBody>
          <a:bodyPr vert="horz" wrap="square" lIns="0" tIns="0" rIns="0" bIns="0" rtlCol="0">
            <a:spAutoFit/>
          </a:bodyPr>
          <a:lstStyle/>
          <a:p>
            <a:r>
              <a:rPr lang="en-US" sz="1700">
                <a:solidFill>
                  <a:srgbClr val="14263A"/>
                </a:solidFill>
                <a:latin typeface="Aptos" panose="020B0004020202020204" pitchFamily="34" charset="0"/>
              </a:rPr>
              <a:t>Measure stop response and observe the resulting simulated drone state.</a:t>
            </a:r>
          </a:p>
        </p:txBody>
      </p:sp>
    </p:spTree>
    <p:extLst>
      <p:ext uri="{BB962C8B-B14F-4D97-AF65-F5344CB8AC3E}">
        <p14:creationId xmlns:p14="http://schemas.microsoft.com/office/powerpoint/2010/main" val="2892910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801EBA-15F2-1B70-795F-B6776DCD904E}"/>
              </a:ext>
            </a:extLst>
          </p:cNvPr>
          <p:cNvSpPr txBox="1"/>
          <p:nvPr/>
        </p:nvSpPr>
        <p:spPr>
          <a:xfrm>
            <a:off x="508000" y="279400"/>
            <a:ext cx="3175000" cy="215444"/>
          </a:xfrm>
          <a:prstGeom prst="rect">
            <a:avLst/>
          </a:prstGeom>
          <a:noFill/>
        </p:spPr>
        <p:txBody>
          <a:bodyPr vert="horz" wrap="square" lIns="0" tIns="0" rIns="0" bIns="0" rtlCol="0">
            <a:spAutoFit/>
          </a:bodyPr>
          <a:lstStyle/>
          <a:p>
            <a:r>
              <a:rPr lang="en-US" sz="1400" b="1">
                <a:solidFill>
                  <a:srgbClr val="006B62"/>
                </a:solidFill>
                <a:latin typeface="Aptos" panose="020B0004020202020204" pitchFamily="34" charset="0"/>
              </a:rPr>
              <a:t>TACTLINK</a:t>
            </a:r>
          </a:p>
        </p:txBody>
      </p:sp>
      <p:sp>
        <p:nvSpPr>
          <p:cNvPr id="3" name="TextBox 2">
            <a:extLst>
              <a:ext uri="{FF2B5EF4-FFF2-40B4-BE49-F238E27FC236}">
                <a16:creationId xmlns:a16="http://schemas.microsoft.com/office/drawing/2014/main" id="{1F58F2AF-7241-9765-A28F-15AAF30B341B}"/>
              </a:ext>
            </a:extLst>
          </p:cNvPr>
          <p:cNvSpPr txBox="1"/>
          <p:nvPr/>
        </p:nvSpPr>
        <p:spPr>
          <a:xfrm>
            <a:off x="7620000" y="279400"/>
            <a:ext cx="4064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APPENDIX / ORIGINAL INSPIRATION</a:t>
            </a:r>
          </a:p>
        </p:txBody>
      </p:sp>
      <p:sp>
        <p:nvSpPr>
          <p:cNvPr id="4" name="TextBox 3">
            <a:extLst>
              <a:ext uri="{FF2B5EF4-FFF2-40B4-BE49-F238E27FC236}">
                <a16:creationId xmlns:a16="http://schemas.microsoft.com/office/drawing/2014/main" id="{CB7EBADF-83EE-AF2E-1A6C-C4083D33977A}"/>
              </a:ext>
            </a:extLst>
          </p:cNvPr>
          <p:cNvSpPr txBox="1"/>
          <p:nvPr/>
        </p:nvSpPr>
        <p:spPr>
          <a:xfrm>
            <a:off x="508000" y="939800"/>
            <a:ext cx="11239500" cy="553998"/>
          </a:xfrm>
          <a:prstGeom prst="rect">
            <a:avLst/>
          </a:prstGeom>
          <a:noFill/>
        </p:spPr>
        <p:txBody>
          <a:bodyPr vert="horz" wrap="square" lIns="0" tIns="0" rIns="0" bIns="0" rtlCol="0">
            <a:spAutoFit/>
          </a:bodyPr>
          <a:lstStyle/>
          <a:p>
            <a:endParaRPr lang="en-US" sz="3600" b="1">
              <a:solidFill>
                <a:srgbClr val="14263A"/>
              </a:solidFill>
              <a:latin typeface="Aptos" panose="020B0004020202020204" pitchFamily="34" charset="0"/>
            </a:endParaRPr>
          </a:p>
        </p:txBody>
      </p:sp>
      <p:cxnSp>
        <p:nvCxnSpPr>
          <p:cNvPr id="5" name="Straight Connector 4">
            <a:extLst>
              <a:ext uri="{FF2B5EF4-FFF2-40B4-BE49-F238E27FC236}">
                <a16:creationId xmlns:a16="http://schemas.microsoft.com/office/drawing/2014/main" id="{8E786B99-A7E5-0E1D-B1A9-62FB11BEC3D3}"/>
              </a:ext>
            </a:extLst>
          </p:cNvPr>
          <p:cNvCxnSpPr/>
          <p:nvPr/>
        </p:nvCxnSpPr>
        <p:spPr>
          <a:xfrm>
            <a:off x="508000" y="6261100"/>
            <a:ext cx="11176000" cy="0"/>
          </a:xfrm>
          <a:prstGeom prst="line">
            <a:avLst/>
          </a:prstGeom>
          <a:ln w="25400">
            <a:solidFill>
              <a:srgbClr val="F2F5F8"/>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6A2E8D1-0F68-4F72-97E8-05DC134481BA}"/>
              </a:ext>
            </a:extLst>
          </p:cNvPr>
          <p:cNvSpPr txBox="1"/>
          <p:nvPr/>
        </p:nvSpPr>
        <p:spPr>
          <a:xfrm>
            <a:off x="508000" y="6464300"/>
            <a:ext cx="9906000" cy="153888"/>
          </a:xfrm>
          <a:prstGeom prst="rect">
            <a:avLst/>
          </a:prstGeom>
          <a:noFill/>
        </p:spPr>
        <p:txBody>
          <a:bodyPr vert="horz" wrap="square" lIns="0" tIns="0" rIns="0" bIns="0" rtlCol="0">
            <a:spAutoFit/>
          </a:bodyPr>
          <a:lstStyle/>
          <a:p>
            <a:r>
              <a:rPr lang="en-US" sz="1000">
                <a:solidFill>
                  <a:srgbClr val="617286"/>
                </a:solidFill>
                <a:latin typeface="Aptos" panose="020B0004020202020204" pitchFamily="34" charset="0"/>
              </a:rPr>
              <a:t>DNHACKS  /  DEFENSE  /  SIMULATION PROTOTYPE</a:t>
            </a:r>
          </a:p>
        </p:txBody>
      </p:sp>
      <p:sp>
        <p:nvSpPr>
          <p:cNvPr id="7" name="TextBox 6">
            <a:extLst>
              <a:ext uri="{FF2B5EF4-FFF2-40B4-BE49-F238E27FC236}">
                <a16:creationId xmlns:a16="http://schemas.microsoft.com/office/drawing/2014/main" id="{5D74E04F-4B6A-5C1B-FCBE-B9AA76EEA6E0}"/>
              </a:ext>
            </a:extLst>
          </p:cNvPr>
          <p:cNvSpPr txBox="1"/>
          <p:nvPr/>
        </p:nvSpPr>
        <p:spPr>
          <a:xfrm>
            <a:off x="11252200" y="6413500"/>
            <a:ext cx="508000" cy="184666"/>
          </a:xfrm>
          <a:prstGeom prst="rect">
            <a:avLst/>
          </a:prstGeom>
          <a:noFill/>
        </p:spPr>
        <p:txBody>
          <a:bodyPr vert="horz" wrap="square" lIns="0" tIns="0" rIns="0" bIns="0" rtlCol="0">
            <a:spAutoFit/>
          </a:bodyPr>
          <a:lstStyle/>
          <a:p>
            <a:r>
              <a:rPr lang="en-US" sz="1200">
                <a:solidFill>
                  <a:srgbClr val="617286"/>
                </a:solidFill>
                <a:latin typeface="Aptos" panose="020B0004020202020204" pitchFamily="34" charset="0"/>
              </a:rPr>
              <a:t>A3</a:t>
            </a:r>
          </a:p>
        </p:txBody>
      </p:sp>
      <p:pic>
        <p:nvPicPr>
          <p:cNvPr id="9" name="Picture 8">
            <a:extLst>
              <a:ext uri="{FF2B5EF4-FFF2-40B4-BE49-F238E27FC236}">
                <a16:creationId xmlns:a16="http://schemas.microsoft.com/office/drawing/2014/main" id="{BACF1681-4B20-25C9-32F0-F22E409EC7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800100"/>
            <a:ext cx="4127500" cy="5384800"/>
          </a:xfrm>
          <a:prstGeom prst="rect">
            <a:avLst/>
          </a:prstGeom>
        </p:spPr>
      </p:pic>
      <p:sp>
        <p:nvSpPr>
          <p:cNvPr id="10" name="TextBox 9">
            <a:extLst>
              <a:ext uri="{FF2B5EF4-FFF2-40B4-BE49-F238E27FC236}">
                <a16:creationId xmlns:a16="http://schemas.microsoft.com/office/drawing/2014/main" id="{229011D9-F042-7634-9593-D100915588B1}"/>
              </a:ext>
            </a:extLst>
          </p:cNvPr>
          <p:cNvSpPr txBox="1"/>
          <p:nvPr/>
        </p:nvSpPr>
        <p:spPr>
          <a:xfrm>
            <a:off x="5257800" y="1282700"/>
            <a:ext cx="6197600" cy="492443"/>
          </a:xfrm>
          <a:prstGeom prst="rect">
            <a:avLst/>
          </a:prstGeom>
          <a:noFill/>
        </p:spPr>
        <p:txBody>
          <a:bodyPr vert="horz" wrap="square" lIns="0" tIns="0" rIns="0" bIns="0" rtlCol="0">
            <a:spAutoFit/>
          </a:bodyPr>
          <a:lstStyle/>
          <a:p>
            <a:r>
              <a:rPr lang="en-US" sz="3200" b="1">
                <a:solidFill>
                  <a:srgbClr val="14263A"/>
                </a:solidFill>
                <a:latin typeface="Aptos" panose="020B0004020202020204" pitchFamily="34" charset="0"/>
              </a:rPr>
              <a:t>The prompt that started the idea.</a:t>
            </a:r>
          </a:p>
        </p:txBody>
      </p:sp>
      <p:sp>
        <p:nvSpPr>
          <p:cNvPr id="11" name="TextBox 10">
            <a:extLst>
              <a:ext uri="{FF2B5EF4-FFF2-40B4-BE49-F238E27FC236}">
                <a16:creationId xmlns:a16="http://schemas.microsoft.com/office/drawing/2014/main" id="{FB320E7A-FDA7-8F31-5D19-893E4BCC7470}"/>
              </a:ext>
            </a:extLst>
          </p:cNvPr>
          <p:cNvSpPr txBox="1"/>
          <p:nvPr/>
        </p:nvSpPr>
        <p:spPr>
          <a:xfrm>
            <a:off x="5257800" y="2768600"/>
            <a:ext cx="6019800" cy="1154162"/>
          </a:xfrm>
          <a:prstGeom prst="rect">
            <a:avLst/>
          </a:prstGeom>
          <a:noFill/>
        </p:spPr>
        <p:txBody>
          <a:bodyPr vert="horz" wrap="square" lIns="0" tIns="0" rIns="0" bIns="0" rtlCol="0">
            <a:spAutoFit/>
          </a:bodyPr>
          <a:lstStyle/>
          <a:p>
            <a:r>
              <a:rPr lang="en-US" sz="2500">
                <a:solidFill>
                  <a:srgbClr val="617286"/>
                </a:solidFill>
                <a:latin typeface="Aptos" panose="020B0004020202020204" pitchFamily="34" charset="0"/>
              </a:rPr>
              <a:t>Natural-language path planning suggested a broader question: how else do people communicate intent?</a:t>
            </a:r>
          </a:p>
        </p:txBody>
      </p:sp>
      <p:sp>
        <p:nvSpPr>
          <p:cNvPr id="12" name="TextBox 11">
            <a:extLst>
              <a:ext uri="{FF2B5EF4-FFF2-40B4-BE49-F238E27FC236}">
                <a16:creationId xmlns:a16="http://schemas.microsoft.com/office/drawing/2014/main" id="{C9C06E4E-0E05-E8CE-8F05-A9CAA6946A01}"/>
              </a:ext>
            </a:extLst>
          </p:cNvPr>
          <p:cNvSpPr txBox="1"/>
          <p:nvPr/>
        </p:nvSpPr>
        <p:spPr>
          <a:xfrm>
            <a:off x="5257800" y="4584700"/>
            <a:ext cx="6019800" cy="830997"/>
          </a:xfrm>
          <a:prstGeom prst="rect">
            <a:avLst/>
          </a:prstGeom>
          <a:noFill/>
        </p:spPr>
        <p:txBody>
          <a:bodyPr vert="horz" wrap="square" lIns="0" tIns="0" rIns="0" bIns="0" rtlCol="0">
            <a:spAutoFit/>
          </a:bodyPr>
          <a:lstStyle/>
          <a:p>
            <a:r>
              <a:rPr lang="en-US" sz="2700" b="1">
                <a:solidFill>
                  <a:srgbClr val="006B62"/>
                </a:solidFill>
                <a:latin typeface="Aptos" panose="020B0004020202020204" pitchFamily="34" charset="0"/>
              </a:rPr>
              <a:t>Tactlink explores gestures alongside spoken commands.</a:t>
            </a:r>
          </a:p>
        </p:txBody>
      </p:sp>
    </p:spTree>
    <p:extLst>
      <p:ext uri="{BB962C8B-B14F-4D97-AF65-F5344CB8AC3E}">
        <p14:creationId xmlns:p14="http://schemas.microsoft.com/office/powerpoint/2010/main" val="776511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1684</Words>
  <Application>Microsoft Office PowerPoint</Application>
  <PresentationFormat>Custom</PresentationFormat>
  <Paragraphs>182</Paragraphs>
  <Slides>11</Slides>
  <Notes>11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Holly, Ian Patrick</dc:creator>
  <cp:lastModifiedBy>Holly, Ian Patrick</cp:lastModifiedBy>
  <cp:revision>1</cp:revision>
  <dcterms:created xsi:type="dcterms:W3CDTF">2026-09-06T14:30:21Z</dcterms:created>
  <dcterms:modified xsi:type="dcterms:W3CDTF">2026-09-06T14:30:21Z</dcterms:modified>
</cp:coreProperties>
</file>