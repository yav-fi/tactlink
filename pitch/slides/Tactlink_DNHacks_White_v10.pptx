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C3941-6D7D-4ABD-9802-1A9BC8406E1B}"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C90EA2-169D-49E1-AF99-97323EEBDA43}" type="slidenum">
              <a:rPr lang="en-US" smtClean="0"/>
              <a:t>‹#›</a:t>
            </a:fld>
            <a:endParaRPr lang="en-US"/>
          </a:p>
        </p:txBody>
      </p:sp>
    </p:spTree>
    <p:extLst>
      <p:ext uri="{BB962C8B-B14F-4D97-AF65-F5344CB8AC3E}">
        <p14:creationId xmlns:p14="http://schemas.microsoft.com/office/powerpoint/2010/main" val="3124700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0:00–0:15. Tactlink is about adding the drone to the squad. Soldiers communicate intent to teammates through familiar signals; we want the squad to interact with a drone in that same natural way. A conversation with a Mach Industries representative helped shape this goal. Today we demonstrate that interaction in a connected simulation, not physical flight. The conversation is design input, not an endorsement.</a:t>
            </a:r>
          </a:p>
        </p:txBody>
      </p:sp>
      <p:sp>
        <p:nvSpPr>
          <p:cNvPr id="4" name="Slide Number Placeholder 3"/>
          <p:cNvSpPr>
            <a:spLocks noGrp="1"/>
          </p:cNvSpPr>
          <p:nvPr>
            <p:ph type="sldNum" sz="quarter" idx="5"/>
          </p:nvPr>
        </p:nvSpPr>
        <p:spPr/>
        <p:txBody>
          <a:bodyPr/>
          <a:lstStyle/>
          <a:p>
            <a:fld id="{BBC90EA2-169D-49E1-AF99-97323EEBDA43}" type="slidenum">
              <a:rPr lang="en-US" smtClean="0"/>
              <a:t>1</a:t>
            </a:fld>
            <a:endParaRPr lang="en-US"/>
          </a:p>
        </p:txBody>
      </p:sp>
    </p:spTree>
    <p:extLst>
      <p:ext uri="{BB962C8B-B14F-4D97-AF65-F5344CB8AC3E}">
        <p14:creationId xmlns:p14="http://schemas.microsoft.com/office/powerpoint/2010/main" val="3544343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0:15–0:40. A Mach Industries representative described soldiers using a small, chest-mounted tablet in GPS-denied environments. That prompted our design question: can a soldier redirect a drone by signaling it directly while staying engaged with the squad? The intended benefit is more dynamic drone support as needs change. We demonstrate gesture-driven changes in simulation today; onboard perception is planned. The diagram interprets our informal user discovery; it is not a measured comparison or a claim about every military workflow. We have not measured attention or response-time improvements. Visual commands require visibility and do not provide GPS-independent navigation.</a:t>
            </a:r>
          </a:p>
        </p:txBody>
      </p:sp>
      <p:sp>
        <p:nvSpPr>
          <p:cNvPr id="4" name="Slide Number Placeholder 3"/>
          <p:cNvSpPr>
            <a:spLocks noGrp="1"/>
          </p:cNvSpPr>
          <p:nvPr>
            <p:ph type="sldNum" sz="quarter" idx="5"/>
          </p:nvPr>
        </p:nvSpPr>
        <p:spPr/>
        <p:txBody>
          <a:bodyPr/>
          <a:lstStyle/>
          <a:p>
            <a:fld id="{BBC90EA2-169D-49E1-AF99-97323EEBDA43}" type="slidenum">
              <a:rPr lang="en-US" smtClean="0"/>
              <a:t>2</a:t>
            </a:fld>
            <a:endParaRPr lang="en-US"/>
          </a:p>
        </p:txBody>
      </p:sp>
    </p:spTree>
    <p:extLst>
      <p:ext uri="{BB962C8B-B14F-4D97-AF65-F5344CB8AC3E}">
        <p14:creationId xmlns:p14="http://schemas.microsoft.com/office/powerpoint/2010/main" val="1506638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0:40–0:55. The hackathon prompt proposed flight paths in plain English. That inspired us to ask: why not communicate in another human way, through gestures? Our working demonstration focuses on gesture interaction; natural-language mission planning remains in development. The full original prompt is in the hidden appendix. The source prompt is inspiration, not evidence that we implemented its flight-controller or verification requirements.</a:t>
            </a:r>
          </a:p>
        </p:txBody>
      </p:sp>
      <p:sp>
        <p:nvSpPr>
          <p:cNvPr id="4" name="Slide Number Placeholder 3"/>
          <p:cNvSpPr>
            <a:spLocks noGrp="1"/>
          </p:cNvSpPr>
          <p:nvPr>
            <p:ph type="sldNum" sz="quarter" idx="5"/>
          </p:nvPr>
        </p:nvSpPr>
        <p:spPr/>
        <p:txBody>
          <a:bodyPr/>
          <a:lstStyle/>
          <a:p>
            <a:fld id="{BBC90EA2-169D-49E1-AF99-97323EEBDA43}" type="slidenum">
              <a:rPr lang="en-US" smtClean="0"/>
              <a:t>3</a:t>
            </a:fld>
            <a:endParaRPr lang="en-US"/>
          </a:p>
        </p:txBody>
      </p:sp>
    </p:spTree>
    <p:extLst>
      <p:ext uri="{BB962C8B-B14F-4D97-AF65-F5344CB8AC3E}">
        <p14:creationId xmlns:p14="http://schemas.microsoft.com/office/powerpoint/2010/main" val="2134812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0:55–1:40. Begin with a preassigned mission running in the 3D simulation, then show a gesture interrupting that flight. Demonstrate orbit, directional movement, return overhead to the sender, and open-palm stop. Explain that the route was created in the 2D planner. Keep the full sequence within 45 seconds. The phones and main computer are connected; this is simulated flight. Switch back to slide 4 after the demonstration.</a:t>
            </a:r>
          </a:p>
        </p:txBody>
      </p:sp>
      <p:sp>
        <p:nvSpPr>
          <p:cNvPr id="4" name="Slide Number Placeholder 3"/>
          <p:cNvSpPr>
            <a:spLocks noGrp="1"/>
          </p:cNvSpPr>
          <p:nvPr>
            <p:ph type="sldNum" sz="quarter" idx="5"/>
          </p:nvPr>
        </p:nvSpPr>
        <p:spPr/>
        <p:txBody>
          <a:bodyPr/>
          <a:lstStyle/>
          <a:p>
            <a:fld id="{BBC90EA2-169D-49E1-AF99-97323EEBDA43}" type="slidenum">
              <a:rPr lang="en-US" smtClean="0"/>
              <a:t>4</a:t>
            </a:fld>
            <a:endParaRPr lang="en-US"/>
          </a:p>
        </p:txBody>
      </p:sp>
    </p:spTree>
    <p:extLst>
      <p:ext uri="{BB962C8B-B14F-4D97-AF65-F5344CB8AC3E}">
        <p14:creationId xmlns:p14="http://schemas.microsoft.com/office/powerpoint/2010/main" val="3129087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1:40–2:10. Tactlink also has mission planning. We build a route in a conventional 2D flight planner and visualize that mission in a 3D virtual world. Mid-flight, a hand gesture can interrupt the planned behavior. That makes the operator dynamic: plan ahead, then respond as the situation changes. We built the integration connecting the planner, custom gesture sequences, operator context, and simulated drone actions. A possible use case is sending a drone to another operator for overwatch. All flight behavior shown is simulated. Do not imply that interrupted routes automatically resume; that has not been confirmed.</a:t>
            </a:r>
          </a:p>
        </p:txBody>
      </p:sp>
      <p:sp>
        <p:nvSpPr>
          <p:cNvPr id="4" name="Slide Number Placeholder 3"/>
          <p:cNvSpPr>
            <a:spLocks noGrp="1"/>
          </p:cNvSpPr>
          <p:nvPr>
            <p:ph type="sldNum" sz="quarter" idx="5"/>
          </p:nvPr>
        </p:nvSpPr>
        <p:spPr/>
        <p:txBody>
          <a:bodyPr/>
          <a:lstStyle/>
          <a:p>
            <a:fld id="{BBC90EA2-169D-49E1-AF99-97323EEBDA43}" type="slidenum">
              <a:rPr lang="en-US" smtClean="0"/>
              <a:t>5</a:t>
            </a:fld>
            <a:endParaRPr lang="en-US"/>
          </a:p>
        </p:txBody>
      </p:sp>
    </p:spTree>
    <p:extLst>
      <p:ext uri="{BB962C8B-B14F-4D97-AF65-F5344CB8AC3E}">
        <p14:creationId xmlns:p14="http://schemas.microsoft.com/office/powerpoint/2010/main" val="1389022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2:10–2:35. The simulation implements emergency stop, path continuation or idle when no hand is visible, and a preference for the nearest operator. Those behaviors are not yet a validated safety system. Today the phones require connectivity, and we have no physical flight data. Next we will measure errors and latency, test visibility and competing commands, then integrate onboard compute and flight control. Visual commands require line of sight, and GPS-independent navigation remains a separate requirement.</a:t>
            </a:r>
          </a:p>
        </p:txBody>
      </p:sp>
      <p:sp>
        <p:nvSpPr>
          <p:cNvPr id="4" name="Slide Number Placeholder 3"/>
          <p:cNvSpPr>
            <a:spLocks noGrp="1"/>
          </p:cNvSpPr>
          <p:nvPr>
            <p:ph type="sldNum" sz="quarter" idx="5"/>
          </p:nvPr>
        </p:nvSpPr>
        <p:spPr/>
        <p:txBody>
          <a:bodyPr/>
          <a:lstStyle/>
          <a:p>
            <a:fld id="{BBC90EA2-169D-49E1-AF99-97323EEBDA43}" type="slidenum">
              <a:rPr lang="en-US" smtClean="0"/>
              <a:t>6</a:t>
            </a:fld>
            <a:endParaRPr lang="en-US"/>
          </a:p>
        </p:txBody>
      </p:sp>
    </p:spTree>
    <p:extLst>
      <p:ext uri="{BB962C8B-B14F-4D97-AF65-F5344CB8AC3E}">
        <p14:creationId xmlns:p14="http://schemas.microsoft.com/office/powerpoint/2010/main" val="3566874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2:35–2:55. We went beyond a fixed set of gestures: we built a custom gesture-training pipeline and trained a model on our own hand signals. Record examples, label them, train the model, and connect recognized gestures to commands. That demonstrates a vocabulary we can develop around the people using it. This training was demonstrated in desktop experiments. The current phone demo uses a separate gesture-rule layer. Do not imply retraining the hand-tracking backbone or deploying the trained model to the phone.</a:t>
            </a:r>
          </a:p>
        </p:txBody>
      </p:sp>
      <p:sp>
        <p:nvSpPr>
          <p:cNvPr id="4" name="Slide Number Placeholder 3"/>
          <p:cNvSpPr>
            <a:spLocks noGrp="1"/>
          </p:cNvSpPr>
          <p:nvPr>
            <p:ph type="sldNum" sz="quarter" idx="5"/>
          </p:nvPr>
        </p:nvSpPr>
        <p:spPr/>
        <p:txBody>
          <a:bodyPr/>
          <a:lstStyle/>
          <a:p>
            <a:fld id="{BBC90EA2-169D-49E1-AF99-97323EEBDA43}" type="slidenum">
              <a:rPr lang="en-US" smtClean="0"/>
              <a:t>7</a:t>
            </a:fld>
            <a:endParaRPr lang="en-US"/>
          </a:p>
        </p:txBody>
      </p:sp>
    </p:spTree>
    <p:extLst>
      <p:ext uri="{BB962C8B-B14F-4D97-AF65-F5344CB8AC3E}">
        <p14:creationId xmlns:p14="http://schemas.microsoft.com/office/powerpoint/2010/main" val="2370342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2:55–3:10. Talk to the drone like you would a teammate. Give it a route in plain language, then change the plan as the situation changes. Spoken commands let it break from a preplanned route and respond to what you need next. Demonstrated in our simulation test environment, as confirmed by the team. This is separate from the phone gesture demo and does not claim physical flight integration. End here; remaining slides are hidden backup.</a:t>
            </a:r>
          </a:p>
        </p:txBody>
      </p:sp>
      <p:sp>
        <p:nvSpPr>
          <p:cNvPr id="4" name="Slide Number Placeholder 3"/>
          <p:cNvSpPr>
            <a:spLocks noGrp="1"/>
          </p:cNvSpPr>
          <p:nvPr>
            <p:ph type="sldNum" sz="quarter" idx="5"/>
          </p:nvPr>
        </p:nvSpPr>
        <p:spPr/>
        <p:txBody>
          <a:bodyPr/>
          <a:lstStyle/>
          <a:p>
            <a:fld id="{BBC90EA2-169D-49E1-AF99-97323EEBDA43}" type="slidenum">
              <a:rPr lang="en-US" smtClean="0"/>
              <a:t>8</a:t>
            </a:fld>
            <a:endParaRPr lang="en-US"/>
          </a:p>
        </p:txBody>
      </p:sp>
    </p:spTree>
    <p:extLst>
      <p:ext uri="{BB962C8B-B14F-4D97-AF65-F5344CB8AC3E}">
        <p14:creationId xmlns:p14="http://schemas.microsoft.com/office/powerpoint/2010/main" val="3913208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These are planned deployment considerations, not completed capabilities. No cost estimate, field validation, procurement commitment, or regulatory approval has been established. Jetson-class onboard compute is an option; no specific board is validated.</a:t>
            </a:r>
          </a:p>
        </p:txBody>
      </p:sp>
      <p:sp>
        <p:nvSpPr>
          <p:cNvPr id="4" name="Slide Number Placeholder 3"/>
          <p:cNvSpPr>
            <a:spLocks noGrp="1"/>
          </p:cNvSpPr>
          <p:nvPr>
            <p:ph type="sldNum" sz="quarter" idx="5"/>
          </p:nvPr>
        </p:nvSpPr>
        <p:spPr/>
        <p:txBody>
          <a:bodyPr/>
          <a:lstStyle/>
          <a:p>
            <a:fld id="{BBC90EA2-169D-49E1-AF99-97323EEBDA43}" type="slidenum">
              <a:rPr lang="en-US" smtClean="0"/>
              <a:t>9</a:t>
            </a:fld>
            <a:endParaRPr lang="en-US"/>
          </a:p>
        </p:txBody>
      </p:sp>
    </p:spTree>
    <p:extLst>
      <p:ext uri="{BB962C8B-B14F-4D97-AF65-F5344CB8AC3E}">
        <p14:creationId xmlns:p14="http://schemas.microsoft.com/office/powerpoint/2010/main" val="222052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This is a proposed evaluation plan. No measured results are claimed. Record the number of trials, test conditions, and failures. Simulation measurements do not establish physical-drone reliability.</a:t>
            </a:r>
          </a:p>
        </p:txBody>
      </p:sp>
      <p:sp>
        <p:nvSpPr>
          <p:cNvPr id="4" name="Slide Number Placeholder 3"/>
          <p:cNvSpPr>
            <a:spLocks noGrp="1"/>
          </p:cNvSpPr>
          <p:nvPr>
            <p:ph type="sldNum" sz="quarter" idx="5"/>
          </p:nvPr>
        </p:nvSpPr>
        <p:spPr/>
        <p:txBody>
          <a:bodyPr/>
          <a:lstStyle/>
          <a:p>
            <a:fld id="{BBC90EA2-169D-49E1-AF99-97323EEBDA43}" type="slidenum">
              <a:rPr lang="en-US" smtClean="0"/>
              <a:t>10</a:t>
            </a:fld>
            <a:endParaRPr lang="en-US"/>
          </a:p>
        </p:txBody>
      </p:sp>
    </p:spTree>
    <p:extLst>
      <p:ext uri="{BB962C8B-B14F-4D97-AF65-F5344CB8AC3E}">
        <p14:creationId xmlns:p14="http://schemas.microsoft.com/office/powerpoint/2010/main" val="1873105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team-provided image DNhacks_inspo_prompt.png, DNHacks Defense inspiration prompt titled Flight paths in plain English. Reproduced as supplied. This is historical inspiration; technical claims in the prompt are not independent evidence of Tactlink capabilities. Natural-language route commands are demonstrated in a separate simulation test environment.</a:t>
            </a:r>
          </a:p>
        </p:txBody>
      </p:sp>
      <p:sp>
        <p:nvSpPr>
          <p:cNvPr id="4" name="Slide Number Placeholder 3"/>
          <p:cNvSpPr>
            <a:spLocks noGrp="1"/>
          </p:cNvSpPr>
          <p:nvPr>
            <p:ph type="sldNum" sz="quarter" idx="5"/>
          </p:nvPr>
        </p:nvSpPr>
        <p:spPr/>
        <p:txBody>
          <a:bodyPr/>
          <a:lstStyle/>
          <a:p>
            <a:fld id="{BBC90EA2-169D-49E1-AF99-97323EEBDA43}" type="slidenum">
              <a:rPr lang="en-US" smtClean="0"/>
              <a:t>11</a:t>
            </a:fld>
            <a:endParaRPr lang="en-US"/>
          </a:p>
        </p:txBody>
      </p:sp>
    </p:spTree>
    <p:extLst>
      <p:ext uri="{BB962C8B-B14F-4D97-AF65-F5344CB8AC3E}">
        <p14:creationId xmlns:p14="http://schemas.microsoft.com/office/powerpoint/2010/main" val="919500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40C7-FFB0-93E6-8563-DB1B09192A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6F206B-7A5F-EC47-98C3-64CC3CE638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23F782-3D28-C230-9105-D90E4E04A093}"/>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9E38D180-89C9-8A65-B435-539C2BAE5B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4A2E6C-DBDC-C889-BBF4-196E2E4E3CB1}"/>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25366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B7D1-D943-37C0-7352-91AAE1EF29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0D09AD-E121-70D1-7AC5-548CF0FC7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EE040-0ACF-8149-2FE4-A1960514DA95}"/>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43F0EBAC-E833-3845-3F1D-D51D22A1A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8E26F2-E09F-2387-BFF3-15A570B0D280}"/>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147558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E639-5D7C-700E-04C9-166EB18411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00F095-93B3-8496-46A9-F04285E0FB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FF3D60-43EB-BD16-C188-477CF4F56406}"/>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C1F9B98C-8AD5-180E-B39E-9B9178464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FF9BB-327C-3D7C-A925-D2A0182799B2}"/>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2648987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E2A09-4B74-BE07-9079-9BD07ED001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0C6E65-DECF-FA45-E456-78D4522872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49C4F0-92B0-395D-0E85-B09B176D6A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DE1417-E60E-EA9C-4EFC-8872B5E34E81}"/>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6" name="Footer Placeholder 5">
            <a:extLst>
              <a:ext uri="{FF2B5EF4-FFF2-40B4-BE49-F238E27FC236}">
                <a16:creationId xmlns:a16="http://schemas.microsoft.com/office/drawing/2014/main" id="{987737F7-999B-0D51-7EBA-513CBFCB24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360D23-9FBB-2FC7-1038-B02CDC89EC45}"/>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1595435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E096F-1296-00CA-E534-0875CD01DA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A91F70-4B0D-F08B-4C6F-5CC2B0C99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0C8B10-8BCC-7FEE-B398-28BCFF28D2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AFBD0-85DE-4682-FB86-F3A6A1FC45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3794E2-3E16-0D9A-BCF4-58EF88102F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790F9E-E171-657D-30E9-E12510462CC7}"/>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8" name="Footer Placeholder 7">
            <a:extLst>
              <a:ext uri="{FF2B5EF4-FFF2-40B4-BE49-F238E27FC236}">
                <a16:creationId xmlns:a16="http://schemas.microsoft.com/office/drawing/2014/main" id="{7B4704BD-1ED3-A4A6-C279-00661C33E5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EB2051-3E25-D954-1D79-394FA6825396}"/>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2976299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8C68-E332-260D-FF3F-A55BDEF12A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53DF78-DF4C-FFBA-F136-6A315AD21BEE}"/>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4" name="Footer Placeholder 3">
            <a:extLst>
              <a:ext uri="{FF2B5EF4-FFF2-40B4-BE49-F238E27FC236}">
                <a16:creationId xmlns:a16="http://schemas.microsoft.com/office/drawing/2014/main" id="{7EB3365A-253D-C23D-F093-2355ED43B4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2CA3DE-397A-5F41-9035-AFE5CB78E3A7}"/>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3745559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0964BE-E6DC-FD19-C28D-8FFCF375D87C}"/>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3" name="Footer Placeholder 2">
            <a:extLst>
              <a:ext uri="{FF2B5EF4-FFF2-40B4-BE49-F238E27FC236}">
                <a16:creationId xmlns:a16="http://schemas.microsoft.com/office/drawing/2014/main" id="{788D7AE4-B999-C51B-A062-6F540103DD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C009B1-EA70-E77A-12B3-A6900EA9A2E3}"/>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193374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AEEB1-9107-5DE0-35EB-EC3AEC2CF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B7090C-7692-E082-9CAD-5A9C6B30A8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22D142-747E-1DC5-62E8-F8548A2CD9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72D6B-93D2-1708-8070-25D36A23E69A}"/>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6" name="Footer Placeholder 5">
            <a:extLst>
              <a:ext uri="{FF2B5EF4-FFF2-40B4-BE49-F238E27FC236}">
                <a16:creationId xmlns:a16="http://schemas.microsoft.com/office/drawing/2014/main" id="{49929090-19B8-CC81-6AF6-2FC440C654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C67CB-65F1-8396-3B1A-B7A731C8A121}"/>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624286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D9E0-BC94-C649-32A2-7829E519E3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490A55-BF85-5FCC-EF51-04C6F98AC7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79A930-A82F-C7F8-6878-3F4451A766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7139A4-57BB-C726-DF11-415846F731F9}"/>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6" name="Footer Placeholder 5">
            <a:extLst>
              <a:ext uri="{FF2B5EF4-FFF2-40B4-BE49-F238E27FC236}">
                <a16:creationId xmlns:a16="http://schemas.microsoft.com/office/drawing/2014/main" id="{13DE3124-0B52-D68C-E521-D11F4C809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C5BD5B-3BAF-CBFA-6E38-8BABCD1C2E09}"/>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3642904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DF87-FBDF-BD30-4B9C-50ECBA60B3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155BF-7AB0-0E82-EAB5-76C617FA67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C2445D-FD63-9D6D-1AB3-7CF9389E2EC8}"/>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B22FC6FB-D769-CA80-DA52-A470BEBBD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065E1-AFA6-9CFA-CA4C-26C8858E6A2B}"/>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813937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DFB872-DEAC-33A4-901E-D7CD691853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A53E15-7FC1-955D-B820-E1FC532C60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4009B-8C6B-B2D3-42F2-39EBF95E2E61}"/>
              </a:ext>
            </a:extLst>
          </p:cNvPr>
          <p:cNvSpPr>
            <a:spLocks noGrp="1"/>
          </p:cNvSpPr>
          <p:nvPr>
            <p:ph type="dt" sz="half" idx="10"/>
          </p:nvPr>
        </p:nvSpPr>
        <p:spPr/>
        <p:txBody>
          <a:body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228E780C-DEE6-B8F0-460D-D2413C47E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D3888-8E66-E7B8-556A-FF8EF19BAA72}"/>
              </a:ext>
            </a:extLst>
          </p:cNvPr>
          <p:cNvSpPr>
            <a:spLocks noGrp="1"/>
          </p:cNvSpPr>
          <p:nvPr>
            <p:ph type="sldNum" sz="quarter" idx="12"/>
          </p:nvPr>
        </p:nvSpPr>
        <p:spPr/>
        <p:txBody>
          <a:bodyPr/>
          <a:lstStyle/>
          <a:p>
            <a:fld id="{A35A87D4-3DD0-424E-BE59-9B64C1B3A3B0}" type="slidenum">
              <a:rPr lang="en-US" smtClean="0"/>
              <a:t>‹#›</a:t>
            </a:fld>
            <a:endParaRPr lang="en-US"/>
          </a:p>
        </p:txBody>
      </p:sp>
    </p:spTree>
    <p:extLst>
      <p:ext uri="{BB962C8B-B14F-4D97-AF65-F5344CB8AC3E}">
        <p14:creationId xmlns:p14="http://schemas.microsoft.com/office/powerpoint/2010/main" val="1012952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CA9672-26A0-CB17-5749-BE4EC706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213FF1-05D6-B142-4871-09FE8A646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FBDD03-81E4-C121-A4DD-18A773865D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31739-8FA3-41FA-87CD-A7C528D04E62}" type="datetimeFigureOut">
              <a:rPr lang="en-US" smtClean="0"/>
              <a:t>9/6/2026</a:t>
            </a:fld>
            <a:endParaRPr lang="en-US"/>
          </a:p>
        </p:txBody>
      </p:sp>
      <p:sp>
        <p:nvSpPr>
          <p:cNvPr id="5" name="Footer Placeholder 4">
            <a:extLst>
              <a:ext uri="{FF2B5EF4-FFF2-40B4-BE49-F238E27FC236}">
                <a16:creationId xmlns:a16="http://schemas.microsoft.com/office/drawing/2014/main" id="{78890B02-0E07-501C-83E2-56CF2C5E94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1BB8ED-84AF-12AF-B247-F077CC862D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5A87D4-3DD0-424E-BE59-9B64C1B3A3B0}" type="slidenum">
              <a:rPr lang="en-US" smtClean="0"/>
              <a:t>‹#›</a:t>
            </a:fld>
            <a:endParaRPr lang="en-US"/>
          </a:p>
        </p:txBody>
      </p:sp>
    </p:spTree>
    <p:extLst>
      <p:ext uri="{BB962C8B-B14F-4D97-AF65-F5344CB8AC3E}">
        <p14:creationId xmlns:p14="http://schemas.microsoft.com/office/powerpoint/2010/main" val="2116915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askandpurpose.com/news/army-drone-mo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9CB91A-B751-CC6B-9016-707648B3C8E2}"/>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D702CF79-91FE-D910-C298-52C9985EDD05}"/>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SQUAD–DRONE INTERACTION</a:t>
            </a:r>
          </a:p>
        </p:txBody>
      </p:sp>
      <p:sp>
        <p:nvSpPr>
          <p:cNvPr id="4" name="TextBox 3">
            <a:extLst>
              <a:ext uri="{FF2B5EF4-FFF2-40B4-BE49-F238E27FC236}">
                <a16:creationId xmlns:a16="http://schemas.microsoft.com/office/drawing/2014/main" id="{5C81EBAF-6D08-173B-EADA-974401FEBE24}"/>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E871402-C8FF-D8F6-223A-A6ED1D199541}"/>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CB05AE9-D8D2-7166-84D5-AA0872A01D3C}"/>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2E6010FD-391C-FA4C-93AC-9138E9CBE67F}"/>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6437ECD6-F816-2FBE-95F9-5FD28F9AC6DF}"/>
              </a:ext>
            </a:extLst>
          </p:cNvPr>
          <p:cNvSpPr/>
          <p:nvPr/>
        </p:nvSpPr>
        <p:spPr>
          <a:xfrm>
            <a:off x="508000" y="1054100"/>
            <a:ext cx="3098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9FE5C25-170F-3282-86B2-F24144AC9C42}"/>
              </a:ext>
            </a:extLst>
          </p:cNvPr>
          <p:cNvSpPr txBox="1"/>
          <p:nvPr/>
        </p:nvSpPr>
        <p:spPr>
          <a:xfrm>
            <a:off x="635000" y="1117600"/>
            <a:ext cx="2844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DEFENSE / WORKING SIMULATION</a:t>
            </a:r>
          </a:p>
        </p:txBody>
      </p:sp>
      <p:sp>
        <p:nvSpPr>
          <p:cNvPr id="10" name="TextBox 9">
            <a:extLst>
              <a:ext uri="{FF2B5EF4-FFF2-40B4-BE49-F238E27FC236}">
                <a16:creationId xmlns:a16="http://schemas.microsoft.com/office/drawing/2014/main" id="{1B209A57-0A2C-CDFD-088A-3080AEEE98A7}"/>
              </a:ext>
            </a:extLst>
          </p:cNvPr>
          <p:cNvSpPr txBox="1"/>
          <p:nvPr/>
        </p:nvSpPr>
        <p:spPr>
          <a:xfrm>
            <a:off x="508000" y="1778000"/>
            <a:ext cx="6540500" cy="1323439"/>
          </a:xfrm>
          <a:prstGeom prst="rect">
            <a:avLst/>
          </a:prstGeom>
          <a:noFill/>
        </p:spPr>
        <p:txBody>
          <a:bodyPr vert="horz" wrap="square" lIns="0" tIns="0" rIns="0" bIns="0" rtlCol="0">
            <a:spAutoFit/>
          </a:bodyPr>
          <a:lstStyle/>
          <a:p>
            <a:r>
              <a:rPr lang="en-US" sz="4300" b="1">
                <a:solidFill>
                  <a:srgbClr val="14263A"/>
                </a:solidFill>
                <a:latin typeface="Aptos" panose="020B0004020202020204" pitchFamily="34" charset="0"/>
              </a:rPr>
              <a:t>Add the drone
to the squad.</a:t>
            </a:r>
          </a:p>
        </p:txBody>
      </p:sp>
      <p:sp>
        <p:nvSpPr>
          <p:cNvPr id="11" name="TextBox 10">
            <a:extLst>
              <a:ext uri="{FF2B5EF4-FFF2-40B4-BE49-F238E27FC236}">
                <a16:creationId xmlns:a16="http://schemas.microsoft.com/office/drawing/2014/main" id="{BC852721-D3E7-F534-4B71-13B8A059E363}"/>
              </a:ext>
            </a:extLst>
          </p:cNvPr>
          <p:cNvSpPr txBox="1"/>
          <p:nvPr/>
        </p:nvSpPr>
        <p:spPr>
          <a:xfrm>
            <a:off x="508000" y="3886200"/>
            <a:ext cx="5270500" cy="769441"/>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Plan the mission. Signal changes as the squad moves.</a:t>
            </a:r>
          </a:p>
        </p:txBody>
      </p:sp>
      <p:cxnSp>
        <p:nvCxnSpPr>
          <p:cNvPr id="12" name="Straight Connector 11">
            <a:extLst>
              <a:ext uri="{FF2B5EF4-FFF2-40B4-BE49-F238E27FC236}">
                <a16:creationId xmlns:a16="http://schemas.microsoft.com/office/drawing/2014/main" id="{7CF0E036-CF23-DAAA-1B3C-3BA1377A34F0}"/>
              </a:ext>
            </a:extLst>
          </p:cNvPr>
          <p:cNvCxnSpPr/>
          <p:nvPr/>
        </p:nvCxnSpPr>
        <p:spPr>
          <a:xfrm>
            <a:off x="508000" y="5156200"/>
            <a:ext cx="685800" cy="0"/>
          </a:xfrm>
          <a:prstGeom prst="line">
            <a:avLst/>
          </a:prstGeom>
          <a:ln w="25400">
            <a:solidFill>
              <a:srgbClr val="006B62"/>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4EDC6D-F1C3-1DCD-1BC1-8C317A53361B}"/>
              </a:ext>
            </a:extLst>
          </p:cNvPr>
          <p:cNvSpPr txBox="1"/>
          <p:nvPr/>
        </p:nvSpPr>
        <p:spPr>
          <a:xfrm>
            <a:off x="508000" y="5422900"/>
            <a:ext cx="6096000" cy="246221"/>
          </a:xfrm>
          <a:prstGeom prst="rect">
            <a:avLst/>
          </a:prstGeom>
          <a:noFill/>
        </p:spPr>
        <p:txBody>
          <a:bodyPr vert="horz" wrap="square" lIns="0" tIns="0" rIns="0" bIns="0" rtlCol="0">
            <a:spAutoFit/>
          </a:bodyPr>
          <a:lstStyle/>
          <a:p>
            <a:r>
              <a:rPr lang="en-US" sz="1600" b="1">
                <a:solidFill>
                  <a:srgbClr val="006B62"/>
                </a:solidFill>
                <a:latin typeface="Aptos" panose="020B0004020202020204" pitchFamily="34" charset="0"/>
              </a:rPr>
              <a:t>ONE SQUAD. SHARED DRONE SUPPORT.</a:t>
            </a:r>
          </a:p>
        </p:txBody>
      </p:sp>
      <p:cxnSp>
        <p:nvCxnSpPr>
          <p:cNvPr id="14" name="Straight Connector 13">
            <a:extLst>
              <a:ext uri="{FF2B5EF4-FFF2-40B4-BE49-F238E27FC236}">
                <a16:creationId xmlns:a16="http://schemas.microsoft.com/office/drawing/2014/main" id="{443008B9-665B-8B10-5142-8A033DBACFF4}"/>
              </a:ext>
            </a:extLst>
          </p:cNvPr>
          <p:cNvCxnSpPr/>
          <p:nvPr/>
        </p:nvCxnSpPr>
        <p:spPr>
          <a:xfrm>
            <a:off x="7035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93BAF6C-DEF2-07B4-6DAB-AE65404E9173}"/>
              </a:ext>
            </a:extLst>
          </p:cNvPr>
          <p:cNvCxnSpPr/>
          <p:nvPr/>
        </p:nvCxnSpPr>
        <p:spPr>
          <a:xfrm>
            <a:off x="7442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BA464B9-59C0-1E63-F01B-65080F96DB57}"/>
              </a:ext>
            </a:extLst>
          </p:cNvPr>
          <p:cNvCxnSpPr/>
          <p:nvPr/>
        </p:nvCxnSpPr>
        <p:spPr>
          <a:xfrm>
            <a:off x="7848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6A091F2-5A5B-D033-CABB-CA76D9F05BE1}"/>
              </a:ext>
            </a:extLst>
          </p:cNvPr>
          <p:cNvCxnSpPr/>
          <p:nvPr/>
        </p:nvCxnSpPr>
        <p:spPr>
          <a:xfrm>
            <a:off x="8255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FBD09E5-7469-9F01-59E0-C86570C2399B}"/>
              </a:ext>
            </a:extLst>
          </p:cNvPr>
          <p:cNvCxnSpPr/>
          <p:nvPr/>
        </p:nvCxnSpPr>
        <p:spPr>
          <a:xfrm>
            <a:off x="8661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4BC9D6DC-6B21-6CD2-4B3A-D24E69AF1463}"/>
              </a:ext>
            </a:extLst>
          </p:cNvPr>
          <p:cNvCxnSpPr/>
          <p:nvPr/>
        </p:nvCxnSpPr>
        <p:spPr>
          <a:xfrm>
            <a:off x="9067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1C12134-43D6-07F9-1A55-4595AA3C90AB}"/>
              </a:ext>
            </a:extLst>
          </p:cNvPr>
          <p:cNvCxnSpPr/>
          <p:nvPr/>
        </p:nvCxnSpPr>
        <p:spPr>
          <a:xfrm>
            <a:off x="9474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75FE50C-CFB1-5078-1ACE-B528870B2C78}"/>
              </a:ext>
            </a:extLst>
          </p:cNvPr>
          <p:cNvCxnSpPr/>
          <p:nvPr/>
        </p:nvCxnSpPr>
        <p:spPr>
          <a:xfrm>
            <a:off x="9880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24B0F5E-CD47-56A7-AF4B-6B75DE93042F}"/>
              </a:ext>
            </a:extLst>
          </p:cNvPr>
          <p:cNvCxnSpPr/>
          <p:nvPr/>
        </p:nvCxnSpPr>
        <p:spPr>
          <a:xfrm>
            <a:off x="10287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857F072-9FA6-2F08-6E1F-F4E98434D840}"/>
              </a:ext>
            </a:extLst>
          </p:cNvPr>
          <p:cNvCxnSpPr/>
          <p:nvPr/>
        </p:nvCxnSpPr>
        <p:spPr>
          <a:xfrm>
            <a:off x="10693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414622-3952-DCD3-1C79-79FE0F71D64A}"/>
              </a:ext>
            </a:extLst>
          </p:cNvPr>
          <p:cNvCxnSpPr/>
          <p:nvPr/>
        </p:nvCxnSpPr>
        <p:spPr>
          <a:xfrm>
            <a:off x="11099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7DDE3B5-10CA-7D8E-179A-42D417046273}"/>
              </a:ext>
            </a:extLst>
          </p:cNvPr>
          <p:cNvCxnSpPr/>
          <p:nvPr/>
        </p:nvCxnSpPr>
        <p:spPr>
          <a:xfrm>
            <a:off x="11506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9C3F5EF-38C4-173D-1F82-0ECFDDF98C40}"/>
              </a:ext>
            </a:extLst>
          </p:cNvPr>
          <p:cNvCxnSpPr/>
          <p:nvPr/>
        </p:nvCxnSpPr>
        <p:spPr>
          <a:xfrm>
            <a:off x="7035800" y="1651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E53106C-D07F-85A5-B8E3-4F251D28F8CE}"/>
              </a:ext>
            </a:extLst>
          </p:cNvPr>
          <p:cNvCxnSpPr/>
          <p:nvPr/>
        </p:nvCxnSpPr>
        <p:spPr>
          <a:xfrm>
            <a:off x="7035800" y="2057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4772900-1ACC-4CE1-DF9B-5D7E79429946}"/>
              </a:ext>
            </a:extLst>
          </p:cNvPr>
          <p:cNvCxnSpPr/>
          <p:nvPr/>
        </p:nvCxnSpPr>
        <p:spPr>
          <a:xfrm>
            <a:off x="7035800" y="2463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5D2B22F-F8A4-39B1-9CB3-B9D26654E83E}"/>
              </a:ext>
            </a:extLst>
          </p:cNvPr>
          <p:cNvCxnSpPr/>
          <p:nvPr/>
        </p:nvCxnSpPr>
        <p:spPr>
          <a:xfrm>
            <a:off x="7035800" y="2870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226B032-E372-D6EB-F4C6-C74ABD81D429}"/>
              </a:ext>
            </a:extLst>
          </p:cNvPr>
          <p:cNvCxnSpPr/>
          <p:nvPr/>
        </p:nvCxnSpPr>
        <p:spPr>
          <a:xfrm>
            <a:off x="7035800" y="3276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FDCF26D-5EF0-784D-D2A7-89F5C436F3B8}"/>
              </a:ext>
            </a:extLst>
          </p:cNvPr>
          <p:cNvCxnSpPr/>
          <p:nvPr/>
        </p:nvCxnSpPr>
        <p:spPr>
          <a:xfrm>
            <a:off x="7035800" y="3683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F1B8B8C-B588-3999-FF93-BF0954DF25FC}"/>
              </a:ext>
            </a:extLst>
          </p:cNvPr>
          <p:cNvCxnSpPr/>
          <p:nvPr/>
        </p:nvCxnSpPr>
        <p:spPr>
          <a:xfrm>
            <a:off x="7035800" y="4089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AE13B1B-7598-5229-603B-86198FE86462}"/>
              </a:ext>
            </a:extLst>
          </p:cNvPr>
          <p:cNvCxnSpPr/>
          <p:nvPr/>
        </p:nvCxnSpPr>
        <p:spPr>
          <a:xfrm>
            <a:off x="7035800" y="4495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B88F60A-B15E-F310-0DDF-9BF9BD805D60}"/>
              </a:ext>
            </a:extLst>
          </p:cNvPr>
          <p:cNvCxnSpPr/>
          <p:nvPr/>
        </p:nvCxnSpPr>
        <p:spPr>
          <a:xfrm>
            <a:off x="7035800" y="4902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4DDBE66-0510-9ECD-AAC2-B7824B657B24}"/>
              </a:ext>
            </a:extLst>
          </p:cNvPr>
          <p:cNvCxnSpPr/>
          <p:nvPr/>
        </p:nvCxnSpPr>
        <p:spPr>
          <a:xfrm>
            <a:off x="7035800" y="5308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78D81A4D-4427-72C4-0241-9507A4B8CB23}"/>
              </a:ext>
            </a:extLst>
          </p:cNvPr>
          <p:cNvSpPr/>
          <p:nvPr/>
        </p:nvSpPr>
        <p:spPr>
          <a:xfrm>
            <a:off x="7531100" y="2120900"/>
            <a:ext cx="3302000" cy="3302000"/>
          </a:xfrm>
          <a:prstGeom prst="ellipse">
            <a:avLst/>
          </a:prstGeom>
          <a:noFill/>
          <a:ln w="25400" cap="flat" cmpd="sng" algn="ctr">
            <a:solidFill>
              <a:srgbClr val="DFE6E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A77CB22-B4F1-F72B-E1D7-DC031E11813C}"/>
              </a:ext>
            </a:extLst>
          </p:cNvPr>
          <p:cNvSpPr/>
          <p:nvPr/>
        </p:nvSpPr>
        <p:spPr>
          <a:xfrm>
            <a:off x="8031480" y="3220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00691ACF-A539-BC81-B8C4-1C877EC87AD9}"/>
              </a:ext>
            </a:extLst>
          </p:cNvPr>
          <p:cNvSpPr/>
          <p:nvPr/>
        </p:nvSpPr>
        <p:spPr>
          <a:xfrm>
            <a:off x="8001000" y="3403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438D5E4D-8564-D803-6BD5-AC5FE35FE2FE}"/>
              </a:ext>
            </a:extLst>
          </p:cNvPr>
          <p:cNvCxnSpPr/>
          <p:nvPr/>
        </p:nvCxnSpPr>
        <p:spPr>
          <a:xfrm flipH="1">
            <a:off x="800100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6245E1C-EE95-80E9-CAD2-5A4B2C862483}"/>
              </a:ext>
            </a:extLst>
          </p:cNvPr>
          <p:cNvCxnSpPr/>
          <p:nvPr/>
        </p:nvCxnSpPr>
        <p:spPr>
          <a:xfrm>
            <a:off x="817372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FA0BEB3B-1E5B-5CC9-1943-AFF9FD4F06F0}"/>
              </a:ext>
            </a:extLst>
          </p:cNvPr>
          <p:cNvCxnSpPr/>
          <p:nvPr/>
        </p:nvCxnSpPr>
        <p:spPr>
          <a:xfrm flipH="1">
            <a:off x="7879080" y="3474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686769F-E4DF-C845-04A9-C636969AC7EC}"/>
              </a:ext>
            </a:extLst>
          </p:cNvPr>
          <p:cNvCxnSpPr/>
          <p:nvPr/>
        </p:nvCxnSpPr>
        <p:spPr>
          <a:xfrm flipV="1">
            <a:off x="8173720" y="3281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8B7122F3-7035-1AA0-BBA4-40D2B68147E9}"/>
              </a:ext>
            </a:extLst>
          </p:cNvPr>
          <p:cNvSpPr/>
          <p:nvPr/>
        </p:nvSpPr>
        <p:spPr>
          <a:xfrm>
            <a:off x="9047480" y="385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4D5A8925-7FF5-B736-7295-F9F5ED5B05FA}"/>
              </a:ext>
            </a:extLst>
          </p:cNvPr>
          <p:cNvSpPr/>
          <p:nvPr/>
        </p:nvSpPr>
        <p:spPr>
          <a:xfrm>
            <a:off x="9017000" y="403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E0578111-4362-37F8-9CBF-AB3BA63B2433}"/>
              </a:ext>
            </a:extLst>
          </p:cNvPr>
          <p:cNvCxnSpPr/>
          <p:nvPr/>
        </p:nvCxnSpPr>
        <p:spPr>
          <a:xfrm flipH="1">
            <a:off x="901700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3755613A-6266-1EAD-A502-A774D18E9F44}"/>
              </a:ext>
            </a:extLst>
          </p:cNvPr>
          <p:cNvCxnSpPr/>
          <p:nvPr/>
        </p:nvCxnSpPr>
        <p:spPr>
          <a:xfrm>
            <a:off x="918972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EE166726-729A-A793-9A6C-6D8C3022B9D8}"/>
              </a:ext>
            </a:extLst>
          </p:cNvPr>
          <p:cNvCxnSpPr/>
          <p:nvPr/>
        </p:nvCxnSpPr>
        <p:spPr>
          <a:xfrm flipH="1">
            <a:off x="8895080" y="410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50FDE65A-8E3E-7953-4C42-484F17DCD91F}"/>
              </a:ext>
            </a:extLst>
          </p:cNvPr>
          <p:cNvCxnSpPr/>
          <p:nvPr/>
        </p:nvCxnSpPr>
        <p:spPr>
          <a:xfrm flipV="1">
            <a:off x="9189720" y="391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4FD38FF3-C93A-0DEE-4DF9-87D23CEE19EC}"/>
              </a:ext>
            </a:extLst>
          </p:cNvPr>
          <p:cNvSpPr/>
          <p:nvPr/>
        </p:nvSpPr>
        <p:spPr>
          <a:xfrm>
            <a:off x="10228580" y="40081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3AFFC937-ABB1-25EE-0D0F-DAA22D62AA8C}"/>
              </a:ext>
            </a:extLst>
          </p:cNvPr>
          <p:cNvSpPr/>
          <p:nvPr/>
        </p:nvSpPr>
        <p:spPr>
          <a:xfrm>
            <a:off x="10198100" y="41910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CCC4975C-4E24-34A2-BFB6-289CDAD516F1}"/>
              </a:ext>
            </a:extLst>
          </p:cNvPr>
          <p:cNvCxnSpPr/>
          <p:nvPr/>
        </p:nvCxnSpPr>
        <p:spPr>
          <a:xfrm flipH="1">
            <a:off x="1019810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B63595F-FA1C-418A-5E32-D87D2921AACB}"/>
              </a:ext>
            </a:extLst>
          </p:cNvPr>
          <p:cNvCxnSpPr/>
          <p:nvPr/>
        </p:nvCxnSpPr>
        <p:spPr>
          <a:xfrm>
            <a:off x="1037082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463CC29-4923-AF2D-F33D-62770F659518}"/>
              </a:ext>
            </a:extLst>
          </p:cNvPr>
          <p:cNvCxnSpPr/>
          <p:nvPr/>
        </p:nvCxnSpPr>
        <p:spPr>
          <a:xfrm flipH="1">
            <a:off x="10076180" y="42621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D85A4E9-98BF-AABE-CB70-09530A8EC167}"/>
              </a:ext>
            </a:extLst>
          </p:cNvPr>
          <p:cNvCxnSpPr/>
          <p:nvPr/>
        </p:nvCxnSpPr>
        <p:spPr>
          <a:xfrm flipV="1">
            <a:off x="10370820" y="40690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AA578599-E505-A11D-6A46-9A8DC8168F7F}"/>
              </a:ext>
            </a:extLst>
          </p:cNvPr>
          <p:cNvSpPr/>
          <p:nvPr/>
        </p:nvSpPr>
        <p:spPr>
          <a:xfrm>
            <a:off x="8945880" y="258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EAAA35A2-2597-A7CA-0F14-9F3CDB99269B}"/>
              </a:ext>
            </a:extLst>
          </p:cNvPr>
          <p:cNvSpPr/>
          <p:nvPr/>
        </p:nvSpPr>
        <p:spPr>
          <a:xfrm>
            <a:off x="8915400" y="276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1A0D2701-95A2-24F6-A9BA-CACC7E9CCBC0}"/>
              </a:ext>
            </a:extLst>
          </p:cNvPr>
          <p:cNvCxnSpPr/>
          <p:nvPr/>
        </p:nvCxnSpPr>
        <p:spPr>
          <a:xfrm flipH="1">
            <a:off x="891540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34ED38B9-E741-BAE5-A2DB-EC59CAFBFCA8}"/>
              </a:ext>
            </a:extLst>
          </p:cNvPr>
          <p:cNvCxnSpPr/>
          <p:nvPr/>
        </p:nvCxnSpPr>
        <p:spPr>
          <a:xfrm>
            <a:off x="908812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35DDC708-5B3F-C57F-D2B6-82B962FED42E}"/>
              </a:ext>
            </a:extLst>
          </p:cNvPr>
          <p:cNvCxnSpPr/>
          <p:nvPr/>
        </p:nvCxnSpPr>
        <p:spPr>
          <a:xfrm flipH="1">
            <a:off x="8793480" y="283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0A033FC-C4C1-C325-B2B7-2787042519C0}"/>
              </a:ext>
            </a:extLst>
          </p:cNvPr>
          <p:cNvCxnSpPr/>
          <p:nvPr/>
        </p:nvCxnSpPr>
        <p:spPr>
          <a:xfrm flipV="1">
            <a:off x="9088120" y="264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1CE77CDB-53B4-120E-8CA0-2995BB79C54B}"/>
              </a:ext>
            </a:extLst>
          </p:cNvPr>
          <p:cNvCxnSpPr/>
          <p:nvPr/>
        </p:nvCxnSpPr>
        <p:spPr>
          <a:xfrm flipH="1" flipV="1">
            <a:off x="10153904"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2" name="Oval 61">
            <a:extLst>
              <a:ext uri="{FF2B5EF4-FFF2-40B4-BE49-F238E27FC236}">
                <a16:creationId xmlns:a16="http://schemas.microsoft.com/office/drawing/2014/main" id="{843EDF70-A7AE-0223-DA40-4D288FFF522A}"/>
              </a:ext>
            </a:extLst>
          </p:cNvPr>
          <p:cNvSpPr/>
          <p:nvPr/>
        </p:nvSpPr>
        <p:spPr>
          <a:xfrm>
            <a:off x="10025888"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0B241A2B-CF8E-130D-D23D-3171D5B943A2}"/>
              </a:ext>
            </a:extLst>
          </p:cNvPr>
          <p:cNvCxnSpPr/>
          <p:nvPr/>
        </p:nvCxnSpPr>
        <p:spPr>
          <a:xfrm>
            <a:off x="10068560"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BF8F7E1C-988C-22DD-A449-5CBC734151FD}"/>
              </a:ext>
            </a:extLst>
          </p:cNvPr>
          <p:cNvCxnSpPr/>
          <p:nvPr/>
        </p:nvCxnSpPr>
        <p:spPr>
          <a:xfrm flipV="1">
            <a:off x="10388600"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6F2BEB0F-2D60-7844-D078-C72FBCF8D7B6}"/>
              </a:ext>
            </a:extLst>
          </p:cNvPr>
          <p:cNvSpPr/>
          <p:nvPr/>
        </p:nvSpPr>
        <p:spPr>
          <a:xfrm>
            <a:off x="10495280"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74C39F7C-C7C6-6531-4F3D-CD06F365BBA4}"/>
              </a:ext>
            </a:extLst>
          </p:cNvPr>
          <p:cNvCxnSpPr/>
          <p:nvPr/>
        </p:nvCxnSpPr>
        <p:spPr>
          <a:xfrm>
            <a:off x="10537952"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FE2737A-B693-17AE-7B03-BA8B786CC89B}"/>
              </a:ext>
            </a:extLst>
          </p:cNvPr>
          <p:cNvCxnSpPr/>
          <p:nvPr/>
        </p:nvCxnSpPr>
        <p:spPr>
          <a:xfrm flipH="1">
            <a:off x="10153904"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FC3766BE-8639-85AB-DEE8-FDBB7FB60C4D}"/>
              </a:ext>
            </a:extLst>
          </p:cNvPr>
          <p:cNvSpPr/>
          <p:nvPr/>
        </p:nvSpPr>
        <p:spPr>
          <a:xfrm>
            <a:off x="10025888"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A12C444C-11F2-7FB4-DA97-958077AFEDB9}"/>
              </a:ext>
            </a:extLst>
          </p:cNvPr>
          <p:cNvCxnSpPr/>
          <p:nvPr/>
        </p:nvCxnSpPr>
        <p:spPr>
          <a:xfrm>
            <a:off x="10068560"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55AEF66-05B5-4EE6-4ADC-BDB4996E5441}"/>
              </a:ext>
            </a:extLst>
          </p:cNvPr>
          <p:cNvCxnSpPr/>
          <p:nvPr/>
        </p:nvCxnSpPr>
        <p:spPr>
          <a:xfrm>
            <a:off x="10388600"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ABEA8823-F331-6415-C67C-4EE931DA0A87}"/>
              </a:ext>
            </a:extLst>
          </p:cNvPr>
          <p:cNvSpPr/>
          <p:nvPr/>
        </p:nvSpPr>
        <p:spPr>
          <a:xfrm>
            <a:off x="10495280"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0F6A754-7215-90EB-5452-28DB5850AC92}"/>
              </a:ext>
            </a:extLst>
          </p:cNvPr>
          <p:cNvCxnSpPr/>
          <p:nvPr/>
        </p:nvCxnSpPr>
        <p:spPr>
          <a:xfrm>
            <a:off x="10537952"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448CC039-3AD7-4C20-A453-8A05DA47D443}"/>
              </a:ext>
            </a:extLst>
          </p:cNvPr>
          <p:cNvSpPr/>
          <p:nvPr/>
        </p:nvSpPr>
        <p:spPr>
          <a:xfrm>
            <a:off x="10292588" y="2839212"/>
            <a:ext cx="192024" cy="34137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9668B9FA-0372-F77C-E4DC-41DDFFAFF0FD}"/>
              </a:ext>
            </a:extLst>
          </p:cNvPr>
          <p:cNvSpPr/>
          <p:nvPr/>
        </p:nvSpPr>
        <p:spPr>
          <a:xfrm>
            <a:off x="10356596" y="2903220"/>
            <a:ext cx="64007" cy="6400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19FCC7CE-5BC9-32E8-6AA4-CA4AFD882D66}"/>
              </a:ext>
            </a:extLst>
          </p:cNvPr>
          <p:cNvCxnSpPr/>
          <p:nvPr/>
        </p:nvCxnSpPr>
        <p:spPr>
          <a:xfrm>
            <a:off x="9398000" y="2794000"/>
            <a:ext cx="546100" cy="152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80115337-75E7-EDCD-4112-9FC3166F7386}"/>
              </a:ext>
            </a:extLst>
          </p:cNvPr>
          <p:cNvSpPr/>
          <p:nvPr/>
        </p:nvSpPr>
        <p:spPr>
          <a:xfrm>
            <a:off x="9613900" y="1968500"/>
            <a:ext cx="18796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9FE43561-C26D-90DA-C5E2-ED4A52FA10DC}"/>
              </a:ext>
            </a:extLst>
          </p:cNvPr>
          <p:cNvSpPr txBox="1"/>
          <p:nvPr/>
        </p:nvSpPr>
        <p:spPr>
          <a:xfrm>
            <a:off x="9740900" y="2032000"/>
            <a:ext cx="16256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DRONE TEAMMATE</a:t>
            </a:r>
          </a:p>
        </p:txBody>
      </p:sp>
      <p:sp>
        <p:nvSpPr>
          <p:cNvPr id="78" name="Rectangle: Rounded Corners 77">
            <a:extLst>
              <a:ext uri="{FF2B5EF4-FFF2-40B4-BE49-F238E27FC236}">
                <a16:creationId xmlns:a16="http://schemas.microsoft.com/office/drawing/2014/main" id="{B4319A25-9004-F2B3-78F0-D474778F13DA}"/>
              </a:ext>
            </a:extLst>
          </p:cNvPr>
          <p:cNvSpPr/>
          <p:nvPr/>
        </p:nvSpPr>
        <p:spPr>
          <a:xfrm>
            <a:off x="8331200" y="4864100"/>
            <a:ext cx="15240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DAE98FEE-852C-C783-1955-AFC45CBD00E1}"/>
              </a:ext>
            </a:extLst>
          </p:cNvPr>
          <p:cNvSpPr txBox="1"/>
          <p:nvPr/>
        </p:nvSpPr>
        <p:spPr>
          <a:xfrm>
            <a:off x="8458200" y="4927600"/>
            <a:ext cx="12700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THE SQUAD</a:t>
            </a:r>
          </a:p>
        </p:txBody>
      </p:sp>
      <p:sp>
        <p:nvSpPr>
          <p:cNvPr id="80" name="TextBox 79">
            <a:extLst>
              <a:ext uri="{FF2B5EF4-FFF2-40B4-BE49-F238E27FC236}">
                <a16:creationId xmlns:a16="http://schemas.microsoft.com/office/drawing/2014/main" id="{BEA08FF6-11FE-1D11-8DBA-47BBDED96067}"/>
              </a:ext>
            </a:extLst>
          </p:cNvPr>
          <p:cNvSpPr txBox="1"/>
          <p:nvPr/>
        </p:nvSpPr>
        <p:spPr>
          <a:xfrm>
            <a:off x="7975600" y="5702300"/>
            <a:ext cx="3810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ILLUSTRATIVE SQUAD CONCEPT</a:t>
            </a:r>
          </a:p>
        </p:txBody>
      </p:sp>
      <p:sp>
        <p:nvSpPr>
          <p:cNvPr id="81" name="TextBox 80">
            <a:extLst>
              <a:ext uri="{FF2B5EF4-FFF2-40B4-BE49-F238E27FC236}">
                <a16:creationId xmlns:a16="http://schemas.microsoft.com/office/drawing/2014/main" id="{7F2A095B-B653-8530-0600-A6375020A4B8}"/>
              </a:ext>
            </a:extLst>
          </p:cNvPr>
          <p:cNvSpPr txBox="1"/>
          <p:nvPr/>
        </p:nvSpPr>
        <p:spPr>
          <a:xfrm>
            <a:off x="508000" y="5943600"/>
            <a:ext cx="6985000" cy="169277"/>
          </a:xfrm>
          <a:prstGeom prst="rect">
            <a:avLst/>
          </a:prstGeom>
          <a:noFill/>
        </p:spPr>
        <p:txBody>
          <a:bodyPr vert="horz" wrap="square" lIns="0" tIns="0" rIns="0" bIns="0" rtlCol="0">
            <a:spAutoFit/>
          </a:bodyPr>
          <a:lstStyle/>
          <a:p>
            <a:r>
              <a:rPr lang="en-US" sz="1100">
                <a:solidFill>
                  <a:srgbClr val="617286"/>
                </a:solidFill>
                <a:latin typeface="Aptos" panose="020B0004020202020204" pitchFamily="34" charset="0"/>
              </a:rPr>
              <a:t>WHY NOW: Army drone specialists may join squads. [1]</a:t>
            </a:r>
          </a:p>
        </p:txBody>
      </p:sp>
      <p:sp>
        <p:nvSpPr>
          <p:cNvPr id="82" name="TextBox 81">
            <a:hlinkClick r:id="rId3"/>
            <a:extLst>
              <a:ext uri="{FF2B5EF4-FFF2-40B4-BE49-F238E27FC236}">
                <a16:creationId xmlns:a16="http://schemas.microsoft.com/office/drawing/2014/main" id="{FA192E68-2630-E72D-296A-9280876CCF52}"/>
              </a:ext>
            </a:extLst>
          </p:cNvPr>
          <p:cNvSpPr txBox="1"/>
          <p:nvPr/>
        </p:nvSpPr>
        <p:spPr>
          <a:xfrm>
            <a:off x="8267700" y="5969000"/>
            <a:ext cx="34036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[1] Task &amp; Purpose · Aug. 31, 2026</a:t>
            </a:r>
          </a:p>
        </p:txBody>
      </p:sp>
    </p:spTree>
    <p:extLst>
      <p:ext uri="{BB962C8B-B14F-4D97-AF65-F5344CB8AC3E}">
        <p14:creationId xmlns:p14="http://schemas.microsoft.com/office/powerpoint/2010/main" val="1153347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2DAA03-B5CA-DEB6-EA74-6249718DA79E}"/>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28FADEB9-A0D8-4989-CF9C-8B4C70C1924F}"/>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 / PROBLEM → PROPOSED INTERACTION</a:t>
            </a:r>
          </a:p>
        </p:txBody>
      </p:sp>
      <p:sp>
        <p:nvSpPr>
          <p:cNvPr id="4" name="TextBox 3">
            <a:extLst>
              <a:ext uri="{FF2B5EF4-FFF2-40B4-BE49-F238E27FC236}">
                <a16:creationId xmlns:a16="http://schemas.microsoft.com/office/drawing/2014/main" id="{66DE6E9C-83C3-0753-B661-8111CD4E65DD}"/>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The squad needs to adapt. Eyes stay up.</a:t>
            </a:r>
          </a:p>
        </p:txBody>
      </p:sp>
      <p:cxnSp>
        <p:nvCxnSpPr>
          <p:cNvPr id="5" name="Straight Connector 4">
            <a:extLst>
              <a:ext uri="{FF2B5EF4-FFF2-40B4-BE49-F238E27FC236}">
                <a16:creationId xmlns:a16="http://schemas.microsoft.com/office/drawing/2014/main" id="{F7119FBC-4E92-2CC4-902A-9B59B9272C4C}"/>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2C7D861-4A29-3AEA-63D2-25086DD0B9E8}"/>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B8103AA9-9711-892C-DE45-3521C90167BE}"/>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32032B52-2E33-1B52-F66D-066CE6AD7557}"/>
              </a:ext>
            </a:extLst>
          </p:cNvPr>
          <p:cNvSpPr/>
          <p:nvPr/>
        </p:nvSpPr>
        <p:spPr>
          <a:xfrm>
            <a:off x="508000" y="1968500"/>
            <a:ext cx="5003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EDFDDA9-B8D8-9E88-51B3-F236E98922B2}"/>
              </a:ext>
            </a:extLst>
          </p:cNvPr>
          <p:cNvSpPr txBox="1"/>
          <p:nvPr/>
        </p:nvSpPr>
        <p:spPr>
          <a:xfrm>
            <a:off x="635000" y="2032000"/>
            <a:ext cx="4749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OPERATING CONTEXT: GPS-DENIED ENVIRONMENTS</a:t>
            </a:r>
          </a:p>
        </p:txBody>
      </p:sp>
      <p:sp>
        <p:nvSpPr>
          <p:cNvPr id="10" name="Rectangle 9">
            <a:extLst>
              <a:ext uri="{FF2B5EF4-FFF2-40B4-BE49-F238E27FC236}">
                <a16:creationId xmlns:a16="http://schemas.microsoft.com/office/drawing/2014/main" id="{2ADEF76D-C361-B352-3F82-889C22CF5546}"/>
              </a:ext>
            </a:extLst>
          </p:cNvPr>
          <p:cNvSpPr/>
          <p:nvPr/>
        </p:nvSpPr>
        <p:spPr>
          <a:xfrm>
            <a:off x="508000" y="2501900"/>
            <a:ext cx="5422900" cy="26289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9A735C5-E737-75C4-15E0-E576E9BBC628}"/>
              </a:ext>
            </a:extLst>
          </p:cNvPr>
          <p:cNvSpPr/>
          <p:nvPr/>
        </p:nvSpPr>
        <p:spPr>
          <a:xfrm>
            <a:off x="6184900" y="2501900"/>
            <a:ext cx="5499100" cy="26289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292AF2A-DCB6-D46D-CCDB-C0D1A5DEFCBE}"/>
              </a:ext>
            </a:extLst>
          </p:cNvPr>
          <p:cNvSpPr txBox="1"/>
          <p:nvPr/>
        </p:nvSpPr>
        <p:spPr>
          <a:xfrm>
            <a:off x="723900" y="2667000"/>
            <a:ext cx="50165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WORKFLOW DESCRIBED TO US</a:t>
            </a:r>
          </a:p>
        </p:txBody>
      </p:sp>
      <p:sp>
        <p:nvSpPr>
          <p:cNvPr id="13" name="TextBox 12">
            <a:extLst>
              <a:ext uri="{FF2B5EF4-FFF2-40B4-BE49-F238E27FC236}">
                <a16:creationId xmlns:a16="http://schemas.microsoft.com/office/drawing/2014/main" id="{9E9091B9-9669-E466-C132-A50F92332297}"/>
              </a:ext>
            </a:extLst>
          </p:cNvPr>
          <p:cNvSpPr txBox="1"/>
          <p:nvPr/>
        </p:nvSpPr>
        <p:spPr>
          <a:xfrm>
            <a:off x="723900" y="3048000"/>
            <a:ext cx="50165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Small, chest-mounted tablet</a:t>
            </a:r>
          </a:p>
        </p:txBody>
      </p:sp>
      <p:sp>
        <p:nvSpPr>
          <p:cNvPr id="14" name="Oval 13">
            <a:extLst>
              <a:ext uri="{FF2B5EF4-FFF2-40B4-BE49-F238E27FC236}">
                <a16:creationId xmlns:a16="http://schemas.microsoft.com/office/drawing/2014/main" id="{BD92E9CD-8408-C7C7-4FDA-4BFD312242C1}"/>
              </a:ext>
            </a:extLst>
          </p:cNvPr>
          <p:cNvSpPr/>
          <p:nvPr/>
        </p:nvSpPr>
        <p:spPr>
          <a:xfrm>
            <a:off x="1140206" y="40147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C0E95D4-2A90-F18B-0BE7-529336392BA0}"/>
              </a:ext>
            </a:extLst>
          </p:cNvPr>
          <p:cNvSpPr/>
          <p:nvPr/>
        </p:nvSpPr>
        <p:spPr>
          <a:xfrm>
            <a:off x="1122680" y="41198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7F9D333-8D32-6EAA-0839-2D98952E3241}"/>
              </a:ext>
            </a:extLst>
          </p:cNvPr>
          <p:cNvCxnSpPr/>
          <p:nvPr/>
        </p:nvCxnSpPr>
        <p:spPr>
          <a:xfrm flipH="1">
            <a:off x="1122680"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5575C34-9825-4DFD-8677-AA6F15F5E5D0}"/>
              </a:ext>
            </a:extLst>
          </p:cNvPr>
          <p:cNvCxnSpPr/>
          <p:nvPr/>
        </p:nvCxnSpPr>
        <p:spPr>
          <a:xfrm>
            <a:off x="1221994"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B94A605-2436-06C3-BD56-8199997E238E}"/>
              </a:ext>
            </a:extLst>
          </p:cNvPr>
          <p:cNvCxnSpPr/>
          <p:nvPr/>
        </p:nvCxnSpPr>
        <p:spPr>
          <a:xfrm flipH="1">
            <a:off x="1052576" y="41607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A50FA4-1A14-19BC-3C35-CD86B7B34B20}"/>
              </a:ext>
            </a:extLst>
          </p:cNvPr>
          <p:cNvCxnSpPr/>
          <p:nvPr/>
        </p:nvCxnSpPr>
        <p:spPr>
          <a:xfrm flipV="1">
            <a:off x="1221994" y="40497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9276A973-FFC7-6478-E7B4-89FFA58700E7}"/>
              </a:ext>
            </a:extLst>
          </p:cNvPr>
          <p:cNvSpPr/>
          <p:nvPr/>
        </p:nvSpPr>
        <p:spPr>
          <a:xfrm>
            <a:off x="1787906" y="42306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BF5CEE9-9628-8470-B128-6D7E4D2B305A}"/>
              </a:ext>
            </a:extLst>
          </p:cNvPr>
          <p:cNvSpPr/>
          <p:nvPr/>
        </p:nvSpPr>
        <p:spPr>
          <a:xfrm>
            <a:off x="1770380" y="43357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7A97772A-A819-B98B-20DC-64707142C0B8}"/>
              </a:ext>
            </a:extLst>
          </p:cNvPr>
          <p:cNvCxnSpPr/>
          <p:nvPr/>
        </p:nvCxnSpPr>
        <p:spPr>
          <a:xfrm flipH="1">
            <a:off x="1770380"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0A961A6-59CA-6873-694F-40E6B61CDA5A}"/>
              </a:ext>
            </a:extLst>
          </p:cNvPr>
          <p:cNvCxnSpPr/>
          <p:nvPr/>
        </p:nvCxnSpPr>
        <p:spPr>
          <a:xfrm>
            <a:off x="1869694"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EF1D943-6167-C471-2258-9ED6708A4E4C}"/>
              </a:ext>
            </a:extLst>
          </p:cNvPr>
          <p:cNvCxnSpPr/>
          <p:nvPr/>
        </p:nvCxnSpPr>
        <p:spPr>
          <a:xfrm flipH="1">
            <a:off x="1700276" y="43766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2B52E02-EB6A-10B9-A9F6-D4F3BFE40DED}"/>
              </a:ext>
            </a:extLst>
          </p:cNvPr>
          <p:cNvCxnSpPr/>
          <p:nvPr/>
        </p:nvCxnSpPr>
        <p:spPr>
          <a:xfrm flipV="1">
            <a:off x="1869694" y="42656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5506CDAD-70DF-6BD4-3EAF-4174D39DB4D7}"/>
              </a:ext>
            </a:extLst>
          </p:cNvPr>
          <p:cNvSpPr/>
          <p:nvPr/>
        </p:nvSpPr>
        <p:spPr>
          <a:xfrm>
            <a:off x="2552700" y="3556000"/>
            <a:ext cx="254000" cy="254000"/>
          </a:xfrm>
          <a:prstGeom prst="ellipse">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D376412-71E0-2A8F-7C17-2D8357AD25E5}"/>
              </a:ext>
            </a:extLst>
          </p:cNvPr>
          <p:cNvSpPr/>
          <p:nvPr/>
        </p:nvSpPr>
        <p:spPr>
          <a:xfrm>
            <a:off x="2514600" y="3898900"/>
            <a:ext cx="330200" cy="609600"/>
          </a:xfrm>
          <a:prstGeom prst="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4EAE8833-824D-9ADD-6392-532140FB905A}"/>
              </a:ext>
            </a:extLst>
          </p:cNvPr>
          <p:cNvCxnSpPr/>
          <p:nvPr/>
        </p:nvCxnSpPr>
        <p:spPr>
          <a:xfrm flipH="1">
            <a:off x="2527300" y="4457700"/>
            <a:ext cx="508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23D71CF-19F7-7F6F-9061-DA7A0A956C88}"/>
              </a:ext>
            </a:extLst>
          </p:cNvPr>
          <p:cNvCxnSpPr/>
          <p:nvPr/>
        </p:nvCxnSpPr>
        <p:spPr>
          <a:xfrm>
            <a:off x="2781300" y="4457700"/>
            <a:ext cx="762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B2EFF2F6-3ABD-EE01-159D-689DBDBD2C17}"/>
              </a:ext>
            </a:extLst>
          </p:cNvPr>
          <p:cNvSpPr/>
          <p:nvPr/>
        </p:nvSpPr>
        <p:spPr>
          <a:xfrm>
            <a:off x="2641600" y="3975100"/>
            <a:ext cx="469900" cy="330200"/>
          </a:xfrm>
          <a:prstGeom prst="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378B2F2-4E37-786F-0388-D55F666C23D6}"/>
              </a:ext>
            </a:extLst>
          </p:cNvPr>
          <p:cNvSpPr/>
          <p:nvPr/>
        </p:nvSpPr>
        <p:spPr>
          <a:xfrm>
            <a:off x="2705100" y="4025900"/>
            <a:ext cx="342900" cy="21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A0A829E6-AB11-37C3-DD05-A2688988BA85}"/>
              </a:ext>
            </a:extLst>
          </p:cNvPr>
          <p:cNvCxnSpPr/>
          <p:nvPr/>
        </p:nvCxnSpPr>
        <p:spPr>
          <a:xfrm>
            <a:off x="2768600" y="3708400"/>
            <a:ext cx="177800" cy="190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DB52C4E-5A38-12CC-3CEE-0D22BFDF0C2A}"/>
              </a:ext>
            </a:extLst>
          </p:cNvPr>
          <p:cNvCxnSpPr/>
          <p:nvPr/>
        </p:nvCxnSpPr>
        <p:spPr>
          <a:xfrm>
            <a:off x="2527300" y="3975100"/>
            <a:ext cx="177800" cy="292100"/>
          </a:xfrm>
          <a:prstGeom prst="line">
            <a:avLst/>
          </a:prstGeom>
          <a:ln w="635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F920C6-FFB9-4DC5-AB7E-EF2B30E1A4F7}"/>
              </a:ext>
            </a:extLst>
          </p:cNvPr>
          <p:cNvCxnSpPr/>
          <p:nvPr/>
        </p:nvCxnSpPr>
        <p:spPr>
          <a:xfrm flipV="1">
            <a:off x="3238500" y="3746500"/>
            <a:ext cx="1168400" cy="368300"/>
          </a:xfrm>
          <a:prstGeom prst="line">
            <a:avLst/>
          </a:prstGeom>
          <a:ln w="25400">
            <a:solidFill>
              <a:srgbClr val="617286"/>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C74A8B7-7EBC-5462-7EE4-7CCD7A6E0816}"/>
              </a:ext>
            </a:extLst>
          </p:cNvPr>
          <p:cNvCxnSpPr/>
          <p:nvPr/>
        </p:nvCxnSpPr>
        <p:spPr>
          <a:xfrm flipH="1" flipV="1">
            <a:off x="4871466"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5A7BF3FC-F977-5132-35D0-A65FFFEB00A2}"/>
              </a:ext>
            </a:extLst>
          </p:cNvPr>
          <p:cNvSpPr/>
          <p:nvPr/>
        </p:nvSpPr>
        <p:spPr>
          <a:xfrm>
            <a:off x="4778502"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FD6AAA4B-A953-2F46-4D6C-FFBD5EF75384}"/>
              </a:ext>
            </a:extLst>
          </p:cNvPr>
          <p:cNvCxnSpPr/>
          <p:nvPr/>
        </p:nvCxnSpPr>
        <p:spPr>
          <a:xfrm>
            <a:off x="4809490"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56F2842-388D-9524-777B-49B8C5524167}"/>
              </a:ext>
            </a:extLst>
          </p:cNvPr>
          <p:cNvCxnSpPr/>
          <p:nvPr/>
        </p:nvCxnSpPr>
        <p:spPr>
          <a:xfrm flipV="1">
            <a:off x="5041900"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4BC13226-4D8D-5868-C600-2C5C24EA25F4}"/>
              </a:ext>
            </a:extLst>
          </p:cNvPr>
          <p:cNvSpPr/>
          <p:nvPr/>
        </p:nvSpPr>
        <p:spPr>
          <a:xfrm>
            <a:off x="5119370"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67CCEB94-C6F5-1312-A983-89D8748B8408}"/>
              </a:ext>
            </a:extLst>
          </p:cNvPr>
          <p:cNvCxnSpPr/>
          <p:nvPr/>
        </p:nvCxnSpPr>
        <p:spPr>
          <a:xfrm>
            <a:off x="5150358"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777F18D2-9CFA-50DA-3CDC-6C5FE3F6D8E8}"/>
              </a:ext>
            </a:extLst>
          </p:cNvPr>
          <p:cNvCxnSpPr/>
          <p:nvPr/>
        </p:nvCxnSpPr>
        <p:spPr>
          <a:xfrm flipH="1">
            <a:off x="4871466"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FFC46831-F0C5-708F-ADA5-D39AD231A81B}"/>
              </a:ext>
            </a:extLst>
          </p:cNvPr>
          <p:cNvSpPr/>
          <p:nvPr/>
        </p:nvSpPr>
        <p:spPr>
          <a:xfrm>
            <a:off x="4778502"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2F9B85A-B9D6-A1F9-29D8-0295269AE283}"/>
              </a:ext>
            </a:extLst>
          </p:cNvPr>
          <p:cNvCxnSpPr/>
          <p:nvPr/>
        </p:nvCxnSpPr>
        <p:spPr>
          <a:xfrm>
            <a:off x="4809490"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76E1BF0-9547-4068-93F7-F95FD8183E45}"/>
              </a:ext>
            </a:extLst>
          </p:cNvPr>
          <p:cNvCxnSpPr/>
          <p:nvPr/>
        </p:nvCxnSpPr>
        <p:spPr>
          <a:xfrm>
            <a:off x="5041900"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457EDF63-4BEE-C6C7-53B4-8F1BA78874EE}"/>
              </a:ext>
            </a:extLst>
          </p:cNvPr>
          <p:cNvSpPr/>
          <p:nvPr/>
        </p:nvSpPr>
        <p:spPr>
          <a:xfrm>
            <a:off x="5119370"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5BC357D6-3023-FAAA-D457-DA6692A78216}"/>
              </a:ext>
            </a:extLst>
          </p:cNvPr>
          <p:cNvCxnSpPr/>
          <p:nvPr/>
        </p:nvCxnSpPr>
        <p:spPr>
          <a:xfrm>
            <a:off x="5150358"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19B62E3A-D0B8-DD3D-F4A7-744C27F8785F}"/>
              </a:ext>
            </a:extLst>
          </p:cNvPr>
          <p:cNvSpPr/>
          <p:nvPr/>
        </p:nvSpPr>
        <p:spPr>
          <a:xfrm>
            <a:off x="4972177" y="3571748"/>
            <a:ext cx="139446" cy="24790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5A46CE8-F4EB-C7A2-ECEF-3B5FF8938FA0}"/>
              </a:ext>
            </a:extLst>
          </p:cNvPr>
          <p:cNvSpPr/>
          <p:nvPr/>
        </p:nvSpPr>
        <p:spPr>
          <a:xfrm>
            <a:off x="5018659" y="3618230"/>
            <a:ext cx="46482" cy="4648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A9FE1C79-72D0-C27E-3AF5-052D7730D80D}"/>
              </a:ext>
            </a:extLst>
          </p:cNvPr>
          <p:cNvSpPr txBox="1"/>
          <p:nvPr/>
        </p:nvSpPr>
        <p:spPr>
          <a:xfrm>
            <a:off x="723900" y="4800600"/>
            <a:ext cx="49657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Attention moves to the interface.</a:t>
            </a:r>
          </a:p>
        </p:txBody>
      </p:sp>
      <p:sp>
        <p:nvSpPr>
          <p:cNvPr id="50" name="TextBox 49">
            <a:extLst>
              <a:ext uri="{FF2B5EF4-FFF2-40B4-BE49-F238E27FC236}">
                <a16:creationId xmlns:a16="http://schemas.microsoft.com/office/drawing/2014/main" id="{132E8291-9F11-E464-83DD-45F73831989E}"/>
              </a:ext>
            </a:extLst>
          </p:cNvPr>
          <p:cNvSpPr txBox="1"/>
          <p:nvPr/>
        </p:nvSpPr>
        <p:spPr>
          <a:xfrm>
            <a:off x="6400800" y="2667000"/>
            <a:ext cx="5054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TACTLINK / ONBOARD VISION CONCEPT</a:t>
            </a:r>
          </a:p>
        </p:txBody>
      </p:sp>
      <p:sp>
        <p:nvSpPr>
          <p:cNvPr id="51" name="TextBox 50">
            <a:extLst>
              <a:ext uri="{FF2B5EF4-FFF2-40B4-BE49-F238E27FC236}">
                <a16:creationId xmlns:a16="http://schemas.microsoft.com/office/drawing/2014/main" id="{2C333D6F-C1BB-179E-562F-595B60B32D3D}"/>
              </a:ext>
            </a:extLst>
          </p:cNvPr>
          <p:cNvSpPr txBox="1"/>
          <p:nvPr/>
        </p:nvSpPr>
        <p:spPr>
          <a:xfrm>
            <a:off x="6400800" y="3048000"/>
            <a:ext cx="50673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Signal directly to the drone</a:t>
            </a:r>
          </a:p>
        </p:txBody>
      </p:sp>
      <p:sp>
        <p:nvSpPr>
          <p:cNvPr id="52" name="Oval 51">
            <a:extLst>
              <a:ext uri="{FF2B5EF4-FFF2-40B4-BE49-F238E27FC236}">
                <a16:creationId xmlns:a16="http://schemas.microsoft.com/office/drawing/2014/main" id="{F011DC8E-C28A-6451-FF91-1EA395156E07}"/>
              </a:ext>
            </a:extLst>
          </p:cNvPr>
          <p:cNvSpPr/>
          <p:nvPr/>
        </p:nvSpPr>
        <p:spPr>
          <a:xfrm>
            <a:off x="6829806" y="40147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0F2BCB9F-44C2-B317-06C3-9D9BDEAB4F0D}"/>
              </a:ext>
            </a:extLst>
          </p:cNvPr>
          <p:cNvSpPr/>
          <p:nvPr/>
        </p:nvSpPr>
        <p:spPr>
          <a:xfrm>
            <a:off x="6812280" y="41198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60C3E551-FC09-E4C7-D516-3266154DF0D6}"/>
              </a:ext>
            </a:extLst>
          </p:cNvPr>
          <p:cNvCxnSpPr/>
          <p:nvPr/>
        </p:nvCxnSpPr>
        <p:spPr>
          <a:xfrm flipH="1">
            <a:off x="6812280"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B35E212-3E2B-E240-8A4C-5D58FB6032F7}"/>
              </a:ext>
            </a:extLst>
          </p:cNvPr>
          <p:cNvCxnSpPr/>
          <p:nvPr/>
        </p:nvCxnSpPr>
        <p:spPr>
          <a:xfrm>
            <a:off x="6911594"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CC22A88-5FF3-4614-643A-01B2226F8BD2}"/>
              </a:ext>
            </a:extLst>
          </p:cNvPr>
          <p:cNvCxnSpPr/>
          <p:nvPr/>
        </p:nvCxnSpPr>
        <p:spPr>
          <a:xfrm flipH="1">
            <a:off x="6742176" y="41607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74D54BA5-A193-A192-C1E3-A1AF607B0D41}"/>
              </a:ext>
            </a:extLst>
          </p:cNvPr>
          <p:cNvCxnSpPr/>
          <p:nvPr/>
        </p:nvCxnSpPr>
        <p:spPr>
          <a:xfrm flipV="1">
            <a:off x="6911594" y="40497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7CB5098E-F6DA-F614-2B7F-158D434BE116}"/>
              </a:ext>
            </a:extLst>
          </p:cNvPr>
          <p:cNvSpPr/>
          <p:nvPr/>
        </p:nvSpPr>
        <p:spPr>
          <a:xfrm>
            <a:off x="7464806" y="42306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58B82E2A-6848-DA99-0C42-BAACE8D70FC7}"/>
              </a:ext>
            </a:extLst>
          </p:cNvPr>
          <p:cNvSpPr/>
          <p:nvPr/>
        </p:nvSpPr>
        <p:spPr>
          <a:xfrm>
            <a:off x="7447280" y="43357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4A97670C-39CA-60FA-A9AD-3398E786BF78}"/>
              </a:ext>
            </a:extLst>
          </p:cNvPr>
          <p:cNvCxnSpPr/>
          <p:nvPr/>
        </p:nvCxnSpPr>
        <p:spPr>
          <a:xfrm flipH="1">
            <a:off x="7447280"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673F0411-5314-F39A-B0F1-51DDAE6E6A8A}"/>
              </a:ext>
            </a:extLst>
          </p:cNvPr>
          <p:cNvCxnSpPr/>
          <p:nvPr/>
        </p:nvCxnSpPr>
        <p:spPr>
          <a:xfrm>
            <a:off x="7546594"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05A3F702-25B7-D8D0-CEC6-85D57E25E098}"/>
              </a:ext>
            </a:extLst>
          </p:cNvPr>
          <p:cNvCxnSpPr/>
          <p:nvPr/>
        </p:nvCxnSpPr>
        <p:spPr>
          <a:xfrm flipH="1">
            <a:off x="7377176" y="43766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74C5186-961A-FBFF-FE81-6DF08F3E9310}"/>
              </a:ext>
            </a:extLst>
          </p:cNvPr>
          <p:cNvCxnSpPr/>
          <p:nvPr/>
        </p:nvCxnSpPr>
        <p:spPr>
          <a:xfrm flipV="1">
            <a:off x="7546594" y="42656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AE509061-A8A3-2B70-FA66-F182D975A3F9}"/>
              </a:ext>
            </a:extLst>
          </p:cNvPr>
          <p:cNvSpPr/>
          <p:nvPr/>
        </p:nvSpPr>
        <p:spPr>
          <a:xfrm>
            <a:off x="8350758" y="3862832"/>
            <a:ext cx="138684" cy="13868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DECCF4A0-4E1C-CEF3-4FC7-50C222E2CB70}"/>
              </a:ext>
            </a:extLst>
          </p:cNvPr>
          <p:cNvSpPr/>
          <p:nvPr/>
        </p:nvSpPr>
        <p:spPr>
          <a:xfrm>
            <a:off x="8321040" y="4041140"/>
            <a:ext cx="198120" cy="31699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FDB3A4FE-FC37-B7A7-09CC-39494F70AA62}"/>
              </a:ext>
            </a:extLst>
          </p:cNvPr>
          <p:cNvCxnSpPr/>
          <p:nvPr/>
        </p:nvCxnSpPr>
        <p:spPr>
          <a:xfrm flipH="1">
            <a:off x="8321040"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2D92DB90-CFE0-A4EB-EF46-40B7BDCAE7E7}"/>
              </a:ext>
            </a:extLst>
          </p:cNvPr>
          <p:cNvCxnSpPr/>
          <p:nvPr/>
        </p:nvCxnSpPr>
        <p:spPr>
          <a:xfrm>
            <a:off x="8489442"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534271E3-0425-10B0-C97A-55228E01BB44}"/>
              </a:ext>
            </a:extLst>
          </p:cNvPr>
          <p:cNvCxnSpPr/>
          <p:nvPr/>
        </p:nvCxnSpPr>
        <p:spPr>
          <a:xfrm flipH="1">
            <a:off x="8202168" y="4110482"/>
            <a:ext cx="148590" cy="118872"/>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504378E-7A5F-E543-F3BE-2EE8FE1B3885}"/>
              </a:ext>
            </a:extLst>
          </p:cNvPr>
          <p:cNvCxnSpPr/>
          <p:nvPr/>
        </p:nvCxnSpPr>
        <p:spPr>
          <a:xfrm flipV="1">
            <a:off x="8489442" y="3922268"/>
            <a:ext cx="158496" cy="188214"/>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BF977A29-FB25-77C0-FAEA-16B995AEC3D1}"/>
              </a:ext>
            </a:extLst>
          </p:cNvPr>
          <p:cNvCxnSpPr/>
          <p:nvPr/>
        </p:nvCxnSpPr>
        <p:spPr>
          <a:xfrm flipH="1" flipV="1">
            <a:off x="10666984"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5D35B55D-62BD-2A7D-3930-06A0265E1715}"/>
              </a:ext>
            </a:extLst>
          </p:cNvPr>
          <p:cNvSpPr/>
          <p:nvPr/>
        </p:nvSpPr>
        <p:spPr>
          <a:xfrm>
            <a:off x="10569448"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8A3F07A9-98BF-5C77-63AB-E12E8540E72A}"/>
              </a:ext>
            </a:extLst>
          </p:cNvPr>
          <p:cNvCxnSpPr/>
          <p:nvPr/>
        </p:nvCxnSpPr>
        <p:spPr>
          <a:xfrm>
            <a:off x="10601960"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4EB3E9BB-BA99-108F-52FF-EAAEC153112A}"/>
              </a:ext>
            </a:extLst>
          </p:cNvPr>
          <p:cNvCxnSpPr/>
          <p:nvPr/>
        </p:nvCxnSpPr>
        <p:spPr>
          <a:xfrm flipV="1">
            <a:off x="10845800"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84B30B00-E9B6-F59D-DFDF-E9973EDF8C9D}"/>
              </a:ext>
            </a:extLst>
          </p:cNvPr>
          <p:cNvSpPr/>
          <p:nvPr/>
        </p:nvSpPr>
        <p:spPr>
          <a:xfrm>
            <a:off x="10927080"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0E658233-50E7-99BF-030F-06F2D0612486}"/>
              </a:ext>
            </a:extLst>
          </p:cNvPr>
          <p:cNvCxnSpPr/>
          <p:nvPr/>
        </p:nvCxnSpPr>
        <p:spPr>
          <a:xfrm>
            <a:off x="10959592"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439F803F-A5C2-3DDE-D177-E65225E5A976}"/>
              </a:ext>
            </a:extLst>
          </p:cNvPr>
          <p:cNvCxnSpPr/>
          <p:nvPr/>
        </p:nvCxnSpPr>
        <p:spPr>
          <a:xfrm flipH="1">
            <a:off x="10666984"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DBE62C65-48E6-78EE-A278-EE4BCACDF764}"/>
              </a:ext>
            </a:extLst>
          </p:cNvPr>
          <p:cNvSpPr/>
          <p:nvPr/>
        </p:nvSpPr>
        <p:spPr>
          <a:xfrm>
            <a:off x="10569448"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11DBD0FA-9906-47FB-8659-4EE74BA09FD4}"/>
              </a:ext>
            </a:extLst>
          </p:cNvPr>
          <p:cNvCxnSpPr/>
          <p:nvPr/>
        </p:nvCxnSpPr>
        <p:spPr>
          <a:xfrm>
            <a:off x="10601960"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8EC88B2-2B48-AB98-5DAF-76AF5E3E2E76}"/>
              </a:ext>
            </a:extLst>
          </p:cNvPr>
          <p:cNvCxnSpPr/>
          <p:nvPr/>
        </p:nvCxnSpPr>
        <p:spPr>
          <a:xfrm>
            <a:off x="10845800"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F7408C0D-A56C-A6F3-DF93-A17BE57A7477}"/>
              </a:ext>
            </a:extLst>
          </p:cNvPr>
          <p:cNvSpPr/>
          <p:nvPr/>
        </p:nvSpPr>
        <p:spPr>
          <a:xfrm>
            <a:off x="10927080"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5EF4A856-8C67-63F7-CD3D-F173CF82D4F7}"/>
              </a:ext>
            </a:extLst>
          </p:cNvPr>
          <p:cNvCxnSpPr/>
          <p:nvPr/>
        </p:nvCxnSpPr>
        <p:spPr>
          <a:xfrm>
            <a:off x="10959592"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9F1D3977-E819-5167-2108-7624942A9F35}"/>
              </a:ext>
            </a:extLst>
          </p:cNvPr>
          <p:cNvSpPr/>
          <p:nvPr/>
        </p:nvSpPr>
        <p:spPr>
          <a:xfrm>
            <a:off x="10772648" y="3591052"/>
            <a:ext cx="146304" cy="26009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1A8273F3-D7DA-65FA-BA14-F7BE6884B851}"/>
              </a:ext>
            </a:extLst>
          </p:cNvPr>
          <p:cNvSpPr/>
          <p:nvPr/>
        </p:nvSpPr>
        <p:spPr>
          <a:xfrm>
            <a:off x="10821416" y="3639820"/>
            <a:ext cx="48769" cy="4876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0BD28F34-85ED-5FB0-E45B-54A4EFE02A75}"/>
              </a:ext>
            </a:extLst>
          </p:cNvPr>
          <p:cNvCxnSpPr/>
          <p:nvPr/>
        </p:nvCxnSpPr>
        <p:spPr>
          <a:xfrm flipV="1">
            <a:off x="8801100" y="3721100"/>
            <a:ext cx="1549400" cy="177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5AAB6EFC-88CA-1C6E-B1A3-8FF6E7CFD1F5}"/>
              </a:ext>
            </a:extLst>
          </p:cNvPr>
          <p:cNvSpPr txBox="1"/>
          <p:nvPr/>
        </p:nvSpPr>
        <p:spPr>
          <a:xfrm>
            <a:off x="8940800" y="4089400"/>
            <a:ext cx="1714500" cy="153888"/>
          </a:xfrm>
          <a:prstGeom prst="rect">
            <a:avLst/>
          </a:prstGeom>
          <a:noFill/>
        </p:spPr>
        <p:txBody>
          <a:bodyPr vert="horz" wrap="square" lIns="0" tIns="0" rIns="0" bIns="0" rtlCol="0">
            <a:spAutoFit/>
          </a:bodyPr>
          <a:lstStyle/>
          <a:p>
            <a:r>
              <a:rPr lang="en-US" sz="1000" b="1">
                <a:solidFill>
                  <a:srgbClr val="2563EB"/>
                </a:solidFill>
                <a:latin typeface="Aptos" panose="020B0004020202020204" pitchFamily="34" charset="0"/>
              </a:rPr>
              <a:t>VISUAL COMMAND</a:t>
            </a:r>
          </a:p>
        </p:txBody>
      </p:sp>
      <p:sp>
        <p:nvSpPr>
          <p:cNvPr id="86" name="TextBox 85">
            <a:extLst>
              <a:ext uri="{FF2B5EF4-FFF2-40B4-BE49-F238E27FC236}">
                <a16:creationId xmlns:a16="http://schemas.microsoft.com/office/drawing/2014/main" id="{8AF998FA-BA98-C550-40C0-C3360774B527}"/>
              </a:ext>
            </a:extLst>
          </p:cNvPr>
          <p:cNvSpPr txBox="1"/>
          <p:nvPr/>
        </p:nvSpPr>
        <p:spPr>
          <a:xfrm>
            <a:off x="6400800" y="4800600"/>
            <a:ext cx="5067300" cy="246221"/>
          </a:xfrm>
          <a:prstGeom prst="rect">
            <a:avLst/>
          </a:prstGeom>
          <a:noFill/>
        </p:spPr>
        <p:txBody>
          <a:bodyPr vert="horz" wrap="square" lIns="0" tIns="0" rIns="0" bIns="0" rtlCol="0">
            <a:spAutoFit/>
          </a:bodyPr>
          <a:lstStyle/>
          <a:p>
            <a:r>
              <a:rPr lang="en-US" sz="1600">
                <a:solidFill>
                  <a:srgbClr val="006B62"/>
                </a:solidFill>
                <a:latin typeface="Aptos" panose="020B0004020202020204" pitchFamily="34" charset="0"/>
              </a:rPr>
              <a:t>Change intent while facing the squad.</a:t>
            </a:r>
          </a:p>
        </p:txBody>
      </p:sp>
      <p:sp>
        <p:nvSpPr>
          <p:cNvPr id="87" name="TextBox 86">
            <a:extLst>
              <a:ext uri="{FF2B5EF4-FFF2-40B4-BE49-F238E27FC236}">
                <a16:creationId xmlns:a16="http://schemas.microsoft.com/office/drawing/2014/main" id="{8B8A519C-91F4-6BA1-52C1-B51C123C086B}"/>
              </a:ext>
            </a:extLst>
          </p:cNvPr>
          <p:cNvSpPr txBox="1"/>
          <p:nvPr/>
        </p:nvSpPr>
        <p:spPr>
          <a:xfrm>
            <a:off x="508000" y="5359400"/>
            <a:ext cx="2070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INTENDED IMPACT</a:t>
            </a:r>
          </a:p>
        </p:txBody>
      </p:sp>
      <p:sp>
        <p:nvSpPr>
          <p:cNvPr id="88" name="TextBox 87">
            <a:extLst>
              <a:ext uri="{FF2B5EF4-FFF2-40B4-BE49-F238E27FC236}">
                <a16:creationId xmlns:a16="http://schemas.microsoft.com/office/drawing/2014/main" id="{F955B0AF-8D5B-6D53-19C8-6E5BF285ACFD}"/>
              </a:ext>
            </a:extLst>
          </p:cNvPr>
          <p:cNvSpPr txBox="1"/>
          <p:nvPr/>
        </p:nvSpPr>
        <p:spPr>
          <a:xfrm>
            <a:off x="2654300" y="5283200"/>
            <a:ext cx="90170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Redirect drone support as squad needs change.</a:t>
            </a:r>
          </a:p>
        </p:txBody>
      </p:sp>
      <p:sp>
        <p:nvSpPr>
          <p:cNvPr id="89" name="TextBox 88">
            <a:extLst>
              <a:ext uri="{FF2B5EF4-FFF2-40B4-BE49-F238E27FC236}">
                <a16:creationId xmlns:a16="http://schemas.microsoft.com/office/drawing/2014/main" id="{5DB0F4B4-D87F-514E-06D7-C792E0BD2D87}"/>
              </a:ext>
            </a:extLst>
          </p:cNvPr>
          <p:cNvSpPr txBox="1"/>
          <p:nvPr/>
        </p:nvSpPr>
        <p:spPr>
          <a:xfrm>
            <a:off x="508000" y="58293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Discovery: team conversation with a Mach Industries representative (paraphrased; informal user input).</a:t>
            </a:r>
          </a:p>
        </p:txBody>
      </p:sp>
      <p:sp>
        <p:nvSpPr>
          <p:cNvPr id="90" name="TextBox 89">
            <a:extLst>
              <a:ext uri="{FF2B5EF4-FFF2-40B4-BE49-F238E27FC236}">
                <a16:creationId xmlns:a16="http://schemas.microsoft.com/office/drawing/2014/main" id="{329C1D27-1966-70AE-81EC-5AAEC807AF7C}"/>
              </a:ext>
            </a:extLst>
          </p:cNvPr>
          <p:cNvSpPr txBox="1"/>
          <p:nvPr/>
        </p:nvSpPr>
        <p:spPr>
          <a:xfrm>
            <a:off x="508000" y="60325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Today: connected simulation. Onboard vision is planned; GPS-independent navigation is a separate requirement.</a:t>
            </a:r>
          </a:p>
        </p:txBody>
      </p:sp>
    </p:spTree>
    <p:extLst>
      <p:ext uri="{BB962C8B-B14F-4D97-AF65-F5344CB8AC3E}">
        <p14:creationId xmlns:p14="http://schemas.microsoft.com/office/powerpoint/2010/main" val="226455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CEDBA7-852E-8937-18A0-001DB257AE74}"/>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502EB95A-364B-DFFE-413D-D30A1C3753B6}"/>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 / THE INSPIRATION</a:t>
            </a:r>
          </a:p>
        </p:txBody>
      </p:sp>
      <p:sp>
        <p:nvSpPr>
          <p:cNvPr id="4" name="TextBox 3">
            <a:extLst>
              <a:ext uri="{FF2B5EF4-FFF2-40B4-BE49-F238E27FC236}">
                <a16:creationId xmlns:a16="http://schemas.microsoft.com/office/drawing/2014/main" id="{A85F2DD8-6FF2-2EF5-EB1E-15FD61FFA7CC}"/>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Human intent, in more than one form.</a:t>
            </a:r>
          </a:p>
        </p:txBody>
      </p:sp>
      <p:cxnSp>
        <p:nvCxnSpPr>
          <p:cNvPr id="5" name="Straight Connector 4">
            <a:extLst>
              <a:ext uri="{FF2B5EF4-FFF2-40B4-BE49-F238E27FC236}">
                <a16:creationId xmlns:a16="http://schemas.microsoft.com/office/drawing/2014/main" id="{DC32A261-43FA-4967-C199-0E7C777B194B}"/>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5E5FABF-0AA3-4F85-6572-A86B5118F591}"/>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FA98272B-FF6B-BCB0-D6AB-09D46CC62820}"/>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a:t>
            </a:r>
          </a:p>
        </p:txBody>
      </p:sp>
      <p:sp>
        <p:nvSpPr>
          <p:cNvPr id="8" name="Rectangle 7">
            <a:extLst>
              <a:ext uri="{FF2B5EF4-FFF2-40B4-BE49-F238E27FC236}">
                <a16:creationId xmlns:a16="http://schemas.microsoft.com/office/drawing/2014/main" id="{C9242B15-0AE5-0220-F8E9-71758A69ED4E}"/>
              </a:ext>
            </a:extLst>
          </p:cNvPr>
          <p:cNvSpPr/>
          <p:nvPr/>
        </p:nvSpPr>
        <p:spPr>
          <a:xfrm>
            <a:off x="508000" y="2476500"/>
            <a:ext cx="4991100" cy="2679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E8CBAC-AFD7-A4DD-61A0-5DF36FCA9F7A}"/>
              </a:ext>
            </a:extLst>
          </p:cNvPr>
          <p:cNvSpPr txBox="1"/>
          <p:nvPr/>
        </p:nvSpPr>
        <p:spPr>
          <a:xfrm>
            <a:off x="736600" y="2743200"/>
            <a:ext cx="45339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THE HACKATHON PROMPT</a:t>
            </a:r>
          </a:p>
        </p:txBody>
      </p:sp>
      <p:sp>
        <p:nvSpPr>
          <p:cNvPr id="10" name="TextBox 9">
            <a:extLst>
              <a:ext uri="{FF2B5EF4-FFF2-40B4-BE49-F238E27FC236}">
                <a16:creationId xmlns:a16="http://schemas.microsoft.com/office/drawing/2014/main" id="{AB26D164-3A5D-7A6E-322D-B9CEA6324196}"/>
              </a:ext>
            </a:extLst>
          </p:cNvPr>
          <p:cNvSpPr txBox="1"/>
          <p:nvPr/>
        </p:nvSpPr>
        <p:spPr>
          <a:xfrm>
            <a:off x="736600" y="3276600"/>
            <a:ext cx="44577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“Flight paths in plain English”</a:t>
            </a:r>
          </a:p>
        </p:txBody>
      </p:sp>
      <p:sp>
        <p:nvSpPr>
          <p:cNvPr id="11" name="TextBox 10">
            <a:extLst>
              <a:ext uri="{FF2B5EF4-FFF2-40B4-BE49-F238E27FC236}">
                <a16:creationId xmlns:a16="http://schemas.microsoft.com/office/drawing/2014/main" id="{9DF312BC-1719-93A3-7255-6BB234909BE5}"/>
              </a:ext>
            </a:extLst>
          </p:cNvPr>
          <p:cNvSpPr txBox="1"/>
          <p:nvPr/>
        </p:nvSpPr>
        <p:spPr>
          <a:xfrm>
            <a:off x="736600" y="4445000"/>
            <a:ext cx="4457700" cy="584775"/>
          </a:xfrm>
          <a:prstGeom prst="rect">
            <a:avLst/>
          </a:prstGeom>
          <a:noFill/>
        </p:spPr>
        <p:txBody>
          <a:bodyPr vert="horz" wrap="square" lIns="0" tIns="0" rIns="0" bIns="0" rtlCol="0">
            <a:spAutoFit/>
          </a:bodyPr>
          <a:lstStyle/>
          <a:p>
            <a:r>
              <a:rPr lang="en-US" sz="1900">
                <a:solidFill>
                  <a:srgbClr val="617286"/>
                </a:solidFill>
                <a:latin typeface="Aptos" panose="020B0004020202020204" pitchFamily="34" charset="0"/>
              </a:rPr>
              <a:t>Plan and adjust a flight path using natural language.</a:t>
            </a:r>
          </a:p>
        </p:txBody>
      </p:sp>
      <p:cxnSp>
        <p:nvCxnSpPr>
          <p:cNvPr id="12" name="Straight Connector 11">
            <a:extLst>
              <a:ext uri="{FF2B5EF4-FFF2-40B4-BE49-F238E27FC236}">
                <a16:creationId xmlns:a16="http://schemas.microsoft.com/office/drawing/2014/main" id="{6EADEAA3-F0BD-55B6-2D5B-C98EFC231884}"/>
              </a:ext>
            </a:extLst>
          </p:cNvPr>
          <p:cNvCxnSpPr/>
          <p:nvPr/>
        </p:nvCxnSpPr>
        <p:spPr>
          <a:xfrm>
            <a:off x="5689600" y="3771900"/>
            <a:ext cx="558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25A875A-4D46-6D07-F53C-1C5C99EB6042}"/>
              </a:ext>
            </a:extLst>
          </p:cNvPr>
          <p:cNvSpPr/>
          <p:nvPr/>
        </p:nvSpPr>
        <p:spPr>
          <a:xfrm>
            <a:off x="6438900" y="2476500"/>
            <a:ext cx="5245100" cy="26797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032C746-A7D6-6A9C-CF28-C360F2A80FD7}"/>
              </a:ext>
            </a:extLst>
          </p:cNvPr>
          <p:cNvSpPr txBox="1"/>
          <p:nvPr/>
        </p:nvSpPr>
        <p:spPr>
          <a:xfrm>
            <a:off x="6667500" y="2743200"/>
            <a:ext cx="47879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OUR EXTENSION</a:t>
            </a:r>
          </a:p>
        </p:txBody>
      </p:sp>
      <p:sp>
        <p:nvSpPr>
          <p:cNvPr id="15" name="TextBox 14">
            <a:extLst>
              <a:ext uri="{FF2B5EF4-FFF2-40B4-BE49-F238E27FC236}">
                <a16:creationId xmlns:a16="http://schemas.microsoft.com/office/drawing/2014/main" id="{A28EBE71-6AF2-A396-F5C6-F20AE0576634}"/>
              </a:ext>
            </a:extLst>
          </p:cNvPr>
          <p:cNvSpPr txBox="1"/>
          <p:nvPr/>
        </p:nvSpPr>
        <p:spPr>
          <a:xfrm>
            <a:off x="6667500" y="3276600"/>
            <a:ext cx="46863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Why not communicate with hand gestures, too?</a:t>
            </a:r>
          </a:p>
        </p:txBody>
      </p:sp>
      <p:sp>
        <p:nvSpPr>
          <p:cNvPr id="16" name="TextBox 15">
            <a:extLst>
              <a:ext uri="{FF2B5EF4-FFF2-40B4-BE49-F238E27FC236}">
                <a16:creationId xmlns:a16="http://schemas.microsoft.com/office/drawing/2014/main" id="{E6392BA6-FBD4-6AB1-2655-F6A886A58DC8}"/>
              </a:ext>
            </a:extLst>
          </p:cNvPr>
          <p:cNvSpPr txBox="1"/>
          <p:nvPr/>
        </p:nvSpPr>
        <p:spPr>
          <a:xfrm>
            <a:off x="6667500" y="4445000"/>
            <a:ext cx="4699000" cy="584775"/>
          </a:xfrm>
          <a:prstGeom prst="rect">
            <a:avLst/>
          </a:prstGeom>
          <a:noFill/>
        </p:spPr>
        <p:txBody>
          <a:bodyPr vert="horz" wrap="square" lIns="0" tIns="0" rIns="0" bIns="0" rtlCol="0">
            <a:spAutoFit/>
          </a:bodyPr>
          <a:lstStyle/>
          <a:p>
            <a:r>
              <a:rPr lang="en-US" sz="1900">
                <a:solidFill>
                  <a:srgbClr val="006B62"/>
                </a:solidFill>
                <a:latin typeface="Aptos" panose="020B0004020202020204" pitchFamily="34" charset="0"/>
              </a:rPr>
              <a:t>Another human way to express intent and change drone behavior.</a:t>
            </a:r>
          </a:p>
        </p:txBody>
      </p:sp>
      <p:sp>
        <p:nvSpPr>
          <p:cNvPr id="17" name="TextBox 16">
            <a:extLst>
              <a:ext uri="{FF2B5EF4-FFF2-40B4-BE49-F238E27FC236}">
                <a16:creationId xmlns:a16="http://schemas.microsoft.com/office/drawing/2014/main" id="{441082CB-BFC9-BEFF-6A95-0BDC88305CC2}"/>
              </a:ext>
            </a:extLst>
          </p:cNvPr>
          <p:cNvSpPr txBox="1"/>
          <p:nvPr/>
        </p:nvSpPr>
        <p:spPr>
          <a:xfrm>
            <a:off x="508000" y="5511800"/>
            <a:ext cx="11150600" cy="646331"/>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Natural-language planning inspired us. Gesture interaction became our working demonstration.</a:t>
            </a:r>
          </a:p>
        </p:txBody>
      </p:sp>
      <p:sp>
        <p:nvSpPr>
          <p:cNvPr id="18" name="TextBox 17">
            <a:extLst>
              <a:ext uri="{FF2B5EF4-FFF2-40B4-BE49-F238E27FC236}">
                <a16:creationId xmlns:a16="http://schemas.microsoft.com/office/drawing/2014/main" id="{D3BE54E0-1884-122B-3568-E9FF607A7B07}"/>
              </a:ext>
            </a:extLst>
          </p:cNvPr>
          <p:cNvSpPr txBox="1"/>
          <p:nvPr/>
        </p:nvSpPr>
        <p:spPr>
          <a:xfrm>
            <a:off x="508000" y="6083300"/>
            <a:ext cx="111887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Source: DNHacks Defense inspiration prompt, “Flight paths in plain English” (provided by team).</a:t>
            </a:r>
          </a:p>
        </p:txBody>
      </p:sp>
    </p:spTree>
    <p:extLst>
      <p:ext uri="{BB962C8B-B14F-4D97-AF65-F5344CB8AC3E}">
        <p14:creationId xmlns:p14="http://schemas.microsoft.com/office/powerpoint/2010/main" val="2571000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BAB9C-177C-F865-A461-55AD0FBA1A79}"/>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734A7B63-D5EF-01CD-3235-35D3C582B891}"/>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 / LIVE DEMO · 45 SECONDS</a:t>
            </a:r>
          </a:p>
        </p:txBody>
      </p:sp>
      <p:sp>
        <p:nvSpPr>
          <p:cNvPr id="4" name="TextBox 3">
            <a:extLst>
              <a:ext uri="{FF2B5EF4-FFF2-40B4-BE49-F238E27FC236}">
                <a16:creationId xmlns:a16="http://schemas.microsoft.com/office/drawing/2014/main" id="{4F7676E6-7ADE-297E-EBAB-3F67D612E380}"/>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Four commands. One continuous demo.</a:t>
            </a:r>
          </a:p>
        </p:txBody>
      </p:sp>
      <p:cxnSp>
        <p:nvCxnSpPr>
          <p:cNvPr id="5" name="Straight Connector 4">
            <a:extLst>
              <a:ext uri="{FF2B5EF4-FFF2-40B4-BE49-F238E27FC236}">
                <a16:creationId xmlns:a16="http://schemas.microsoft.com/office/drawing/2014/main" id="{43EFF34D-9E08-833B-F839-4AC2998D66AF}"/>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0DB7676-DBF4-88B6-289F-306CCDF249C4}"/>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9DEBEBFD-BE81-5BE3-DB35-16E37638DAB1}"/>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a:t>
            </a:r>
          </a:p>
        </p:txBody>
      </p:sp>
      <p:sp>
        <p:nvSpPr>
          <p:cNvPr id="8" name="TextBox 7">
            <a:extLst>
              <a:ext uri="{FF2B5EF4-FFF2-40B4-BE49-F238E27FC236}">
                <a16:creationId xmlns:a16="http://schemas.microsoft.com/office/drawing/2014/main" id="{A485B92D-F8FE-FA33-180C-DA77C31000D3}"/>
              </a:ext>
            </a:extLst>
          </p:cNvPr>
          <p:cNvSpPr txBox="1"/>
          <p:nvPr/>
        </p:nvSpPr>
        <p:spPr>
          <a:xfrm>
            <a:off x="5080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01</a:t>
            </a:r>
          </a:p>
        </p:txBody>
      </p:sp>
      <p:sp>
        <p:nvSpPr>
          <p:cNvPr id="9" name="TextBox 8">
            <a:extLst>
              <a:ext uri="{FF2B5EF4-FFF2-40B4-BE49-F238E27FC236}">
                <a16:creationId xmlns:a16="http://schemas.microsoft.com/office/drawing/2014/main" id="{B5E6C3EF-AF52-E8E8-81E3-C8D6B588FBF7}"/>
              </a:ext>
            </a:extLst>
          </p:cNvPr>
          <p:cNvSpPr txBox="1"/>
          <p:nvPr/>
        </p:nvSpPr>
        <p:spPr>
          <a:xfrm>
            <a:off x="5080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Orbit</a:t>
            </a:r>
          </a:p>
        </p:txBody>
      </p:sp>
      <p:sp>
        <p:nvSpPr>
          <p:cNvPr id="10" name="TextBox 9">
            <a:extLst>
              <a:ext uri="{FF2B5EF4-FFF2-40B4-BE49-F238E27FC236}">
                <a16:creationId xmlns:a16="http://schemas.microsoft.com/office/drawing/2014/main" id="{BD2A57CA-BBF8-D242-6C4A-D7AB16273AB0}"/>
              </a:ext>
            </a:extLst>
          </p:cNvPr>
          <p:cNvSpPr txBox="1"/>
          <p:nvPr/>
        </p:nvSpPr>
        <p:spPr>
          <a:xfrm>
            <a:off x="5080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Circle the operator.</a:t>
            </a:r>
          </a:p>
        </p:txBody>
      </p:sp>
      <p:cxnSp>
        <p:nvCxnSpPr>
          <p:cNvPr id="11" name="Straight Connector 10">
            <a:extLst>
              <a:ext uri="{FF2B5EF4-FFF2-40B4-BE49-F238E27FC236}">
                <a16:creationId xmlns:a16="http://schemas.microsoft.com/office/drawing/2014/main" id="{A9E55C6A-5439-92D1-8F3E-FCEEFD24DA17}"/>
              </a:ext>
            </a:extLst>
          </p:cNvPr>
          <p:cNvCxnSpPr/>
          <p:nvPr/>
        </p:nvCxnSpPr>
        <p:spPr>
          <a:xfrm>
            <a:off x="31877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45967EE9-751B-BD6F-E201-8214AF3FC9A4}"/>
              </a:ext>
            </a:extLst>
          </p:cNvPr>
          <p:cNvSpPr txBox="1"/>
          <p:nvPr/>
        </p:nvSpPr>
        <p:spPr>
          <a:xfrm>
            <a:off x="33528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02</a:t>
            </a:r>
          </a:p>
        </p:txBody>
      </p:sp>
      <p:sp>
        <p:nvSpPr>
          <p:cNvPr id="13" name="TextBox 12">
            <a:extLst>
              <a:ext uri="{FF2B5EF4-FFF2-40B4-BE49-F238E27FC236}">
                <a16:creationId xmlns:a16="http://schemas.microsoft.com/office/drawing/2014/main" id="{079CB55A-B192-D49C-767A-8A3CE052F2DE}"/>
              </a:ext>
            </a:extLst>
          </p:cNvPr>
          <p:cNvSpPr txBox="1"/>
          <p:nvPr/>
        </p:nvSpPr>
        <p:spPr>
          <a:xfrm>
            <a:off x="33528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Move</a:t>
            </a:r>
          </a:p>
        </p:txBody>
      </p:sp>
      <p:sp>
        <p:nvSpPr>
          <p:cNvPr id="14" name="TextBox 13">
            <a:extLst>
              <a:ext uri="{FF2B5EF4-FFF2-40B4-BE49-F238E27FC236}">
                <a16:creationId xmlns:a16="http://schemas.microsoft.com/office/drawing/2014/main" id="{F3FE4630-D023-09EA-CF33-F953069CA8A1}"/>
              </a:ext>
            </a:extLst>
          </p:cNvPr>
          <p:cNvSpPr txBox="1"/>
          <p:nvPr/>
        </p:nvSpPr>
        <p:spPr>
          <a:xfrm>
            <a:off x="33528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Follow directional intent.</a:t>
            </a:r>
          </a:p>
        </p:txBody>
      </p:sp>
      <p:cxnSp>
        <p:nvCxnSpPr>
          <p:cNvPr id="15" name="Straight Connector 14">
            <a:extLst>
              <a:ext uri="{FF2B5EF4-FFF2-40B4-BE49-F238E27FC236}">
                <a16:creationId xmlns:a16="http://schemas.microsoft.com/office/drawing/2014/main" id="{9EA2D01D-F168-4912-47D5-ECBCF693A1B6}"/>
              </a:ext>
            </a:extLst>
          </p:cNvPr>
          <p:cNvCxnSpPr/>
          <p:nvPr/>
        </p:nvCxnSpPr>
        <p:spPr>
          <a:xfrm>
            <a:off x="60325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14C824F-9152-D8C0-9F14-71BE56ADCF5E}"/>
              </a:ext>
            </a:extLst>
          </p:cNvPr>
          <p:cNvSpPr txBox="1"/>
          <p:nvPr/>
        </p:nvSpPr>
        <p:spPr>
          <a:xfrm>
            <a:off x="61976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03</a:t>
            </a:r>
          </a:p>
        </p:txBody>
      </p:sp>
      <p:sp>
        <p:nvSpPr>
          <p:cNvPr id="17" name="TextBox 16">
            <a:extLst>
              <a:ext uri="{FF2B5EF4-FFF2-40B4-BE49-F238E27FC236}">
                <a16:creationId xmlns:a16="http://schemas.microsoft.com/office/drawing/2014/main" id="{5F0FC118-3FCC-B344-3DEE-66B893055704}"/>
              </a:ext>
            </a:extLst>
          </p:cNvPr>
          <p:cNvSpPr txBox="1"/>
          <p:nvPr/>
        </p:nvSpPr>
        <p:spPr>
          <a:xfrm>
            <a:off x="61976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Return</a:t>
            </a:r>
          </a:p>
        </p:txBody>
      </p:sp>
      <p:sp>
        <p:nvSpPr>
          <p:cNvPr id="18" name="TextBox 17">
            <a:extLst>
              <a:ext uri="{FF2B5EF4-FFF2-40B4-BE49-F238E27FC236}">
                <a16:creationId xmlns:a16="http://schemas.microsoft.com/office/drawing/2014/main" id="{3A0FF67B-1E26-E5D4-5AB1-6A594FCD757F}"/>
              </a:ext>
            </a:extLst>
          </p:cNvPr>
          <p:cNvSpPr txBox="1"/>
          <p:nvPr/>
        </p:nvSpPr>
        <p:spPr>
          <a:xfrm>
            <a:off x="61976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Overhead to the sender.</a:t>
            </a:r>
          </a:p>
        </p:txBody>
      </p:sp>
      <p:cxnSp>
        <p:nvCxnSpPr>
          <p:cNvPr id="19" name="Straight Connector 18">
            <a:extLst>
              <a:ext uri="{FF2B5EF4-FFF2-40B4-BE49-F238E27FC236}">
                <a16:creationId xmlns:a16="http://schemas.microsoft.com/office/drawing/2014/main" id="{1A86C4AC-3796-CA14-6C53-72925134259A}"/>
              </a:ext>
            </a:extLst>
          </p:cNvPr>
          <p:cNvCxnSpPr/>
          <p:nvPr/>
        </p:nvCxnSpPr>
        <p:spPr>
          <a:xfrm>
            <a:off x="88773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9ED6D52-E523-E64F-E3D0-54056E8AC2FC}"/>
              </a:ext>
            </a:extLst>
          </p:cNvPr>
          <p:cNvSpPr txBox="1"/>
          <p:nvPr/>
        </p:nvSpPr>
        <p:spPr>
          <a:xfrm>
            <a:off x="90424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04</a:t>
            </a:r>
          </a:p>
        </p:txBody>
      </p:sp>
      <p:sp>
        <p:nvSpPr>
          <p:cNvPr id="21" name="TextBox 20">
            <a:extLst>
              <a:ext uri="{FF2B5EF4-FFF2-40B4-BE49-F238E27FC236}">
                <a16:creationId xmlns:a16="http://schemas.microsoft.com/office/drawing/2014/main" id="{809538C6-CD7B-24B1-B256-D1924614EF7B}"/>
              </a:ext>
            </a:extLst>
          </p:cNvPr>
          <p:cNvSpPr txBox="1"/>
          <p:nvPr/>
        </p:nvSpPr>
        <p:spPr>
          <a:xfrm>
            <a:off x="90424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Stop</a:t>
            </a:r>
          </a:p>
        </p:txBody>
      </p:sp>
      <p:sp>
        <p:nvSpPr>
          <p:cNvPr id="22" name="TextBox 21">
            <a:extLst>
              <a:ext uri="{FF2B5EF4-FFF2-40B4-BE49-F238E27FC236}">
                <a16:creationId xmlns:a16="http://schemas.microsoft.com/office/drawing/2014/main" id="{338933AF-7BF3-A26C-BBAD-69C4AB4D8E76}"/>
              </a:ext>
            </a:extLst>
          </p:cNvPr>
          <p:cNvSpPr txBox="1"/>
          <p:nvPr/>
        </p:nvSpPr>
        <p:spPr>
          <a:xfrm>
            <a:off x="9042400" y="4953000"/>
            <a:ext cx="2603500" cy="52322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Open-palm emergency stop.</a:t>
            </a:r>
          </a:p>
        </p:txBody>
      </p:sp>
      <p:sp>
        <p:nvSpPr>
          <p:cNvPr id="23" name="Oval 22">
            <a:extLst>
              <a:ext uri="{FF2B5EF4-FFF2-40B4-BE49-F238E27FC236}">
                <a16:creationId xmlns:a16="http://schemas.microsoft.com/office/drawing/2014/main" id="{F5396C0B-4347-32A5-1DD1-EA1189F80212}"/>
              </a:ext>
            </a:extLst>
          </p:cNvPr>
          <p:cNvSpPr/>
          <p:nvPr/>
        </p:nvSpPr>
        <p:spPr>
          <a:xfrm>
            <a:off x="1054100" y="3479800"/>
            <a:ext cx="1371600" cy="1371600"/>
          </a:xfrm>
          <a:prstGeom prst="ellipse">
            <a:avLst/>
          </a:prstGeom>
          <a:noFill/>
          <a:ln w="25400" cap="flat" cmpd="sng" algn="ctr">
            <a:solidFill>
              <a:srgbClr val="2563EB"/>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9593F86-D685-9955-B22B-03E4DD649FF5}"/>
              </a:ext>
            </a:extLst>
          </p:cNvPr>
          <p:cNvSpPr/>
          <p:nvPr/>
        </p:nvSpPr>
        <p:spPr>
          <a:xfrm>
            <a:off x="1675638" y="3883152"/>
            <a:ext cx="103124" cy="10312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DF55E05C-CBD7-4990-57E8-59645524B548}"/>
              </a:ext>
            </a:extLst>
          </p:cNvPr>
          <p:cNvSpPr/>
          <p:nvPr/>
        </p:nvSpPr>
        <p:spPr>
          <a:xfrm>
            <a:off x="1653540" y="4015740"/>
            <a:ext cx="147320" cy="23571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4E6A2AC6-6F90-983E-8AF0-2048F5F57B26}"/>
              </a:ext>
            </a:extLst>
          </p:cNvPr>
          <p:cNvCxnSpPr/>
          <p:nvPr/>
        </p:nvCxnSpPr>
        <p:spPr>
          <a:xfrm flipH="1">
            <a:off x="1653540"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B6CA0F9-211A-9C0B-F3C9-9F3A59FF002A}"/>
              </a:ext>
            </a:extLst>
          </p:cNvPr>
          <p:cNvCxnSpPr/>
          <p:nvPr/>
        </p:nvCxnSpPr>
        <p:spPr>
          <a:xfrm>
            <a:off x="1778762"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35623F5-ACC3-2FB4-5BD0-469EA2FC49B9}"/>
              </a:ext>
            </a:extLst>
          </p:cNvPr>
          <p:cNvCxnSpPr/>
          <p:nvPr/>
        </p:nvCxnSpPr>
        <p:spPr>
          <a:xfrm flipH="1">
            <a:off x="1565148" y="4067302"/>
            <a:ext cx="110490" cy="88392"/>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1F04C93-29D3-4785-CD63-50B1078C632B}"/>
              </a:ext>
            </a:extLst>
          </p:cNvPr>
          <p:cNvCxnSpPr/>
          <p:nvPr/>
        </p:nvCxnSpPr>
        <p:spPr>
          <a:xfrm flipV="1">
            <a:off x="1778762" y="3927348"/>
            <a:ext cx="117856" cy="139954"/>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94C08837-33EA-C2D9-DFF4-B28FFCF1E5B8}"/>
              </a:ext>
            </a:extLst>
          </p:cNvPr>
          <p:cNvCxnSpPr/>
          <p:nvPr/>
        </p:nvCxnSpPr>
        <p:spPr>
          <a:xfrm flipH="1" flipV="1">
            <a:off x="2246376"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54CFFDBA-53D8-2421-8445-CA88F3597A21}"/>
              </a:ext>
            </a:extLst>
          </p:cNvPr>
          <p:cNvSpPr/>
          <p:nvPr/>
        </p:nvSpPr>
        <p:spPr>
          <a:xfrm>
            <a:off x="2176272"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9132E88F-E735-6141-5C5C-790F4FDB83DF}"/>
              </a:ext>
            </a:extLst>
          </p:cNvPr>
          <p:cNvCxnSpPr/>
          <p:nvPr/>
        </p:nvCxnSpPr>
        <p:spPr>
          <a:xfrm>
            <a:off x="2199640"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A24F3FF-0179-F7D5-F4DC-26DE8C53D912}"/>
              </a:ext>
            </a:extLst>
          </p:cNvPr>
          <p:cNvCxnSpPr/>
          <p:nvPr/>
        </p:nvCxnSpPr>
        <p:spPr>
          <a:xfrm flipV="1">
            <a:off x="2374900"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0D39B67E-200D-6AA1-EA3A-3B14F8607D30}"/>
              </a:ext>
            </a:extLst>
          </p:cNvPr>
          <p:cNvSpPr/>
          <p:nvPr/>
        </p:nvSpPr>
        <p:spPr>
          <a:xfrm>
            <a:off x="2433320"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9AF1FA18-D8A3-EBDC-5B21-F52C284320BA}"/>
              </a:ext>
            </a:extLst>
          </p:cNvPr>
          <p:cNvCxnSpPr/>
          <p:nvPr/>
        </p:nvCxnSpPr>
        <p:spPr>
          <a:xfrm>
            <a:off x="2456688"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B0C9825-AC28-9888-D9A6-FF481427D1EA}"/>
              </a:ext>
            </a:extLst>
          </p:cNvPr>
          <p:cNvCxnSpPr/>
          <p:nvPr/>
        </p:nvCxnSpPr>
        <p:spPr>
          <a:xfrm flipH="1">
            <a:off x="2246376"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58C427EA-B40B-BAF6-1022-0544E73A2798}"/>
              </a:ext>
            </a:extLst>
          </p:cNvPr>
          <p:cNvSpPr/>
          <p:nvPr/>
        </p:nvSpPr>
        <p:spPr>
          <a:xfrm>
            <a:off x="2176272"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960AA567-0A71-1B8A-F455-E2D80B7D0EED}"/>
              </a:ext>
            </a:extLst>
          </p:cNvPr>
          <p:cNvCxnSpPr/>
          <p:nvPr/>
        </p:nvCxnSpPr>
        <p:spPr>
          <a:xfrm>
            <a:off x="2199640"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6A38D316-B92C-1483-9902-DFD365FC1899}"/>
              </a:ext>
            </a:extLst>
          </p:cNvPr>
          <p:cNvCxnSpPr/>
          <p:nvPr/>
        </p:nvCxnSpPr>
        <p:spPr>
          <a:xfrm>
            <a:off x="2374900"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5B816FE8-32C1-E961-47DD-79C558ECD164}"/>
              </a:ext>
            </a:extLst>
          </p:cNvPr>
          <p:cNvSpPr/>
          <p:nvPr/>
        </p:nvSpPr>
        <p:spPr>
          <a:xfrm>
            <a:off x="2433320"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D3BB55A-E552-CA03-9136-668E8F60F29F}"/>
              </a:ext>
            </a:extLst>
          </p:cNvPr>
          <p:cNvCxnSpPr/>
          <p:nvPr/>
        </p:nvCxnSpPr>
        <p:spPr>
          <a:xfrm>
            <a:off x="2456688"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23335617-4137-FBDB-D5FC-949C9B80B59F}"/>
              </a:ext>
            </a:extLst>
          </p:cNvPr>
          <p:cNvSpPr/>
          <p:nvPr/>
        </p:nvSpPr>
        <p:spPr>
          <a:xfrm>
            <a:off x="2322322" y="3691128"/>
            <a:ext cx="105156" cy="18694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41901D6-5C77-9D65-0062-EFC63DE0AA97}"/>
              </a:ext>
            </a:extLst>
          </p:cNvPr>
          <p:cNvSpPr/>
          <p:nvPr/>
        </p:nvSpPr>
        <p:spPr>
          <a:xfrm>
            <a:off x="2357374" y="3726180"/>
            <a:ext cx="35052" cy="3505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24006655-990F-78A8-44D3-45476E19F802}"/>
              </a:ext>
            </a:extLst>
          </p:cNvPr>
          <p:cNvCxnSpPr/>
          <p:nvPr/>
        </p:nvCxnSpPr>
        <p:spPr>
          <a:xfrm flipH="1" flipV="1">
            <a:off x="369189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BF1ED944-8376-A724-1576-F63628A33A79}"/>
              </a:ext>
            </a:extLst>
          </p:cNvPr>
          <p:cNvSpPr/>
          <p:nvPr/>
        </p:nvSpPr>
        <p:spPr>
          <a:xfrm>
            <a:off x="359283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159120DC-EDE3-E820-D851-391C6ECA8899}"/>
              </a:ext>
            </a:extLst>
          </p:cNvPr>
          <p:cNvCxnSpPr/>
          <p:nvPr/>
        </p:nvCxnSpPr>
        <p:spPr>
          <a:xfrm>
            <a:off x="362585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CAD1A83B-30AE-2032-235B-2FB032430BE6}"/>
              </a:ext>
            </a:extLst>
          </p:cNvPr>
          <p:cNvCxnSpPr/>
          <p:nvPr/>
        </p:nvCxnSpPr>
        <p:spPr>
          <a:xfrm flipV="1">
            <a:off x="387350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AA0EE543-0EB5-3381-D8A4-0F636F4411E3}"/>
              </a:ext>
            </a:extLst>
          </p:cNvPr>
          <p:cNvSpPr/>
          <p:nvPr/>
        </p:nvSpPr>
        <p:spPr>
          <a:xfrm>
            <a:off x="395605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96DEADE5-6F2E-0017-5B28-CDBEE313F894}"/>
              </a:ext>
            </a:extLst>
          </p:cNvPr>
          <p:cNvCxnSpPr/>
          <p:nvPr/>
        </p:nvCxnSpPr>
        <p:spPr>
          <a:xfrm>
            <a:off x="398907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A8BCD744-B1FA-67BB-6894-3FF734D748BC}"/>
              </a:ext>
            </a:extLst>
          </p:cNvPr>
          <p:cNvCxnSpPr/>
          <p:nvPr/>
        </p:nvCxnSpPr>
        <p:spPr>
          <a:xfrm flipH="1">
            <a:off x="369189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DDB374A9-2823-6617-3979-85892F5D57A3}"/>
              </a:ext>
            </a:extLst>
          </p:cNvPr>
          <p:cNvSpPr/>
          <p:nvPr/>
        </p:nvSpPr>
        <p:spPr>
          <a:xfrm>
            <a:off x="359283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13EC2940-2194-6987-00C3-F89B2ED920B2}"/>
              </a:ext>
            </a:extLst>
          </p:cNvPr>
          <p:cNvCxnSpPr/>
          <p:nvPr/>
        </p:nvCxnSpPr>
        <p:spPr>
          <a:xfrm>
            <a:off x="362585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D6C0698-6DE4-56DF-D376-5D3D87D2B826}"/>
              </a:ext>
            </a:extLst>
          </p:cNvPr>
          <p:cNvCxnSpPr/>
          <p:nvPr/>
        </p:nvCxnSpPr>
        <p:spPr>
          <a:xfrm>
            <a:off x="387350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15328850-8CAF-89B1-1055-B2A1B9F087A7}"/>
              </a:ext>
            </a:extLst>
          </p:cNvPr>
          <p:cNvSpPr/>
          <p:nvPr/>
        </p:nvSpPr>
        <p:spPr>
          <a:xfrm>
            <a:off x="395605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1449FC6C-7C03-232C-767E-BEE03A08812A}"/>
              </a:ext>
            </a:extLst>
          </p:cNvPr>
          <p:cNvCxnSpPr/>
          <p:nvPr/>
        </p:nvCxnSpPr>
        <p:spPr>
          <a:xfrm>
            <a:off x="398907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E9E512F2-D3C0-CAC8-EABB-CBBEF22BE200}"/>
              </a:ext>
            </a:extLst>
          </p:cNvPr>
          <p:cNvSpPr/>
          <p:nvPr/>
        </p:nvSpPr>
        <p:spPr>
          <a:xfrm>
            <a:off x="3799205" y="3970020"/>
            <a:ext cx="148590" cy="26416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0C292BF-8F5B-7A3E-2997-CD6A9FDEDEA7}"/>
              </a:ext>
            </a:extLst>
          </p:cNvPr>
          <p:cNvSpPr/>
          <p:nvPr/>
        </p:nvSpPr>
        <p:spPr>
          <a:xfrm>
            <a:off x="3848735" y="4019550"/>
            <a:ext cx="49530" cy="4953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4B76DD82-A126-258F-4CC1-688144363055}"/>
              </a:ext>
            </a:extLst>
          </p:cNvPr>
          <p:cNvCxnSpPr/>
          <p:nvPr/>
        </p:nvCxnSpPr>
        <p:spPr>
          <a:xfrm>
            <a:off x="4356100" y="4102100"/>
            <a:ext cx="1066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916CFD46-DF77-C412-C340-8B33B2CBFD5D}"/>
              </a:ext>
            </a:extLst>
          </p:cNvPr>
          <p:cNvCxnSpPr/>
          <p:nvPr/>
        </p:nvCxnSpPr>
        <p:spPr>
          <a:xfrm>
            <a:off x="5334000" y="3784600"/>
            <a:ext cx="0" cy="635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0A94FB6E-A52E-463B-F429-988B835865C9}"/>
              </a:ext>
            </a:extLst>
          </p:cNvPr>
          <p:cNvSpPr/>
          <p:nvPr/>
        </p:nvSpPr>
        <p:spPr>
          <a:xfrm>
            <a:off x="8015605" y="4173220"/>
            <a:ext cx="97790" cy="9779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637AE59F-384C-67E9-AC8C-750F35C5A857}"/>
              </a:ext>
            </a:extLst>
          </p:cNvPr>
          <p:cNvSpPr/>
          <p:nvPr/>
        </p:nvSpPr>
        <p:spPr>
          <a:xfrm>
            <a:off x="7994650" y="4298950"/>
            <a:ext cx="139700" cy="2235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90BD3731-435E-9A10-DFE4-93200F62ABB7}"/>
              </a:ext>
            </a:extLst>
          </p:cNvPr>
          <p:cNvCxnSpPr/>
          <p:nvPr/>
        </p:nvCxnSpPr>
        <p:spPr>
          <a:xfrm flipH="1">
            <a:off x="7994650"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F4C74A98-1145-BD1F-2861-5F8A59796A03}"/>
              </a:ext>
            </a:extLst>
          </p:cNvPr>
          <p:cNvCxnSpPr/>
          <p:nvPr/>
        </p:nvCxnSpPr>
        <p:spPr>
          <a:xfrm>
            <a:off x="8113395"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2DD8ADE3-8979-B746-817B-0CDFC6651CB1}"/>
              </a:ext>
            </a:extLst>
          </p:cNvPr>
          <p:cNvCxnSpPr/>
          <p:nvPr/>
        </p:nvCxnSpPr>
        <p:spPr>
          <a:xfrm flipH="1">
            <a:off x="7910830" y="4347845"/>
            <a:ext cx="104775" cy="83820"/>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C837521-66F5-7B3C-AE33-5F19F5EDDC49}"/>
              </a:ext>
            </a:extLst>
          </p:cNvPr>
          <p:cNvCxnSpPr/>
          <p:nvPr/>
        </p:nvCxnSpPr>
        <p:spPr>
          <a:xfrm flipV="1">
            <a:off x="8113395" y="4215130"/>
            <a:ext cx="111760" cy="13271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6F4234F-D9E4-0CC5-5149-B218AD47F376}"/>
              </a:ext>
            </a:extLst>
          </p:cNvPr>
          <p:cNvCxnSpPr/>
          <p:nvPr/>
        </p:nvCxnSpPr>
        <p:spPr>
          <a:xfrm flipH="1" flipV="1">
            <a:off x="664083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774E503A-6965-3D24-BACE-3AB049F7A1BC}"/>
              </a:ext>
            </a:extLst>
          </p:cNvPr>
          <p:cNvSpPr/>
          <p:nvPr/>
        </p:nvSpPr>
        <p:spPr>
          <a:xfrm>
            <a:off x="655701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6756A755-47B2-C6CF-11FC-314CBE410A54}"/>
              </a:ext>
            </a:extLst>
          </p:cNvPr>
          <p:cNvCxnSpPr/>
          <p:nvPr/>
        </p:nvCxnSpPr>
        <p:spPr>
          <a:xfrm>
            <a:off x="658495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F0A85B8B-7805-476E-596D-AEFF4A52575D}"/>
              </a:ext>
            </a:extLst>
          </p:cNvPr>
          <p:cNvCxnSpPr/>
          <p:nvPr/>
        </p:nvCxnSpPr>
        <p:spPr>
          <a:xfrm flipV="1">
            <a:off x="679450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DB4B4A39-BEC2-9A89-2FA1-A491C64CE6D5}"/>
              </a:ext>
            </a:extLst>
          </p:cNvPr>
          <p:cNvSpPr/>
          <p:nvPr/>
        </p:nvSpPr>
        <p:spPr>
          <a:xfrm>
            <a:off x="686435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86893457-0B06-FBF4-46A1-CE634756CFD7}"/>
              </a:ext>
            </a:extLst>
          </p:cNvPr>
          <p:cNvCxnSpPr/>
          <p:nvPr/>
        </p:nvCxnSpPr>
        <p:spPr>
          <a:xfrm>
            <a:off x="689229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703DB4A3-5E9B-1C12-2129-DB0BE5DDEF71}"/>
              </a:ext>
            </a:extLst>
          </p:cNvPr>
          <p:cNvCxnSpPr/>
          <p:nvPr/>
        </p:nvCxnSpPr>
        <p:spPr>
          <a:xfrm flipH="1">
            <a:off x="664083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848700CC-9C3E-914C-E13A-94750E1F0831}"/>
              </a:ext>
            </a:extLst>
          </p:cNvPr>
          <p:cNvSpPr/>
          <p:nvPr/>
        </p:nvSpPr>
        <p:spPr>
          <a:xfrm>
            <a:off x="655701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C83D50FF-F89C-2D1D-93AF-CAD615C47B50}"/>
              </a:ext>
            </a:extLst>
          </p:cNvPr>
          <p:cNvCxnSpPr/>
          <p:nvPr/>
        </p:nvCxnSpPr>
        <p:spPr>
          <a:xfrm>
            <a:off x="658495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8E553C7E-3A92-86C5-F93A-4B84CAB73BED}"/>
              </a:ext>
            </a:extLst>
          </p:cNvPr>
          <p:cNvCxnSpPr/>
          <p:nvPr/>
        </p:nvCxnSpPr>
        <p:spPr>
          <a:xfrm>
            <a:off x="679450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473C846F-D7B9-588C-4358-53D11D689784}"/>
              </a:ext>
            </a:extLst>
          </p:cNvPr>
          <p:cNvSpPr/>
          <p:nvPr/>
        </p:nvSpPr>
        <p:spPr>
          <a:xfrm>
            <a:off x="686435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13D95E5B-C2D9-D552-689C-DF18E76F2993}"/>
              </a:ext>
            </a:extLst>
          </p:cNvPr>
          <p:cNvCxnSpPr/>
          <p:nvPr/>
        </p:nvCxnSpPr>
        <p:spPr>
          <a:xfrm>
            <a:off x="689229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314554EE-FCA6-9555-DFA3-6B3ACC8B6B9F}"/>
              </a:ext>
            </a:extLst>
          </p:cNvPr>
          <p:cNvSpPr/>
          <p:nvPr/>
        </p:nvSpPr>
        <p:spPr>
          <a:xfrm>
            <a:off x="6731635" y="36347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773970A-74E5-10FB-1193-385500CFFC84}"/>
              </a:ext>
            </a:extLst>
          </p:cNvPr>
          <p:cNvSpPr/>
          <p:nvPr/>
        </p:nvSpPr>
        <p:spPr>
          <a:xfrm>
            <a:off x="6773545" y="36766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8BE3BA4E-4CE5-34E0-EFC5-8F811D45DE85}"/>
              </a:ext>
            </a:extLst>
          </p:cNvPr>
          <p:cNvCxnSpPr/>
          <p:nvPr/>
        </p:nvCxnSpPr>
        <p:spPr>
          <a:xfrm>
            <a:off x="7150100" y="3746500"/>
            <a:ext cx="9144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A859302-49F9-696F-ED64-E0B9E760BF31}"/>
              </a:ext>
            </a:extLst>
          </p:cNvPr>
          <p:cNvCxnSpPr/>
          <p:nvPr/>
        </p:nvCxnSpPr>
        <p:spPr>
          <a:xfrm>
            <a:off x="8064500" y="3771900"/>
            <a:ext cx="0" cy="330200"/>
          </a:xfrm>
          <a:prstGeom prst="line">
            <a:avLst/>
          </a:prstGeom>
          <a:ln w="25400">
            <a:solidFill>
              <a:srgbClr val="2563EB"/>
            </a:solidFill>
            <a:prstDash val="dash"/>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5EB76276-15F3-0114-647D-009B9838ACBA}"/>
              </a:ext>
            </a:extLst>
          </p:cNvPr>
          <p:cNvSpPr/>
          <p:nvPr/>
        </p:nvSpPr>
        <p:spPr>
          <a:xfrm>
            <a:off x="9740900" y="4075176"/>
            <a:ext cx="426720" cy="455168"/>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EF7CBA2B-CA0F-D6D7-9CBF-1B26BC24294D}"/>
              </a:ext>
            </a:extLst>
          </p:cNvPr>
          <p:cNvCxnSpPr/>
          <p:nvPr/>
        </p:nvCxnSpPr>
        <p:spPr>
          <a:xfrm flipV="1">
            <a:off x="9783572" y="3847592"/>
            <a:ext cx="0" cy="312928"/>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5161B506-B953-9794-1621-F37A0862C885}"/>
              </a:ext>
            </a:extLst>
          </p:cNvPr>
          <p:cNvCxnSpPr/>
          <p:nvPr/>
        </p:nvCxnSpPr>
        <p:spPr>
          <a:xfrm flipV="1">
            <a:off x="9897364" y="3751839"/>
            <a:ext cx="0" cy="408681"/>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DC55E692-C919-8F9F-1153-A3F84E3B3612}"/>
              </a:ext>
            </a:extLst>
          </p:cNvPr>
          <p:cNvCxnSpPr/>
          <p:nvPr/>
        </p:nvCxnSpPr>
        <p:spPr>
          <a:xfrm flipV="1">
            <a:off x="10011156" y="3744121"/>
            <a:ext cx="0" cy="416399"/>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C69458CE-B7C7-9E42-B300-3485327D7ED0}"/>
              </a:ext>
            </a:extLst>
          </p:cNvPr>
          <p:cNvCxnSpPr/>
          <p:nvPr/>
        </p:nvCxnSpPr>
        <p:spPr>
          <a:xfrm flipV="1">
            <a:off x="10124948" y="3831534"/>
            <a:ext cx="0" cy="328986"/>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5DA0806D-4C18-D8DE-06BE-A12D90E43778}"/>
              </a:ext>
            </a:extLst>
          </p:cNvPr>
          <p:cNvCxnSpPr/>
          <p:nvPr/>
        </p:nvCxnSpPr>
        <p:spPr>
          <a:xfrm flipH="1" flipV="1">
            <a:off x="9598660" y="4089400"/>
            <a:ext cx="184912" cy="256032"/>
          </a:xfrm>
          <a:prstGeom prst="line">
            <a:avLst/>
          </a:prstGeom>
          <a:ln w="85344">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62E9D813-106B-AA2D-28A1-37B5A67CB34B}"/>
              </a:ext>
            </a:extLst>
          </p:cNvPr>
          <p:cNvCxnSpPr/>
          <p:nvPr/>
        </p:nvCxnSpPr>
        <p:spPr>
          <a:xfrm flipH="1" flipV="1">
            <a:off x="1083183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DCAFBFB9-5547-6F59-132C-386769DED0BF}"/>
              </a:ext>
            </a:extLst>
          </p:cNvPr>
          <p:cNvSpPr/>
          <p:nvPr/>
        </p:nvSpPr>
        <p:spPr>
          <a:xfrm>
            <a:off x="1074801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466F0C4-FA21-00BF-B354-9E6FD745AE10}"/>
              </a:ext>
            </a:extLst>
          </p:cNvPr>
          <p:cNvCxnSpPr/>
          <p:nvPr/>
        </p:nvCxnSpPr>
        <p:spPr>
          <a:xfrm>
            <a:off x="1077595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30A91D79-8D3C-B9A2-1800-F168398DB4AC}"/>
              </a:ext>
            </a:extLst>
          </p:cNvPr>
          <p:cNvCxnSpPr/>
          <p:nvPr/>
        </p:nvCxnSpPr>
        <p:spPr>
          <a:xfrm flipV="1">
            <a:off x="1098550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Oval 91">
            <a:extLst>
              <a:ext uri="{FF2B5EF4-FFF2-40B4-BE49-F238E27FC236}">
                <a16:creationId xmlns:a16="http://schemas.microsoft.com/office/drawing/2014/main" id="{8CC8063B-8A5E-1B5E-EA0D-FAED46FEC8CF}"/>
              </a:ext>
            </a:extLst>
          </p:cNvPr>
          <p:cNvSpPr/>
          <p:nvPr/>
        </p:nvSpPr>
        <p:spPr>
          <a:xfrm>
            <a:off x="1105535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7E280EB1-9EEF-9482-5500-690FC821CB55}"/>
              </a:ext>
            </a:extLst>
          </p:cNvPr>
          <p:cNvCxnSpPr/>
          <p:nvPr/>
        </p:nvCxnSpPr>
        <p:spPr>
          <a:xfrm>
            <a:off x="1108329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880619DC-30DE-8F12-1A2D-50A36605D548}"/>
              </a:ext>
            </a:extLst>
          </p:cNvPr>
          <p:cNvCxnSpPr/>
          <p:nvPr/>
        </p:nvCxnSpPr>
        <p:spPr>
          <a:xfrm flipH="1">
            <a:off x="1083183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055A4E22-B326-56FF-DAB0-F31ABB24666F}"/>
              </a:ext>
            </a:extLst>
          </p:cNvPr>
          <p:cNvSpPr/>
          <p:nvPr/>
        </p:nvSpPr>
        <p:spPr>
          <a:xfrm>
            <a:off x="1074801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31400662-35BB-1F8F-581B-BD9E1E7D887B}"/>
              </a:ext>
            </a:extLst>
          </p:cNvPr>
          <p:cNvCxnSpPr/>
          <p:nvPr/>
        </p:nvCxnSpPr>
        <p:spPr>
          <a:xfrm>
            <a:off x="1077595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2A068213-7558-0BB3-AB49-0EAB55686942}"/>
              </a:ext>
            </a:extLst>
          </p:cNvPr>
          <p:cNvCxnSpPr/>
          <p:nvPr/>
        </p:nvCxnSpPr>
        <p:spPr>
          <a:xfrm>
            <a:off x="1098550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8" name="Oval 97">
            <a:extLst>
              <a:ext uri="{FF2B5EF4-FFF2-40B4-BE49-F238E27FC236}">
                <a16:creationId xmlns:a16="http://schemas.microsoft.com/office/drawing/2014/main" id="{DC7B8E32-C58B-31DF-DE87-BD8C20890308}"/>
              </a:ext>
            </a:extLst>
          </p:cNvPr>
          <p:cNvSpPr/>
          <p:nvPr/>
        </p:nvSpPr>
        <p:spPr>
          <a:xfrm>
            <a:off x="1105535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8E072599-5E85-FEF7-403D-FFF69A88DA5D}"/>
              </a:ext>
            </a:extLst>
          </p:cNvPr>
          <p:cNvCxnSpPr/>
          <p:nvPr/>
        </p:nvCxnSpPr>
        <p:spPr>
          <a:xfrm>
            <a:off x="1108329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100" name="Rectangle: Rounded Corners 99">
            <a:extLst>
              <a:ext uri="{FF2B5EF4-FFF2-40B4-BE49-F238E27FC236}">
                <a16:creationId xmlns:a16="http://schemas.microsoft.com/office/drawing/2014/main" id="{83450EF9-755A-4B3F-ACE5-500E0AE6A4D4}"/>
              </a:ext>
            </a:extLst>
          </p:cNvPr>
          <p:cNvSpPr/>
          <p:nvPr/>
        </p:nvSpPr>
        <p:spPr>
          <a:xfrm>
            <a:off x="10922635" y="39903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756767EB-A1F0-C398-43FB-35D7D010962D}"/>
              </a:ext>
            </a:extLst>
          </p:cNvPr>
          <p:cNvSpPr/>
          <p:nvPr/>
        </p:nvSpPr>
        <p:spPr>
          <a:xfrm>
            <a:off x="10964545" y="40322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958E012E-558F-D5C9-6828-0352CE561AA1}"/>
              </a:ext>
            </a:extLst>
          </p:cNvPr>
          <p:cNvCxnSpPr/>
          <p:nvPr/>
        </p:nvCxnSpPr>
        <p:spPr>
          <a:xfrm>
            <a:off x="10541000" y="3771900"/>
            <a:ext cx="0" cy="63500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103" name="Rectangle: Rounded Corners 102">
            <a:extLst>
              <a:ext uri="{FF2B5EF4-FFF2-40B4-BE49-F238E27FC236}">
                <a16:creationId xmlns:a16="http://schemas.microsoft.com/office/drawing/2014/main" id="{5A1257BC-C91F-1F5A-41FA-68041FC29E2F}"/>
              </a:ext>
            </a:extLst>
          </p:cNvPr>
          <p:cNvSpPr/>
          <p:nvPr/>
        </p:nvSpPr>
        <p:spPr>
          <a:xfrm>
            <a:off x="508000" y="5727700"/>
            <a:ext cx="13335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53FA13DA-DE8B-B8D3-7431-A070B801F435}"/>
              </a:ext>
            </a:extLst>
          </p:cNvPr>
          <p:cNvSpPr txBox="1"/>
          <p:nvPr/>
        </p:nvSpPr>
        <p:spPr>
          <a:xfrm>
            <a:off x="635000" y="5791200"/>
            <a:ext cx="10795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LIVE SETUP</a:t>
            </a:r>
          </a:p>
        </p:txBody>
      </p:sp>
      <p:sp>
        <p:nvSpPr>
          <p:cNvPr id="105" name="TextBox 104">
            <a:extLst>
              <a:ext uri="{FF2B5EF4-FFF2-40B4-BE49-F238E27FC236}">
                <a16:creationId xmlns:a16="http://schemas.microsoft.com/office/drawing/2014/main" id="{F27A1431-8BA9-5141-609B-868234168FC9}"/>
              </a:ext>
            </a:extLst>
          </p:cNvPr>
          <p:cNvSpPr txBox="1"/>
          <p:nvPr/>
        </p:nvSpPr>
        <p:spPr>
          <a:xfrm>
            <a:off x="2057400" y="5765800"/>
            <a:ext cx="957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Phones as operators  →  Main computer  →  Shared 3D simulation</a:t>
            </a:r>
          </a:p>
        </p:txBody>
      </p:sp>
    </p:spTree>
    <p:extLst>
      <p:ext uri="{BB962C8B-B14F-4D97-AF65-F5344CB8AC3E}">
        <p14:creationId xmlns:p14="http://schemas.microsoft.com/office/powerpoint/2010/main" val="2099169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46D8E-7187-C567-4C23-938A8A87374B}"/>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5DD6A984-EDD2-83D3-492D-DE838996DE69}"/>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 / MISSION PLANNING + LIVE CONTROL</a:t>
            </a:r>
          </a:p>
        </p:txBody>
      </p:sp>
      <p:sp>
        <p:nvSpPr>
          <p:cNvPr id="4" name="TextBox 3">
            <a:extLst>
              <a:ext uri="{FF2B5EF4-FFF2-40B4-BE49-F238E27FC236}">
                <a16:creationId xmlns:a16="http://schemas.microsoft.com/office/drawing/2014/main" id="{59FFE0F3-D11E-D996-8B97-9783B035769F}"/>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Plan the route. Adapt mid-flight.</a:t>
            </a:r>
          </a:p>
        </p:txBody>
      </p:sp>
      <p:cxnSp>
        <p:nvCxnSpPr>
          <p:cNvPr id="5" name="Straight Connector 4">
            <a:extLst>
              <a:ext uri="{FF2B5EF4-FFF2-40B4-BE49-F238E27FC236}">
                <a16:creationId xmlns:a16="http://schemas.microsoft.com/office/drawing/2014/main" id="{9E60F0A3-0213-D5DA-C4A2-29103556F795}"/>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803FBBB-B723-067D-4C2C-ADE037F6232C}"/>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3271A580-1DA7-E270-1E2D-509CE4BC927A}"/>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05</a:t>
            </a:r>
          </a:p>
        </p:txBody>
      </p:sp>
      <p:sp>
        <p:nvSpPr>
          <p:cNvPr id="8" name="TextBox 7">
            <a:extLst>
              <a:ext uri="{FF2B5EF4-FFF2-40B4-BE49-F238E27FC236}">
                <a16:creationId xmlns:a16="http://schemas.microsoft.com/office/drawing/2014/main" id="{34185C6D-4008-198F-6EC3-8E8466386C3D}"/>
              </a:ext>
            </a:extLst>
          </p:cNvPr>
          <p:cNvSpPr txBox="1"/>
          <p:nvPr/>
        </p:nvSpPr>
        <p:spPr>
          <a:xfrm>
            <a:off x="508000" y="1968500"/>
            <a:ext cx="11137900" cy="369332"/>
          </a:xfrm>
          <a:prstGeom prst="rect">
            <a:avLst/>
          </a:prstGeom>
          <a:noFill/>
        </p:spPr>
        <p:txBody>
          <a:bodyPr vert="horz" wrap="square" lIns="0" tIns="0" rIns="0" bIns="0" rtlCol="0">
            <a:spAutoFit/>
          </a:bodyPr>
          <a:lstStyle/>
          <a:p>
            <a:r>
              <a:rPr lang="en-US" sz="2400">
                <a:solidFill>
                  <a:srgbClr val="617286"/>
                </a:solidFill>
                <a:latin typeface="Aptos" panose="020B0004020202020204" pitchFamily="34" charset="0"/>
              </a:rPr>
              <a:t>A planned mission stays responsive to the operator.</a:t>
            </a:r>
          </a:p>
        </p:txBody>
      </p:sp>
      <p:sp>
        <p:nvSpPr>
          <p:cNvPr id="9" name="Rectangle 8">
            <a:extLst>
              <a:ext uri="{FF2B5EF4-FFF2-40B4-BE49-F238E27FC236}">
                <a16:creationId xmlns:a16="http://schemas.microsoft.com/office/drawing/2014/main" id="{C8541522-A6FE-9379-EF7F-7710B27A7BDA}"/>
              </a:ext>
            </a:extLst>
          </p:cNvPr>
          <p:cNvSpPr/>
          <p:nvPr/>
        </p:nvSpPr>
        <p:spPr>
          <a:xfrm>
            <a:off x="508000" y="2603500"/>
            <a:ext cx="3111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CCA3D9B-B94B-7C6F-2226-6640434F865A}"/>
              </a:ext>
            </a:extLst>
          </p:cNvPr>
          <p:cNvCxnSpPr/>
          <p:nvPr/>
        </p:nvCxnSpPr>
        <p:spPr>
          <a:xfrm>
            <a:off x="698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B6BA4E5-0FAD-CAB0-BD93-204429B0338B}"/>
              </a:ext>
            </a:extLst>
          </p:cNvPr>
          <p:cNvCxnSpPr/>
          <p:nvPr/>
        </p:nvCxnSpPr>
        <p:spPr>
          <a:xfrm>
            <a:off x="1104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D840721-6B1F-08E1-5E72-7CF04D09F624}"/>
              </a:ext>
            </a:extLst>
          </p:cNvPr>
          <p:cNvCxnSpPr/>
          <p:nvPr/>
        </p:nvCxnSpPr>
        <p:spPr>
          <a:xfrm>
            <a:off x="15113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7F0A0C1-1EBB-5BCD-3075-7465DB1A0438}"/>
              </a:ext>
            </a:extLst>
          </p:cNvPr>
          <p:cNvCxnSpPr/>
          <p:nvPr/>
        </p:nvCxnSpPr>
        <p:spPr>
          <a:xfrm>
            <a:off x="19177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E1DD499-4C90-1464-3DA4-91428E825BA1}"/>
              </a:ext>
            </a:extLst>
          </p:cNvPr>
          <p:cNvCxnSpPr/>
          <p:nvPr/>
        </p:nvCxnSpPr>
        <p:spPr>
          <a:xfrm>
            <a:off x="23241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D74588E-9AFA-CB55-49C9-B449A286AD88}"/>
              </a:ext>
            </a:extLst>
          </p:cNvPr>
          <p:cNvCxnSpPr/>
          <p:nvPr/>
        </p:nvCxnSpPr>
        <p:spPr>
          <a:xfrm>
            <a:off x="2730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AD8C0DE-70C3-4B4D-407E-971456A16CDA}"/>
              </a:ext>
            </a:extLst>
          </p:cNvPr>
          <p:cNvCxnSpPr/>
          <p:nvPr/>
        </p:nvCxnSpPr>
        <p:spPr>
          <a:xfrm>
            <a:off x="3136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3144F1A-43F1-563F-F25E-902BA4B6B69C}"/>
              </a:ext>
            </a:extLst>
          </p:cNvPr>
          <p:cNvCxnSpPr/>
          <p:nvPr/>
        </p:nvCxnSpPr>
        <p:spPr>
          <a:xfrm>
            <a:off x="698500" y="27559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6856C6B-6CD1-1BB3-01C0-EE69282976B4}"/>
              </a:ext>
            </a:extLst>
          </p:cNvPr>
          <p:cNvCxnSpPr/>
          <p:nvPr/>
        </p:nvCxnSpPr>
        <p:spPr>
          <a:xfrm>
            <a:off x="698500" y="31623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8933135-EAD5-FD52-3A8C-5E8D03474E58}"/>
              </a:ext>
            </a:extLst>
          </p:cNvPr>
          <p:cNvCxnSpPr/>
          <p:nvPr/>
        </p:nvCxnSpPr>
        <p:spPr>
          <a:xfrm>
            <a:off x="698500" y="35687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6FEF5F4-2B21-A957-9580-DB1122518CCC}"/>
              </a:ext>
            </a:extLst>
          </p:cNvPr>
          <p:cNvCxnSpPr/>
          <p:nvPr/>
        </p:nvCxnSpPr>
        <p:spPr>
          <a:xfrm>
            <a:off x="698500" y="39751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DB2387D-DDAF-73AE-9F2D-0E30AE59E36B}"/>
              </a:ext>
            </a:extLst>
          </p:cNvPr>
          <p:cNvCxnSpPr/>
          <p:nvPr/>
        </p:nvCxnSpPr>
        <p:spPr>
          <a:xfrm flipV="1">
            <a:off x="952500" y="3276600"/>
            <a:ext cx="444500" cy="787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05CDB72-B752-CDA8-C40E-BD917E82E0E8}"/>
              </a:ext>
            </a:extLst>
          </p:cNvPr>
          <p:cNvCxnSpPr/>
          <p:nvPr/>
        </p:nvCxnSpPr>
        <p:spPr>
          <a:xfrm>
            <a:off x="1397000" y="3276600"/>
            <a:ext cx="723900" cy="431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0EADFAC-FA28-CEAE-9E4E-860AFCC2D14E}"/>
              </a:ext>
            </a:extLst>
          </p:cNvPr>
          <p:cNvCxnSpPr/>
          <p:nvPr/>
        </p:nvCxnSpPr>
        <p:spPr>
          <a:xfrm flipV="1">
            <a:off x="2120900" y="2984500"/>
            <a:ext cx="952500" cy="7239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6390C46C-BC3D-1670-B466-7CAD1CFFF457}"/>
              </a:ext>
            </a:extLst>
          </p:cNvPr>
          <p:cNvSpPr/>
          <p:nvPr/>
        </p:nvSpPr>
        <p:spPr>
          <a:xfrm>
            <a:off x="889000" y="40005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C98EC31-0173-3F2E-5F69-F89E05621E27}"/>
              </a:ext>
            </a:extLst>
          </p:cNvPr>
          <p:cNvSpPr/>
          <p:nvPr/>
        </p:nvSpPr>
        <p:spPr>
          <a:xfrm>
            <a:off x="1333500" y="32131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C483029-16AF-F62C-AE09-96BF083316CA}"/>
              </a:ext>
            </a:extLst>
          </p:cNvPr>
          <p:cNvSpPr/>
          <p:nvPr/>
        </p:nvSpPr>
        <p:spPr>
          <a:xfrm>
            <a:off x="2057400" y="36449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6D20519-B0AD-4D64-F299-997F5C080215}"/>
              </a:ext>
            </a:extLst>
          </p:cNvPr>
          <p:cNvSpPr/>
          <p:nvPr/>
        </p:nvSpPr>
        <p:spPr>
          <a:xfrm>
            <a:off x="3009900" y="29210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6E78025-4D28-E41D-9931-C53A5E411871}"/>
              </a:ext>
            </a:extLst>
          </p:cNvPr>
          <p:cNvSpPr txBox="1"/>
          <p:nvPr/>
        </p:nvSpPr>
        <p:spPr>
          <a:xfrm>
            <a:off x="508000" y="4648200"/>
            <a:ext cx="32385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01  PLAN IN 2D</a:t>
            </a:r>
          </a:p>
        </p:txBody>
      </p:sp>
      <p:sp>
        <p:nvSpPr>
          <p:cNvPr id="29" name="TextBox 28">
            <a:extLst>
              <a:ext uri="{FF2B5EF4-FFF2-40B4-BE49-F238E27FC236}">
                <a16:creationId xmlns:a16="http://schemas.microsoft.com/office/drawing/2014/main" id="{19BAEB2C-D5DE-C0C1-A0DA-BF321739AD66}"/>
              </a:ext>
            </a:extLst>
          </p:cNvPr>
          <p:cNvSpPr txBox="1"/>
          <p:nvPr/>
        </p:nvSpPr>
        <p:spPr>
          <a:xfrm>
            <a:off x="508000" y="5016500"/>
            <a:ext cx="33020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Build the mission in a flight planner.</a:t>
            </a:r>
          </a:p>
        </p:txBody>
      </p:sp>
      <p:cxnSp>
        <p:nvCxnSpPr>
          <p:cNvPr id="30" name="Straight Connector 29">
            <a:extLst>
              <a:ext uri="{FF2B5EF4-FFF2-40B4-BE49-F238E27FC236}">
                <a16:creationId xmlns:a16="http://schemas.microsoft.com/office/drawing/2014/main" id="{8294A8F5-3E31-637C-0EEA-78EE6EE45666}"/>
              </a:ext>
            </a:extLst>
          </p:cNvPr>
          <p:cNvCxnSpPr/>
          <p:nvPr/>
        </p:nvCxnSpPr>
        <p:spPr>
          <a:xfrm>
            <a:off x="3721100" y="3543300"/>
            <a:ext cx="3810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DDF8E4BB-F8E4-10F9-AFE6-37806D04CE10}"/>
              </a:ext>
            </a:extLst>
          </p:cNvPr>
          <p:cNvSpPr/>
          <p:nvPr/>
        </p:nvSpPr>
        <p:spPr>
          <a:xfrm>
            <a:off x="4241800" y="2603500"/>
            <a:ext cx="3492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9DD5859A-D34E-326B-0430-0BF4A68B3C18}"/>
              </a:ext>
            </a:extLst>
          </p:cNvPr>
          <p:cNvCxnSpPr/>
          <p:nvPr/>
        </p:nvCxnSpPr>
        <p:spPr>
          <a:xfrm flipV="1">
            <a:off x="4432300" y="2895600"/>
            <a:ext cx="558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47BF8C9-E34B-B74E-6DFC-0BB82340DC87}"/>
              </a:ext>
            </a:extLst>
          </p:cNvPr>
          <p:cNvCxnSpPr/>
          <p:nvPr/>
        </p:nvCxnSpPr>
        <p:spPr>
          <a:xfrm flipV="1">
            <a:off x="4800600" y="2895600"/>
            <a:ext cx="622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269DD1B-264E-547D-63BA-03B7DEF1D1C4}"/>
              </a:ext>
            </a:extLst>
          </p:cNvPr>
          <p:cNvCxnSpPr/>
          <p:nvPr/>
        </p:nvCxnSpPr>
        <p:spPr>
          <a:xfrm flipV="1">
            <a:off x="5168900" y="2895600"/>
            <a:ext cx="685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97680F8-38CB-BE3C-EB62-6735EF346DC6}"/>
              </a:ext>
            </a:extLst>
          </p:cNvPr>
          <p:cNvCxnSpPr/>
          <p:nvPr/>
        </p:nvCxnSpPr>
        <p:spPr>
          <a:xfrm flipV="1">
            <a:off x="5537200" y="2895600"/>
            <a:ext cx="749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0DFBC32-7EAA-E0FF-01F7-E11B5B852B75}"/>
              </a:ext>
            </a:extLst>
          </p:cNvPr>
          <p:cNvCxnSpPr/>
          <p:nvPr/>
        </p:nvCxnSpPr>
        <p:spPr>
          <a:xfrm flipV="1">
            <a:off x="5905500" y="2895600"/>
            <a:ext cx="812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0229D3D-557C-DC0F-01FE-E0763F67848B}"/>
              </a:ext>
            </a:extLst>
          </p:cNvPr>
          <p:cNvCxnSpPr/>
          <p:nvPr/>
        </p:nvCxnSpPr>
        <p:spPr>
          <a:xfrm flipV="1">
            <a:off x="6273800" y="2895600"/>
            <a:ext cx="876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D2C1FFB-185F-CE12-EC61-0CF9AA78B9E2}"/>
              </a:ext>
            </a:extLst>
          </p:cNvPr>
          <p:cNvCxnSpPr/>
          <p:nvPr/>
        </p:nvCxnSpPr>
        <p:spPr>
          <a:xfrm>
            <a:off x="4432300" y="4191000"/>
            <a:ext cx="1841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1D5DD55-FFEF-082F-26A7-DFC393461570}"/>
              </a:ext>
            </a:extLst>
          </p:cNvPr>
          <p:cNvCxnSpPr/>
          <p:nvPr/>
        </p:nvCxnSpPr>
        <p:spPr>
          <a:xfrm>
            <a:off x="4572000" y="3867150"/>
            <a:ext cx="1905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32EE17B9-4BB8-C10F-5659-145642E5BFDE}"/>
              </a:ext>
            </a:extLst>
          </p:cNvPr>
          <p:cNvCxnSpPr/>
          <p:nvPr/>
        </p:nvCxnSpPr>
        <p:spPr>
          <a:xfrm>
            <a:off x="4711700" y="3543300"/>
            <a:ext cx="1968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87455E70-16F1-7EFC-5AF5-1EF6CF18C06F}"/>
              </a:ext>
            </a:extLst>
          </p:cNvPr>
          <p:cNvCxnSpPr/>
          <p:nvPr/>
        </p:nvCxnSpPr>
        <p:spPr>
          <a:xfrm>
            <a:off x="4851400" y="3219450"/>
            <a:ext cx="2032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7F15DD6-4475-3BC3-E41C-2679AC508BC8}"/>
              </a:ext>
            </a:extLst>
          </p:cNvPr>
          <p:cNvCxnSpPr/>
          <p:nvPr/>
        </p:nvCxnSpPr>
        <p:spPr>
          <a:xfrm>
            <a:off x="4991100" y="2895600"/>
            <a:ext cx="2095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A0806E3-CB48-9D6C-BD40-E418E1EF9B5C}"/>
              </a:ext>
            </a:extLst>
          </p:cNvPr>
          <p:cNvCxnSpPr/>
          <p:nvPr/>
        </p:nvCxnSpPr>
        <p:spPr>
          <a:xfrm flipV="1">
            <a:off x="4686300" y="3479800"/>
            <a:ext cx="736600" cy="4572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1DB48B0-47D5-77FF-064C-649D85E84B56}"/>
              </a:ext>
            </a:extLst>
          </p:cNvPr>
          <p:cNvCxnSpPr/>
          <p:nvPr/>
        </p:nvCxnSpPr>
        <p:spPr>
          <a:xfrm>
            <a:off x="5422900" y="3479800"/>
            <a:ext cx="635000" cy="3175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082CCD8-EABE-AEF8-529B-2799D18347DA}"/>
              </a:ext>
            </a:extLst>
          </p:cNvPr>
          <p:cNvCxnSpPr/>
          <p:nvPr/>
        </p:nvCxnSpPr>
        <p:spPr>
          <a:xfrm flipV="1">
            <a:off x="6057900" y="3175000"/>
            <a:ext cx="1104900" cy="6223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F7FC2200-3208-6A10-6F25-1978F364D0DB}"/>
              </a:ext>
            </a:extLst>
          </p:cNvPr>
          <p:cNvSpPr/>
          <p:nvPr/>
        </p:nvSpPr>
        <p:spPr>
          <a:xfrm>
            <a:off x="4635500" y="3886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C7606AE-E6EC-A3D8-4D7C-4E9AC3A1CD20}"/>
              </a:ext>
            </a:extLst>
          </p:cNvPr>
          <p:cNvSpPr/>
          <p:nvPr/>
        </p:nvSpPr>
        <p:spPr>
          <a:xfrm>
            <a:off x="5372100" y="34290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5A25454A-797D-6054-675D-4EE6824E0127}"/>
              </a:ext>
            </a:extLst>
          </p:cNvPr>
          <p:cNvSpPr/>
          <p:nvPr/>
        </p:nvSpPr>
        <p:spPr>
          <a:xfrm>
            <a:off x="6007100" y="37465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94510A84-239D-4BED-7DC7-C73E7C150401}"/>
              </a:ext>
            </a:extLst>
          </p:cNvPr>
          <p:cNvSpPr/>
          <p:nvPr/>
        </p:nvSpPr>
        <p:spPr>
          <a:xfrm>
            <a:off x="7112000" y="3124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E557FDE1-7BA6-6E6A-0BC6-027FCB8AB551}"/>
              </a:ext>
            </a:extLst>
          </p:cNvPr>
          <p:cNvCxnSpPr/>
          <p:nvPr/>
        </p:nvCxnSpPr>
        <p:spPr>
          <a:xfrm flipV="1">
            <a:off x="6261100" y="3162300"/>
            <a:ext cx="0" cy="571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8A710F50-8750-1208-886E-70F6FC7CB93B}"/>
              </a:ext>
            </a:extLst>
          </p:cNvPr>
          <p:cNvCxnSpPr/>
          <p:nvPr/>
        </p:nvCxnSpPr>
        <p:spPr>
          <a:xfrm flipH="1" flipV="1">
            <a:off x="6115812"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67EB1CCF-0ED8-BAE7-164A-76348B35A04C}"/>
              </a:ext>
            </a:extLst>
          </p:cNvPr>
          <p:cNvSpPr/>
          <p:nvPr/>
        </p:nvSpPr>
        <p:spPr>
          <a:xfrm>
            <a:off x="6036564"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6C62B273-6687-493A-B177-04327B8EA795}"/>
              </a:ext>
            </a:extLst>
          </p:cNvPr>
          <p:cNvCxnSpPr/>
          <p:nvPr/>
        </p:nvCxnSpPr>
        <p:spPr>
          <a:xfrm>
            <a:off x="6062980"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61B938A-EF23-39FA-D70E-7986C01702D6}"/>
              </a:ext>
            </a:extLst>
          </p:cNvPr>
          <p:cNvCxnSpPr/>
          <p:nvPr/>
        </p:nvCxnSpPr>
        <p:spPr>
          <a:xfrm flipV="1">
            <a:off x="6261100"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50DDB2E2-ACD2-A59A-B885-67B382E7F82A}"/>
              </a:ext>
            </a:extLst>
          </p:cNvPr>
          <p:cNvSpPr/>
          <p:nvPr/>
        </p:nvSpPr>
        <p:spPr>
          <a:xfrm>
            <a:off x="6327140"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28EA13F-3C1D-7ACD-5A20-5087E99CFDDF}"/>
              </a:ext>
            </a:extLst>
          </p:cNvPr>
          <p:cNvCxnSpPr/>
          <p:nvPr/>
        </p:nvCxnSpPr>
        <p:spPr>
          <a:xfrm>
            <a:off x="6353556"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C19A9E35-80B3-E83E-5434-932AEF24F6EA}"/>
              </a:ext>
            </a:extLst>
          </p:cNvPr>
          <p:cNvCxnSpPr/>
          <p:nvPr/>
        </p:nvCxnSpPr>
        <p:spPr>
          <a:xfrm flipH="1">
            <a:off x="6115812"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BDB27785-F922-278A-EA6B-4C45791EB2B8}"/>
              </a:ext>
            </a:extLst>
          </p:cNvPr>
          <p:cNvSpPr/>
          <p:nvPr/>
        </p:nvSpPr>
        <p:spPr>
          <a:xfrm>
            <a:off x="6036564"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E174275-1229-27D6-1DA1-BE9CC7C7A829}"/>
              </a:ext>
            </a:extLst>
          </p:cNvPr>
          <p:cNvCxnSpPr/>
          <p:nvPr/>
        </p:nvCxnSpPr>
        <p:spPr>
          <a:xfrm>
            <a:off x="6062980"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AA0BABB-DD11-4C96-0E24-009EB796B7EC}"/>
              </a:ext>
            </a:extLst>
          </p:cNvPr>
          <p:cNvCxnSpPr/>
          <p:nvPr/>
        </p:nvCxnSpPr>
        <p:spPr>
          <a:xfrm>
            <a:off x="6261100"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82F16450-B9C1-01AE-4B86-618D3EB43935}"/>
              </a:ext>
            </a:extLst>
          </p:cNvPr>
          <p:cNvSpPr/>
          <p:nvPr/>
        </p:nvSpPr>
        <p:spPr>
          <a:xfrm>
            <a:off x="6327140"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F623756B-3F4A-D281-0770-505CD61D59C2}"/>
              </a:ext>
            </a:extLst>
          </p:cNvPr>
          <p:cNvCxnSpPr/>
          <p:nvPr/>
        </p:nvCxnSpPr>
        <p:spPr>
          <a:xfrm>
            <a:off x="6353556"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63" name="Rectangle: Rounded Corners 62">
            <a:extLst>
              <a:ext uri="{FF2B5EF4-FFF2-40B4-BE49-F238E27FC236}">
                <a16:creationId xmlns:a16="http://schemas.microsoft.com/office/drawing/2014/main" id="{31085379-E60F-1D89-3195-12054A934C92}"/>
              </a:ext>
            </a:extLst>
          </p:cNvPr>
          <p:cNvSpPr/>
          <p:nvPr/>
        </p:nvSpPr>
        <p:spPr>
          <a:xfrm>
            <a:off x="6201664" y="2916936"/>
            <a:ext cx="118872" cy="211328"/>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7AF364E1-2947-5C22-DE2F-20D3866E8796}"/>
              </a:ext>
            </a:extLst>
          </p:cNvPr>
          <p:cNvSpPr/>
          <p:nvPr/>
        </p:nvSpPr>
        <p:spPr>
          <a:xfrm>
            <a:off x="6241288" y="2956560"/>
            <a:ext cx="39624" cy="39624"/>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85869F32-A5C7-B57D-313D-018B8739F102}"/>
              </a:ext>
            </a:extLst>
          </p:cNvPr>
          <p:cNvSpPr txBox="1"/>
          <p:nvPr/>
        </p:nvSpPr>
        <p:spPr>
          <a:xfrm>
            <a:off x="4241800" y="4648200"/>
            <a:ext cx="35941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02  VISUALIZE IN 3D</a:t>
            </a:r>
          </a:p>
        </p:txBody>
      </p:sp>
      <p:sp>
        <p:nvSpPr>
          <p:cNvPr id="66" name="TextBox 65">
            <a:extLst>
              <a:ext uri="{FF2B5EF4-FFF2-40B4-BE49-F238E27FC236}">
                <a16:creationId xmlns:a16="http://schemas.microsoft.com/office/drawing/2014/main" id="{92F472D5-A994-6128-F8AC-8235FB4A53DA}"/>
              </a:ext>
            </a:extLst>
          </p:cNvPr>
          <p:cNvSpPr txBox="1"/>
          <p:nvPr/>
        </p:nvSpPr>
        <p:spPr>
          <a:xfrm>
            <a:off x="4241800" y="5016500"/>
            <a:ext cx="3606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See the mission in a virtual world.</a:t>
            </a:r>
          </a:p>
        </p:txBody>
      </p:sp>
      <p:sp>
        <p:nvSpPr>
          <p:cNvPr id="67" name="Rectangle 66">
            <a:extLst>
              <a:ext uri="{FF2B5EF4-FFF2-40B4-BE49-F238E27FC236}">
                <a16:creationId xmlns:a16="http://schemas.microsoft.com/office/drawing/2014/main" id="{C995E1F0-4FB9-1FCB-893F-35279FBCF765}"/>
              </a:ext>
            </a:extLst>
          </p:cNvPr>
          <p:cNvSpPr/>
          <p:nvPr/>
        </p:nvSpPr>
        <p:spPr>
          <a:xfrm>
            <a:off x="8445500" y="2603500"/>
            <a:ext cx="3175000" cy="18796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5A3C5B53-B8C6-3F00-5E68-BB0A2EF27622}"/>
              </a:ext>
            </a:extLst>
          </p:cNvPr>
          <p:cNvSpPr/>
          <p:nvPr/>
        </p:nvSpPr>
        <p:spPr>
          <a:xfrm>
            <a:off x="8864600" y="3513328"/>
            <a:ext cx="327660" cy="34950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7C8794D0-BE65-C16F-C839-59419AA14936}"/>
              </a:ext>
            </a:extLst>
          </p:cNvPr>
          <p:cNvCxnSpPr/>
          <p:nvPr/>
        </p:nvCxnSpPr>
        <p:spPr>
          <a:xfrm flipV="1">
            <a:off x="8897366" y="3338576"/>
            <a:ext cx="0" cy="240284"/>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ACA8E9D-DD6B-2010-79A3-4AF3BA8D0E72}"/>
              </a:ext>
            </a:extLst>
          </p:cNvPr>
          <p:cNvCxnSpPr/>
          <p:nvPr/>
        </p:nvCxnSpPr>
        <p:spPr>
          <a:xfrm flipV="1">
            <a:off x="8984742" y="3265051"/>
            <a:ext cx="0" cy="313809"/>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C7EBDFFE-7646-CDF4-AFBD-0751E97AB91F}"/>
              </a:ext>
            </a:extLst>
          </p:cNvPr>
          <p:cNvCxnSpPr/>
          <p:nvPr/>
        </p:nvCxnSpPr>
        <p:spPr>
          <a:xfrm flipV="1">
            <a:off x="9072118" y="3259125"/>
            <a:ext cx="0" cy="31973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9CBD0CA3-CC58-B7CF-6441-503F1E97E4E2}"/>
              </a:ext>
            </a:extLst>
          </p:cNvPr>
          <p:cNvCxnSpPr/>
          <p:nvPr/>
        </p:nvCxnSpPr>
        <p:spPr>
          <a:xfrm flipV="1">
            <a:off x="9159494" y="3326245"/>
            <a:ext cx="0" cy="25261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0F955607-84F1-0B63-A902-F742484356AD}"/>
              </a:ext>
            </a:extLst>
          </p:cNvPr>
          <p:cNvCxnSpPr/>
          <p:nvPr/>
        </p:nvCxnSpPr>
        <p:spPr>
          <a:xfrm flipH="1" flipV="1">
            <a:off x="8755380" y="3524250"/>
            <a:ext cx="141986" cy="196596"/>
          </a:xfrm>
          <a:prstGeom prst="line">
            <a:avLst/>
          </a:prstGeom>
          <a:ln w="65532">
            <a:solidFill>
              <a:srgbClr val="006B62"/>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0884AAB6-E262-BF57-F434-6D16AF1441C4}"/>
              </a:ext>
            </a:extLst>
          </p:cNvPr>
          <p:cNvSpPr/>
          <p:nvPr/>
        </p:nvSpPr>
        <p:spPr>
          <a:xfrm>
            <a:off x="10838561" y="3514344"/>
            <a:ext cx="90678" cy="9067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7299F77F-DB85-095A-F257-A30A5FD5FBEA}"/>
              </a:ext>
            </a:extLst>
          </p:cNvPr>
          <p:cNvSpPr/>
          <p:nvPr/>
        </p:nvSpPr>
        <p:spPr>
          <a:xfrm>
            <a:off x="10819130" y="3630930"/>
            <a:ext cx="129540" cy="20726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EC6E98A4-F0CB-71D6-0A0F-3168AE1CE4A0}"/>
              </a:ext>
            </a:extLst>
          </p:cNvPr>
          <p:cNvCxnSpPr/>
          <p:nvPr/>
        </p:nvCxnSpPr>
        <p:spPr>
          <a:xfrm flipH="1">
            <a:off x="10819130"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E90B6152-EC04-C6ED-2179-AB50AD6B780E}"/>
              </a:ext>
            </a:extLst>
          </p:cNvPr>
          <p:cNvCxnSpPr/>
          <p:nvPr/>
        </p:nvCxnSpPr>
        <p:spPr>
          <a:xfrm>
            <a:off x="10929239"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3020B76-24EA-6AE8-5CFF-75B1EE5E79B9}"/>
              </a:ext>
            </a:extLst>
          </p:cNvPr>
          <p:cNvCxnSpPr/>
          <p:nvPr/>
        </p:nvCxnSpPr>
        <p:spPr>
          <a:xfrm flipH="1">
            <a:off x="10741406" y="3676269"/>
            <a:ext cx="97155" cy="77724"/>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4C15FB9-3F2E-DB98-4366-4173CF812372}"/>
              </a:ext>
            </a:extLst>
          </p:cNvPr>
          <p:cNvCxnSpPr/>
          <p:nvPr/>
        </p:nvCxnSpPr>
        <p:spPr>
          <a:xfrm flipV="1">
            <a:off x="10929239" y="3553206"/>
            <a:ext cx="103632" cy="123063"/>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13934064-915A-59B2-E88E-97CE556B7B92}"/>
              </a:ext>
            </a:extLst>
          </p:cNvPr>
          <p:cNvCxnSpPr/>
          <p:nvPr/>
        </p:nvCxnSpPr>
        <p:spPr>
          <a:xfrm flipH="1" flipV="1">
            <a:off x="10519664"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8386B268-1D19-B4EB-A9A6-35FBAB6A3B86}"/>
              </a:ext>
            </a:extLst>
          </p:cNvPr>
          <p:cNvSpPr/>
          <p:nvPr/>
        </p:nvSpPr>
        <p:spPr>
          <a:xfrm>
            <a:off x="10452608"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4F76FA0A-5EA9-1D9E-622D-4DD4FA498AC5}"/>
              </a:ext>
            </a:extLst>
          </p:cNvPr>
          <p:cNvCxnSpPr/>
          <p:nvPr/>
        </p:nvCxnSpPr>
        <p:spPr>
          <a:xfrm>
            <a:off x="10474960"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B392CFDF-C927-2D95-18C5-F99FC33C16ED}"/>
              </a:ext>
            </a:extLst>
          </p:cNvPr>
          <p:cNvCxnSpPr/>
          <p:nvPr/>
        </p:nvCxnSpPr>
        <p:spPr>
          <a:xfrm flipV="1">
            <a:off x="10642600"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661BF49D-5DEF-DC25-8B14-0AEFB326235A}"/>
              </a:ext>
            </a:extLst>
          </p:cNvPr>
          <p:cNvSpPr/>
          <p:nvPr/>
        </p:nvSpPr>
        <p:spPr>
          <a:xfrm>
            <a:off x="10698480"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E1339046-CE03-1001-2248-F8E3F5E03CA7}"/>
              </a:ext>
            </a:extLst>
          </p:cNvPr>
          <p:cNvCxnSpPr/>
          <p:nvPr/>
        </p:nvCxnSpPr>
        <p:spPr>
          <a:xfrm>
            <a:off x="10720832"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B274A25C-0DC1-256C-8759-6D44F773D31E}"/>
              </a:ext>
            </a:extLst>
          </p:cNvPr>
          <p:cNvCxnSpPr/>
          <p:nvPr/>
        </p:nvCxnSpPr>
        <p:spPr>
          <a:xfrm flipH="1">
            <a:off x="10519664"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9D531C85-8143-B784-5B69-F99DE23B5251}"/>
              </a:ext>
            </a:extLst>
          </p:cNvPr>
          <p:cNvSpPr/>
          <p:nvPr/>
        </p:nvSpPr>
        <p:spPr>
          <a:xfrm>
            <a:off x="10452608"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56B0BDD2-2563-4654-AC72-FCAF75D302DA}"/>
              </a:ext>
            </a:extLst>
          </p:cNvPr>
          <p:cNvCxnSpPr/>
          <p:nvPr/>
        </p:nvCxnSpPr>
        <p:spPr>
          <a:xfrm>
            <a:off x="10474960"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666FEB21-EFEA-B701-90FE-43672967009A}"/>
              </a:ext>
            </a:extLst>
          </p:cNvPr>
          <p:cNvCxnSpPr/>
          <p:nvPr/>
        </p:nvCxnSpPr>
        <p:spPr>
          <a:xfrm>
            <a:off x="10642600"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8FD53850-DEC0-7B7F-545B-C72AD78586B0}"/>
              </a:ext>
            </a:extLst>
          </p:cNvPr>
          <p:cNvSpPr/>
          <p:nvPr/>
        </p:nvSpPr>
        <p:spPr>
          <a:xfrm>
            <a:off x="10698480"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92A2BAB6-243C-100F-A14B-69D08F06B761}"/>
              </a:ext>
            </a:extLst>
          </p:cNvPr>
          <p:cNvCxnSpPr/>
          <p:nvPr/>
        </p:nvCxnSpPr>
        <p:spPr>
          <a:xfrm>
            <a:off x="10720832"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Rectangle: Rounded Corners 91">
            <a:extLst>
              <a:ext uri="{FF2B5EF4-FFF2-40B4-BE49-F238E27FC236}">
                <a16:creationId xmlns:a16="http://schemas.microsoft.com/office/drawing/2014/main" id="{05475B05-F502-2BC1-A9E2-BFEC15B79E6E}"/>
              </a:ext>
            </a:extLst>
          </p:cNvPr>
          <p:cNvSpPr/>
          <p:nvPr/>
        </p:nvSpPr>
        <p:spPr>
          <a:xfrm>
            <a:off x="10592308" y="2920492"/>
            <a:ext cx="100584" cy="17881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CE79502-398F-2FA4-9307-0148B429DF39}"/>
              </a:ext>
            </a:extLst>
          </p:cNvPr>
          <p:cNvSpPr/>
          <p:nvPr/>
        </p:nvSpPr>
        <p:spPr>
          <a:xfrm>
            <a:off x="10625836" y="2954020"/>
            <a:ext cx="33528" cy="3352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38046057-13C5-CEAD-0BE3-FAD38589CA33}"/>
              </a:ext>
            </a:extLst>
          </p:cNvPr>
          <p:cNvCxnSpPr/>
          <p:nvPr/>
        </p:nvCxnSpPr>
        <p:spPr>
          <a:xfrm flipV="1">
            <a:off x="9499600" y="3162300"/>
            <a:ext cx="711200" cy="31750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FE2A891F-4025-1FB3-07F8-A786AFD2A277}"/>
              </a:ext>
            </a:extLst>
          </p:cNvPr>
          <p:cNvCxnSpPr/>
          <p:nvPr/>
        </p:nvCxnSpPr>
        <p:spPr>
          <a:xfrm flipH="1">
            <a:off x="7810500" y="3543300"/>
            <a:ext cx="571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A9C74BC4-E8E1-9C9B-9B18-066744C12253}"/>
              </a:ext>
            </a:extLst>
          </p:cNvPr>
          <p:cNvSpPr txBox="1"/>
          <p:nvPr/>
        </p:nvSpPr>
        <p:spPr>
          <a:xfrm>
            <a:off x="8445500" y="4648200"/>
            <a:ext cx="3365500" cy="261610"/>
          </a:xfrm>
          <a:prstGeom prst="rect">
            <a:avLst/>
          </a:prstGeom>
          <a:noFill/>
        </p:spPr>
        <p:txBody>
          <a:bodyPr vert="horz" wrap="square" lIns="0" tIns="0" rIns="0" bIns="0" rtlCol="0">
            <a:spAutoFit/>
          </a:bodyPr>
          <a:lstStyle/>
          <a:p>
            <a:r>
              <a:rPr lang="en-US" sz="1700" b="1">
                <a:solidFill>
                  <a:srgbClr val="006B62"/>
                </a:solidFill>
                <a:latin typeface="Aptos" panose="020B0004020202020204" pitchFamily="34" charset="0"/>
              </a:rPr>
              <a:t>03  INTERRUPT BY GESTURE</a:t>
            </a:r>
          </a:p>
        </p:txBody>
      </p:sp>
      <p:sp>
        <p:nvSpPr>
          <p:cNvPr id="97" name="TextBox 96">
            <a:extLst>
              <a:ext uri="{FF2B5EF4-FFF2-40B4-BE49-F238E27FC236}">
                <a16:creationId xmlns:a16="http://schemas.microsoft.com/office/drawing/2014/main" id="{FACC5E90-4192-92C1-F7B9-F81B81CE1722}"/>
              </a:ext>
            </a:extLst>
          </p:cNvPr>
          <p:cNvSpPr txBox="1"/>
          <p:nvPr/>
        </p:nvSpPr>
        <p:spPr>
          <a:xfrm>
            <a:off x="8445500" y="5016500"/>
            <a:ext cx="33655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Change drone behavior mid-flight.</a:t>
            </a:r>
          </a:p>
        </p:txBody>
      </p:sp>
      <p:sp>
        <p:nvSpPr>
          <p:cNvPr id="98" name="Rectangle 97">
            <a:extLst>
              <a:ext uri="{FF2B5EF4-FFF2-40B4-BE49-F238E27FC236}">
                <a16:creationId xmlns:a16="http://schemas.microsoft.com/office/drawing/2014/main" id="{98435763-459D-B38B-A418-7D40D1D07BEF}"/>
              </a:ext>
            </a:extLst>
          </p:cNvPr>
          <p:cNvSpPr/>
          <p:nvPr/>
        </p:nvSpPr>
        <p:spPr>
          <a:xfrm>
            <a:off x="508000" y="5575300"/>
            <a:ext cx="11112500" cy="5715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110D012B-A98A-96F3-D08F-C2247095A0B2}"/>
              </a:ext>
            </a:extLst>
          </p:cNvPr>
          <p:cNvSpPr txBox="1"/>
          <p:nvPr/>
        </p:nvSpPr>
        <p:spPr>
          <a:xfrm>
            <a:off x="698500" y="5689600"/>
            <a:ext cx="2451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POSSIBLE USE CASE</a:t>
            </a:r>
          </a:p>
        </p:txBody>
      </p:sp>
      <p:sp>
        <p:nvSpPr>
          <p:cNvPr id="100" name="TextBox 99">
            <a:extLst>
              <a:ext uri="{FF2B5EF4-FFF2-40B4-BE49-F238E27FC236}">
                <a16:creationId xmlns:a16="http://schemas.microsoft.com/office/drawing/2014/main" id="{5863E5D1-8BC0-15D2-6245-4C91F4CD1B35}"/>
              </a:ext>
            </a:extLst>
          </p:cNvPr>
          <p:cNvSpPr txBox="1"/>
          <p:nvPr/>
        </p:nvSpPr>
        <p:spPr>
          <a:xfrm>
            <a:off x="3048000" y="5715000"/>
            <a:ext cx="83820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Send a drone between operators to provide overwatch.</a:t>
            </a:r>
          </a:p>
        </p:txBody>
      </p:sp>
    </p:spTree>
    <p:extLst>
      <p:ext uri="{BB962C8B-B14F-4D97-AF65-F5344CB8AC3E}">
        <p14:creationId xmlns:p14="http://schemas.microsoft.com/office/powerpoint/2010/main" val="617574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04A728-149E-1333-5E97-367A49C19297}"/>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49F60299-5BE0-7F5F-C855-17F4A826FA0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05 / VALIDATION &amp; DEPLOYMENT</a:t>
            </a:r>
          </a:p>
        </p:txBody>
      </p:sp>
      <p:sp>
        <p:nvSpPr>
          <p:cNvPr id="4" name="TextBox 3">
            <a:extLst>
              <a:ext uri="{FF2B5EF4-FFF2-40B4-BE49-F238E27FC236}">
                <a16:creationId xmlns:a16="http://schemas.microsoft.com/office/drawing/2014/main" id="{9F1BC173-CCE1-0664-E54C-1FF63978EA08}"/>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A working prototype. A testable path.</a:t>
            </a:r>
          </a:p>
        </p:txBody>
      </p:sp>
      <p:cxnSp>
        <p:nvCxnSpPr>
          <p:cNvPr id="5" name="Straight Connector 4">
            <a:extLst>
              <a:ext uri="{FF2B5EF4-FFF2-40B4-BE49-F238E27FC236}">
                <a16:creationId xmlns:a16="http://schemas.microsoft.com/office/drawing/2014/main" id="{8411A936-D5BC-91DF-A927-A742CCB1B1AD}"/>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42C20C7-BF39-3D11-3465-1BA47DE70FC9}"/>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71A75007-C63E-7649-EFFF-3D19A3DC77A0}"/>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06</a:t>
            </a:r>
          </a:p>
        </p:txBody>
      </p:sp>
      <p:sp>
        <p:nvSpPr>
          <p:cNvPr id="8" name="TextBox 7">
            <a:extLst>
              <a:ext uri="{FF2B5EF4-FFF2-40B4-BE49-F238E27FC236}">
                <a16:creationId xmlns:a16="http://schemas.microsoft.com/office/drawing/2014/main" id="{75EDAF1C-5ABB-6641-70EF-655BB922A391}"/>
              </a:ext>
            </a:extLst>
          </p:cNvPr>
          <p:cNvSpPr txBox="1"/>
          <p:nvPr/>
        </p:nvSpPr>
        <p:spPr>
          <a:xfrm>
            <a:off x="508000" y="2413000"/>
            <a:ext cx="4368800" cy="200055"/>
          </a:xfrm>
          <a:prstGeom prst="rect">
            <a:avLst/>
          </a:prstGeom>
          <a:noFill/>
        </p:spPr>
        <p:txBody>
          <a:bodyPr vert="horz" wrap="square" lIns="0" tIns="0" rIns="0" bIns="0" rtlCol="0">
            <a:spAutoFit/>
          </a:bodyPr>
          <a:lstStyle/>
          <a:p>
            <a:r>
              <a:rPr lang="en-US" sz="1300" b="1">
                <a:solidFill>
                  <a:srgbClr val="006B62"/>
                </a:solidFill>
                <a:latin typeface="Aptos" panose="020B0004020202020204" pitchFamily="34" charset="0"/>
              </a:rPr>
              <a:t>WORKS IN SIMULATION</a:t>
            </a:r>
          </a:p>
        </p:txBody>
      </p:sp>
      <p:sp>
        <p:nvSpPr>
          <p:cNvPr id="9" name="Oval 8">
            <a:extLst>
              <a:ext uri="{FF2B5EF4-FFF2-40B4-BE49-F238E27FC236}">
                <a16:creationId xmlns:a16="http://schemas.microsoft.com/office/drawing/2014/main" id="{E6E4D7E1-BC3F-86AC-5AA1-CF8F74BE8CCA}"/>
              </a:ext>
            </a:extLst>
          </p:cNvPr>
          <p:cNvSpPr/>
          <p:nvPr/>
        </p:nvSpPr>
        <p:spPr>
          <a:xfrm>
            <a:off x="508000" y="30861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1476CF3-91FA-4BC4-D0C4-93374764EE3E}"/>
              </a:ext>
            </a:extLst>
          </p:cNvPr>
          <p:cNvSpPr txBox="1"/>
          <p:nvPr/>
        </p:nvSpPr>
        <p:spPr>
          <a:xfrm>
            <a:off x="800100" y="30226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Stop</a:t>
            </a:r>
          </a:p>
        </p:txBody>
      </p:sp>
      <p:sp>
        <p:nvSpPr>
          <p:cNvPr id="11" name="TextBox 10">
            <a:extLst>
              <a:ext uri="{FF2B5EF4-FFF2-40B4-BE49-F238E27FC236}">
                <a16:creationId xmlns:a16="http://schemas.microsoft.com/office/drawing/2014/main" id="{2864DD01-4CB5-61BA-6DA1-6547A5C81ED9}"/>
              </a:ext>
            </a:extLst>
          </p:cNvPr>
          <p:cNvSpPr txBox="1"/>
          <p:nvPr/>
        </p:nvSpPr>
        <p:spPr>
          <a:xfrm>
            <a:off x="800100" y="33909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Open-palm intervention</a:t>
            </a:r>
          </a:p>
        </p:txBody>
      </p:sp>
      <p:sp>
        <p:nvSpPr>
          <p:cNvPr id="12" name="Oval 11">
            <a:extLst>
              <a:ext uri="{FF2B5EF4-FFF2-40B4-BE49-F238E27FC236}">
                <a16:creationId xmlns:a16="http://schemas.microsoft.com/office/drawing/2014/main" id="{8BE40F45-4722-DCB3-4C1A-8FCF48C5BA71}"/>
              </a:ext>
            </a:extLst>
          </p:cNvPr>
          <p:cNvSpPr/>
          <p:nvPr/>
        </p:nvSpPr>
        <p:spPr>
          <a:xfrm>
            <a:off x="508000" y="39243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4ADC5DA-D263-3620-CB77-2215F7DEF0F2}"/>
              </a:ext>
            </a:extLst>
          </p:cNvPr>
          <p:cNvSpPr txBox="1"/>
          <p:nvPr/>
        </p:nvSpPr>
        <p:spPr>
          <a:xfrm>
            <a:off x="800100" y="38608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Continue</a:t>
            </a:r>
          </a:p>
        </p:txBody>
      </p:sp>
      <p:sp>
        <p:nvSpPr>
          <p:cNvPr id="14" name="TextBox 13">
            <a:extLst>
              <a:ext uri="{FF2B5EF4-FFF2-40B4-BE49-F238E27FC236}">
                <a16:creationId xmlns:a16="http://schemas.microsoft.com/office/drawing/2014/main" id="{B14D61BF-18BE-999C-7663-B425E16FE804}"/>
              </a:ext>
            </a:extLst>
          </p:cNvPr>
          <p:cNvSpPr txBox="1"/>
          <p:nvPr/>
        </p:nvSpPr>
        <p:spPr>
          <a:xfrm>
            <a:off x="800100" y="42291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Assigned path or idle without a hand</a:t>
            </a:r>
          </a:p>
        </p:txBody>
      </p:sp>
      <p:sp>
        <p:nvSpPr>
          <p:cNvPr id="15" name="Oval 14">
            <a:extLst>
              <a:ext uri="{FF2B5EF4-FFF2-40B4-BE49-F238E27FC236}">
                <a16:creationId xmlns:a16="http://schemas.microsoft.com/office/drawing/2014/main" id="{F3283D85-5A75-315B-F3FE-EAAB2C1C66C8}"/>
              </a:ext>
            </a:extLst>
          </p:cNvPr>
          <p:cNvSpPr/>
          <p:nvPr/>
        </p:nvSpPr>
        <p:spPr>
          <a:xfrm>
            <a:off x="508000" y="47625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C9D48AA-527F-322C-4454-EB2DC0CA2DE1}"/>
              </a:ext>
            </a:extLst>
          </p:cNvPr>
          <p:cNvSpPr txBox="1"/>
          <p:nvPr/>
        </p:nvSpPr>
        <p:spPr>
          <a:xfrm>
            <a:off x="800100" y="46990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Select</a:t>
            </a:r>
          </a:p>
        </p:txBody>
      </p:sp>
      <p:sp>
        <p:nvSpPr>
          <p:cNvPr id="17" name="TextBox 16">
            <a:extLst>
              <a:ext uri="{FF2B5EF4-FFF2-40B4-BE49-F238E27FC236}">
                <a16:creationId xmlns:a16="http://schemas.microsoft.com/office/drawing/2014/main" id="{A4215F5F-4A63-EEEC-B060-A7D1BE240176}"/>
              </a:ext>
            </a:extLst>
          </p:cNvPr>
          <p:cNvSpPr txBox="1"/>
          <p:nvPr/>
        </p:nvSpPr>
        <p:spPr>
          <a:xfrm>
            <a:off x="800100" y="50673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Preference for the nearest operator</a:t>
            </a:r>
          </a:p>
        </p:txBody>
      </p:sp>
      <p:cxnSp>
        <p:nvCxnSpPr>
          <p:cNvPr id="18" name="Straight Connector 17">
            <a:extLst>
              <a:ext uri="{FF2B5EF4-FFF2-40B4-BE49-F238E27FC236}">
                <a16:creationId xmlns:a16="http://schemas.microsoft.com/office/drawing/2014/main" id="{1DBBDB2B-A35A-26EC-16FB-A9177F78C38B}"/>
              </a:ext>
            </a:extLst>
          </p:cNvPr>
          <p:cNvCxnSpPr/>
          <p:nvPr/>
        </p:nvCxnSpPr>
        <p:spPr>
          <a:xfrm>
            <a:off x="5638800" y="2400300"/>
            <a:ext cx="0" cy="3175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C5E075E-09AE-C1B9-B6DB-E9800FF64424}"/>
              </a:ext>
            </a:extLst>
          </p:cNvPr>
          <p:cNvSpPr txBox="1"/>
          <p:nvPr/>
        </p:nvSpPr>
        <p:spPr>
          <a:xfrm>
            <a:off x="6172200" y="2413000"/>
            <a:ext cx="5422900" cy="200055"/>
          </a:xfrm>
          <a:prstGeom prst="rect">
            <a:avLst/>
          </a:prstGeom>
          <a:noFill/>
        </p:spPr>
        <p:txBody>
          <a:bodyPr vert="horz" wrap="square" lIns="0" tIns="0" rIns="0" bIns="0" rtlCol="0">
            <a:spAutoFit/>
          </a:bodyPr>
          <a:lstStyle/>
          <a:p>
            <a:r>
              <a:rPr lang="en-US" sz="1300" b="1">
                <a:solidFill>
                  <a:srgbClr val="2563EB"/>
                </a:solidFill>
                <a:latin typeface="Aptos" panose="020B0004020202020204" pitchFamily="34" charset="0"/>
              </a:rPr>
              <a:t>NEXT VALIDATION GATES</a:t>
            </a:r>
          </a:p>
        </p:txBody>
      </p:sp>
      <p:cxnSp>
        <p:nvCxnSpPr>
          <p:cNvPr id="20" name="Straight Connector 19">
            <a:extLst>
              <a:ext uri="{FF2B5EF4-FFF2-40B4-BE49-F238E27FC236}">
                <a16:creationId xmlns:a16="http://schemas.microsoft.com/office/drawing/2014/main" id="{0A3A14D8-4542-B6AB-5C5F-52789737F99D}"/>
              </a:ext>
            </a:extLst>
          </p:cNvPr>
          <p:cNvCxnSpPr/>
          <p:nvPr/>
        </p:nvCxnSpPr>
        <p:spPr>
          <a:xfrm>
            <a:off x="6375400" y="3213100"/>
            <a:ext cx="0" cy="1778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2638E995-6698-C550-ACA4-539F8DE1DDE1}"/>
              </a:ext>
            </a:extLst>
          </p:cNvPr>
          <p:cNvSpPr/>
          <p:nvPr/>
        </p:nvSpPr>
        <p:spPr>
          <a:xfrm>
            <a:off x="6210300" y="30353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B01754B-A81D-C49E-DF08-25468C613FEC}"/>
              </a:ext>
            </a:extLst>
          </p:cNvPr>
          <p:cNvSpPr txBox="1"/>
          <p:nvPr/>
        </p:nvSpPr>
        <p:spPr>
          <a:xfrm>
            <a:off x="6261100" y="30988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01</a:t>
            </a:r>
          </a:p>
        </p:txBody>
      </p:sp>
      <p:sp>
        <p:nvSpPr>
          <p:cNvPr id="23" name="TextBox 22">
            <a:extLst>
              <a:ext uri="{FF2B5EF4-FFF2-40B4-BE49-F238E27FC236}">
                <a16:creationId xmlns:a16="http://schemas.microsoft.com/office/drawing/2014/main" id="{796E95CF-82F0-FC88-7C2C-7F8D02F54898}"/>
              </a:ext>
            </a:extLst>
          </p:cNvPr>
          <p:cNvSpPr txBox="1"/>
          <p:nvPr/>
        </p:nvSpPr>
        <p:spPr>
          <a:xfrm>
            <a:off x="6794500" y="29972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Measure</a:t>
            </a:r>
          </a:p>
        </p:txBody>
      </p:sp>
      <p:sp>
        <p:nvSpPr>
          <p:cNvPr id="24" name="TextBox 23">
            <a:extLst>
              <a:ext uri="{FF2B5EF4-FFF2-40B4-BE49-F238E27FC236}">
                <a16:creationId xmlns:a16="http://schemas.microsoft.com/office/drawing/2014/main" id="{1CC10FF6-91A3-FA20-C8C4-FB3CD4DDB58A}"/>
              </a:ext>
            </a:extLst>
          </p:cNvPr>
          <p:cNvSpPr txBox="1"/>
          <p:nvPr/>
        </p:nvSpPr>
        <p:spPr>
          <a:xfrm>
            <a:off x="6794500" y="33655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Errors, latency, unintended commands</a:t>
            </a:r>
          </a:p>
        </p:txBody>
      </p:sp>
      <p:sp>
        <p:nvSpPr>
          <p:cNvPr id="25" name="Oval 24">
            <a:extLst>
              <a:ext uri="{FF2B5EF4-FFF2-40B4-BE49-F238E27FC236}">
                <a16:creationId xmlns:a16="http://schemas.microsoft.com/office/drawing/2014/main" id="{C1539E2B-928B-BD17-0AE3-28DD0492BA96}"/>
              </a:ext>
            </a:extLst>
          </p:cNvPr>
          <p:cNvSpPr/>
          <p:nvPr/>
        </p:nvSpPr>
        <p:spPr>
          <a:xfrm>
            <a:off x="6210300" y="38735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E31251-6588-530A-BA50-A3D3AC737680}"/>
              </a:ext>
            </a:extLst>
          </p:cNvPr>
          <p:cNvSpPr txBox="1"/>
          <p:nvPr/>
        </p:nvSpPr>
        <p:spPr>
          <a:xfrm>
            <a:off x="6261100" y="39370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02</a:t>
            </a:r>
          </a:p>
        </p:txBody>
      </p:sp>
      <p:sp>
        <p:nvSpPr>
          <p:cNvPr id="27" name="TextBox 26">
            <a:extLst>
              <a:ext uri="{FF2B5EF4-FFF2-40B4-BE49-F238E27FC236}">
                <a16:creationId xmlns:a16="http://schemas.microsoft.com/office/drawing/2014/main" id="{C1C1E85D-11A0-9408-8CBD-EE70EB4529D2}"/>
              </a:ext>
            </a:extLst>
          </p:cNvPr>
          <p:cNvSpPr txBox="1"/>
          <p:nvPr/>
        </p:nvSpPr>
        <p:spPr>
          <a:xfrm>
            <a:off x="6794500" y="38354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Stress-test</a:t>
            </a:r>
          </a:p>
        </p:txBody>
      </p:sp>
      <p:sp>
        <p:nvSpPr>
          <p:cNvPr id="28" name="TextBox 27">
            <a:extLst>
              <a:ext uri="{FF2B5EF4-FFF2-40B4-BE49-F238E27FC236}">
                <a16:creationId xmlns:a16="http://schemas.microsoft.com/office/drawing/2014/main" id="{AAED5D96-7C4F-9E56-22B2-E88B46AF4C0E}"/>
              </a:ext>
            </a:extLst>
          </p:cNvPr>
          <p:cNvSpPr txBox="1"/>
          <p:nvPr/>
        </p:nvSpPr>
        <p:spPr>
          <a:xfrm>
            <a:off x="6794500" y="42037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Visibility and competing operators</a:t>
            </a:r>
          </a:p>
        </p:txBody>
      </p:sp>
      <p:sp>
        <p:nvSpPr>
          <p:cNvPr id="29" name="Oval 28">
            <a:extLst>
              <a:ext uri="{FF2B5EF4-FFF2-40B4-BE49-F238E27FC236}">
                <a16:creationId xmlns:a16="http://schemas.microsoft.com/office/drawing/2014/main" id="{6A27DF9D-A92E-6FA5-5FC5-9DEC716D648F}"/>
              </a:ext>
            </a:extLst>
          </p:cNvPr>
          <p:cNvSpPr/>
          <p:nvPr/>
        </p:nvSpPr>
        <p:spPr>
          <a:xfrm>
            <a:off x="6210300" y="47117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D512CC1-88D9-3CC8-60F2-9E5286905842}"/>
              </a:ext>
            </a:extLst>
          </p:cNvPr>
          <p:cNvSpPr txBox="1"/>
          <p:nvPr/>
        </p:nvSpPr>
        <p:spPr>
          <a:xfrm>
            <a:off x="6261100" y="47752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03</a:t>
            </a:r>
          </a:p>
        </p:txBody>
      </p:sp>
      <p:sp>
        <p:nvSpPr>
          <p:cNvPr id="31" name="TextBox 30">
            <a:extLst>
              <a:ext uri="{FF2B5EF4-FFF2-40B4-BE49-F238E27FC236}">
                <a16:creationId xmlns:a16="http://schemas.microsoft.com/office/drawing/2014/main" id="{AD14F81D-4BD0-90C7-5EED-C78351D413BE}"/>
              </a:ext>
            </a:extLst>
          </p:cNvPr>
          <p:cNvSpPr txBox="1"/>
          <p:nvPr/>
        </p:nvSpPr>
        <p:spPr>
          <a:xfrm>
            <a:off x="6794500" y="46736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Integrate</a:t>
            </a:r>
          </a:p>
        </p:txBody>
      </p:sp>
      <p:sp>
        <p:nvSpPr>
          <p:cNvPr id="32" name="TextBox 31">
            <a:extLst>
              <a:ext uri="{FF2B5EF4-FFF2-40B4-BE49-F238E27FC236}">
                <a16:creationId xmlns:a16="http://schemas.microsoft.com/office/drawing/2014/main" id="{9E687A89-1892-139E-E8EE-6BD85840C084}"/>
              </a:ext>
            </a:extLst>
          </p:cNvPr>
          <p:cNvSpPr txBox="1"/>
          <p:nvPr/>
        </p:nvSpPr>
        <p:spPr>
          <a:xfrm>
            <a:off x="6794500" y="50419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Onboard compute and physical flight</a:t>
            </a:r>
          </a:p>
        </p:txBody>
      </p:sp>
      <p:sp>
        <p:nvSpPr>
          <p:cNvPr id="33" name="TextBox 32">
            <a:extLst>
              <a:ext uri="{FF2B5EF4-FFF2-40B4-BE49-F238E27FC236}">
                <a16:creationId xmlns:a16="http://schemas.microsoft.com/office/drawing/2014/main" id="{179E0C37-D1BC-625D-1244-980A8CFC610A}"/>
              </a:ext>
            </a:extLst>
          </p:cNvPr>
          <p:cNvSpPr txBox="1"/>
          <p:nvPr/>
        </p:nvSpPr>
        <p:spPr>
          <a:xfrm>
            <a:off x="508000" y="5829300"/>
            <a:ext cx="11176000" cy="200055"/>
          </a:xfrm>
          <a:prstGeom prst="rect">
            <a:avLst/>
          </a:prstGeom>
          <a:noFill/>
        </p:spPr>
        <p:txBody>
          <a:bodyPr vert="horz" wrap="square" lIns="0" tIns="0" rIns="0" bIns="0" rtlCol="0">
            <a:spAutoFit/>
          </a:bodyPr>
          <a:lstStyle/>
          <a:p>
            <a:r>
              <a:rPr lang="en-US" sz="1300">
                <a:solidFill>
                  <a:srgbClr val="617286"/>
                </a:solidFill>
                <a:latin typeface="Aptos" panose="020B0004020202020204" pitchFamily="34" charset="0"/>
              </a:rPr>
              <a:t>TODAY: Connected phone prototype. No physical flight data. GPS-independent navigation remains separate.</a:t>
            </a:r>
          </a:p>
        </p:txBody>
      </p:sp>
    </p:spTree>
    <p:extLst>
      <p:ext uri="{BB962C8B-B14F-4D97-AF65-F5344CB8AC3E}">
        <p14:creationId xmlns:p14="http://schemas.microsoft.com/office/powerpoint/2010/main" val="18669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6B6D4F-9916-00FD-09AF-ED8B9DAD52D1}"/>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9B065EC6-1540-FF8A-402F-044CD42558B0}"/>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CUSTOM MACHINE LEARNING</a:t>
            </a:r>
          </a:p>
        </p:txBody>
      </p:sp>
      <p:sp>
        <p:nvSpPr>
          <p:cNvPr id="4" name="TextBox 3">
            <a:extLst>
              <a:ext uri="{FF2B5EF4-FFF2-40B4-BE49-F238E27FC236}">
                <a16:creationId xmlns:a16="http://schemas.microsoft.com/office/drawing/2014/main" id="{992BA1F3-8D8B-8FC6-23BF-F28CA9BE7EA6}"/>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A gesture vocabulary we can train.</a:t>
            </a:r>
          </a:p>
        </p:txBody>
      </p:sp>
      <p:cxnSp>
        <p:nvCxnSpPr>
          <p:cNvPr id="5" name="Straight Connector 4">
            <a:extLst>
              <a:ext uri="{FF2B5EF4-FFF2-40B4-BE49-F238E27FC236}">
                <a16:creationId xmlns:a16="http://schemas.microsoft.com/office/drawing/2014/main" id="{068C7334-0CCA-52E7-6267-0FF4FF06B6A7}"/>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9105901-B4BC-E7D4-C26F-1BC27CB9C5D7}"/>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6482EA4B-E371-B22F-A67E-F55BCB8D6139}"/>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07</a:t>
            </a:r>
          </a:p>
        </p:txBody>
      </p:sp>
      <p:sp>
        <p:nvSpPr>
          <p:cNvPr id="8" name="TextBox 7">
            <a:extLst>
              <a:ext uri="{FF2B5EF4-FFF2-40B4-BE49-F238E27FC236}">
                <a16:creationId xmlns:a16="http://schemas.microsoft.com/office/drawing/2014/main" id="{48BF9B24-9C07-77DB-2402-6E06EA982F9B}"/>
              </a:ext>
            </a:extLst>
          </p:cNvPr>
          <p:cNvSpPr txBox="1"/>
          <p:nvPr/>
        </p:nvSpPr>
        <p:spPr>
          <a:xfrm>
            <a:off x="508000" y="2387600"/>
            <a:ext cx="11112500" cy="415498"/>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We trained a model on our own hand signals.</a:t>
            </a:r>
          </a:p>
        </p:txBody>
      </p:sp>
      <p:sp>
        <p:nvSpPr>
          <p:cNvPr id="9" name="TextBox 8">
            <a:extLst>
              <a:ext uri="{FF2B5EF4-FFF2-40B4-BE49-F238E27FC236}">
                <a16:creationId xmlns:a16="http://schemas.microsoft.com/office/drawing/2014/main" id="{C769F337-4991-4569-24AB-4903B6831F1E}"/>
              </a:ext>
            </a:extLst>
          </p:cNvPr>
          <p:cNvSpPr txBox="1"/>
          <p:nvPr/>
        </p:nvSpPr>
        <p:spPr>
          <a:xfrm>
            <a:off x="508000" y="3124200"/>
            <a:ext cx="10922000" cy="707886"/>
          </a:xfrm>
          <a:prstGeom prst="rect">
            <a:avLst/>
          </a:prstGeom>
          <a:noFill/>
        </p:spPr>
        <p:txBody>
          <a:bodyPr vert="horz" wrap="square" lIns="0" tIns="0" rIns="0" bIns="0" rtlCol="0">
            <a:spAutoFit/>
          </a:bodyPr>
          <a:lstStyle/>
          <a:p>
            <a:r>
              <a:rPr lang="en-US" sz="2300">
                <a:solidFill>
                  <a:srgbClr val="617286"/>
                </a:solidFill>
                <a:latin typeface="Aptos" panose="020B0004020202020204" pitchFamily="34" charset="0"/>
              </a:rPr>
              <a:t>Our custom gesture-training pipeline shows that the command vocabulary can expand beyond preset gestures.</a:t>
            </a:r>
          </a:p>
        </p:txBody>
      </p:sp>
      <p:sp>
        <p:nvSpPr>
          <p:cNvPr id="10" name="Rectangle 9">
            <a:extLst>
              <a:ext uri="{FF2B5EF4-FFF2-40B4-BE49-F238E27FC236}">
                <a16:creationId xmlns:a16="http://schemas.microsoft.com/office/drawing/2014/main" id="{B9E14883-0F5A-97A0-73B4-309AEED78EB9}"/>
              </a:ext>
            </a:extLst>
          </p:cNvPr>
          <p:cNvSpPr/>
          <p:nvPr/>
        </p:nvSpPr>
        <p:spPr>
          <a:xfrm>
            <a:off x="5080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3A72435-065F-A619-3553-DBF9985CCF7A}"/>
              </a:ext>
            </a:extLst>
          </p:cNvPr>
          <p:cNvSpPr txBox="1"/>
          <p:nvPr/>
        </p:nvSpPr>
        <p:spPr>
          <a:xfrm>
            <a:off x="6731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Record examples</a:t>
            </a:r>
          </a:p>
        </p:txBody>
      </p:sp>
      <p:cxnSp>
        <p:nvCxnSpPr>
          <p:cNvPr id="12" name="Straight Connector 11">
            <a:extLst>
              <a:ext uri="{FF2B5EF4-FFF2-40B4-BE49-F238E27FC236}">
                <a16:creationId xmlns:a16="http://schemas.microsoft.com/office/drawing/2014/main" id="{DE230F6D-1666-D4BC-8155-E566AFE4C6F0}"/>
              </a:ext>
            </a:extLst>
          </p:cNvPr>
          <p:cNvCxnSpPr/>
          <p:nvPr/>
        </p:nvCxnSpPr>
        <p:spPr>
          <a:xfrm>
            <a:off x="31115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8C6FE84-A3B8-DD11-6FF2-3BCEE22B72ED}"/>
              </a:ext>
            </a:extLst>
          </p:cNvPr>
          <p:cNvSpPr/>
          <p:nvPr/>
        </p:nvSpPr>
        <p:spPr>
          <a:xfrm>
            <a:off x="33528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BE26839-E7B6-E7BA-AD02-4053B220C539}"/>
              </a:ext>
            </a:extLst>
          </p:cNvPr>
          <p:cNvSpPr txBox="1"/>
          <p:nvPr/>
        </p:nvSpPr>
        <p:spPr>
          <a:xfrm>
            <a:off x="35179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Label the signals</a:t>
            </a:r>
          </a:p>
        </p:txBody>
      </p:sp>
      <p:cxnSp>
        <p:nvCxnSpPr>
          <p:cNvPr id="15" name="Straight Connector 14">
            <a:extLst>
              <a:ext uri="{FF2B5EF4-FFF2-40B4-BE49-F238E27FC236}">
                <a16:creationId xmlns:a16="http://schemas.microsoft.com/office/drawing/2014/main" id="{48418CA7-2BAA-3EEA-C4BA-AD30B090A8C8}"/>
              </a:ext>
            </a:extLst>
          </p:cNvPr>
          <p:cNvCxnSpPr/>
          <p:nvPr/>
        </p:nvCxnSpPr>
        <p:spPr>
          <a:xfrm>
            <a:off x="59563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67801F3-29A5-DDC0-0617-890622A69F9E}"/>
              </a:ext>
            </a:extLst>
          </p:cNvPr>
          <p:cNvSpPr/>
          <p:nvPr/>
        </p:nvSpPr>
        <p:spPr>
          <a:xfrm>
            <a:off x="61976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0392700-C3F6-EB34-DF6B-AB6F9FDFBD09}"/>
              </a:ext>
            </a:extLst>
          </p:cNvPr>
          <p:cNvSpPr txBox="1"/>
          <p:nvPr/>
        </p:nvSpPr>
        <p:spPr>
          <a:xfrm>
            <a:off x="63627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Train the model</a:t>
            </a:r>
          </a:p>
        </p:txBody>
      </p:sp>
      <p:cxnSp>
        <p:nvCxnSpPr>
          <p:cNvPr id="18" name="Straight Connector 17">
            <a:extLst>
              <a:ext uri="{FF2B5EF4-FFF2-40B4-BE49-F238E27FC236}">
                <a16:creationId xmlns:a16="http://schemas.microsoft.com/office/drawing/2014/main" id="{E1BA8411-4969-C206-FF29-8D1839AE2149}"/>
              </a:ext>
            </a:extLst>
          </p:cNvPr>
          <p:cNvCxnSpPr/>
          <p:nvPr/>
        </p:nvCxnSpPr>
        <p:spPr>
          <a:xfrm>
            <a:off x="88011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5EE726A-A176-ACDF-669D-F8E6DFE0E616}"/>
              </a:ext>
            </a:extLst>
          </p:cNvPr>
          <p:cNvSpPr/>
          <p:nvPr/>
        </p:nvSpPr>
        <p:spPr>
          <a:xfrm>
            <a:off x="90424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FF4334E-F719-4BD7-88FE-DCEA5521628C}"/>
              </a:ext>
            </a:extLst>
          </p:cNvPr>
          <p:cNvSpPr txBox="1"/>
          <p:nvPr/>
        </p:nvSpPr>
        <p:spPr>
          <a:xfrm>
            <a:off x="92075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Connect commands</a:t>
            </a:r>
          </a:p>
        </p:txBody>
      </p:sp>
      <p:sp>
        <p:nvSpPr>
          <p:cNvPr id="21" name="TextBox 20">
            <a:extLst>
              <a:ext uri="{FF2B5EF4-FFF2-40B4-BE49-F238E27FC236}">
                <a16:creationId xmlns:a16="http://schemas.microsoft.com/office/drawing/2014/main" id="{3D7DC011-4D6A-90F6-1AB2-35008D2B75DD}"/>
              </a:ext>
            </a:extLst>
          </p:cNvPr>
          <p:cNvSpPr txBox="1"/>
          <p:nvPr/>
        </p:nvSpPr>
        <p:spPr>
          <a:xfrm>
            <a:off x="508000" y="5549900"/>
            <a:ext cx="11112500" cy="353943"/>
          </a:xfrm>
          <a:prstGeom prst="rect">
            <a:avLst/>
          </a:prstGeom>
          <a:noFill/>
        </p:spPr>
        <p:txBody>
          <a:bodyPr vert="horz" wrap="square" lIns="0" tIns="0" rIns="0" bIns="0" rtlCol="0">
            <a:spAutoFit/>
          </a:bodyPr>
          <a:lstStyle/>
          <a:p>
            <a:r>
              <a:rPr lang="en-US" sz="2300" b="1">
                <a:solidFill>
                  <a:srgbClr val="006B62"/>
                </a:solidFill>
                <a:latin typeface="Aptos" panose="020B0004020202020204" pitchFamily="34" charset="0"/>
              </a:rPr>
              <a:t>Build the vocabulary around the people using it.</a:t>
            </a:r>
          </a:p>
        </p:txBody>
      </p:sp>
    </p:spTree>
    <p:extLst>
      <p:ext uri="{BB962C8B-B14F-4D97-AF65-F5344CB8AC3E}">
        <p14:creationId xmlns:p14="http://schemas.microsoft.com/office/powerpoint/2010/main" val="27465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446C9-BD3E-6CCB-87D1-2DFF0B62FF90}"/>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9D99036E-4D73-825A-FD6D-3E679BCC8E6D}"/>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GESTURES AND NATURAL LANGUAGE</a:t>
            </a:r>
          </a:p>
        </p:txBody>
      </p:sp>
      <p:sp>
        <p:nvSpPr>
          <p:cNvPr id="4" name="TextBox 3">
            <a:extLst>
              <a:ext uri="{FF2B5EF4-FFF2-40B4-BE49-F238E27FC236}">
                <a16:creationId xmlns:a16="http://schemas.microsoft.com/office/drawing/2014/main" id="{D220DDF1-FD53-DEA2-5700-2F8F7491B94D}"/>
              </a:ext>
            </a:extLst>
          </p:cNvPr>
          <p:cNvSpPr txBox="1"/>
          <p:nvPr/>
        </p:nvSpPr>
        <p:spPr>
          <a:xfrm>
            <a:off x="508000" y="939800"/>
            <a:ext cx="11239500" cy="1107996"/>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Talk to the drone like
you would a teammate.</a:t>
            </a:r>
          </a:p>
        </p:txBody>
      </p:sp>
      <p:cxnSp>
        <p:nvCxnSpPr>
          <p:cNvPr id="5" name="Straight Connector 4">
            <a:extLst>
              <a:ext uri="{FF2B5EF4-FFF2-40B4-BE49-F238E27FC236}">
                <a16:creationId xmlns:a16="http://schemas.microsoft.com/office/drawing/2014/main" id="{2106FACB-759E-1C03-9508-A04702B42660}"/>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2E52FF7-3889-6078-1603-F53ED37497E6}"/>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3A4852F8-85CC-12FA-F988-53ACDAC8144B}"/>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08</a:t>
            </a:r>
          </a:p>
        </p:txBody>
      </p:sp>
      <p:sp>
        <p:nvSpPr>
          <p:cNvPr id="8" name="TextBox 7">
            <a:extLst>
              <a:ext uri="{FF2B5EF4-FFF2-40B4-BE49-F238E27FC236}">
                <a16:creationId xmlns:a16="http://schemas.microsoft.com/office/drawing/2014/main" id="{BC3929B9-1CE2-CB55-1897-0FBB4C56B336}"/>
              </a:ext>
            </a:extLst>
          </p:cNvPr>
          <p:cNvSpPr txBox="1"/>
          <p:nvPr/>
        </p:nvSpPr>
        <p:spPr>
          <a:xfrm>
            <a:off x="508000" y="2654300"/>
            <a:ext cx="11112500" cy="430887"/>
          </a:xfrm>
          <a:prstGeom prst="rect">
            <a:avLst/>
          </a:prstGeom>
          <a:noFill/>
        </p:spPr>
        <p:txBody>
          <a:bodyPr vert="horz" wrap="square" lIns="0" tIns="0" rIns="0" bIns="0" rtlCol="0">
            <a:spAutoFit/>
          </a:bodyPr>
          <a:lstStyle/>
          <a:p>
            <a:r>
              <a:rPr lang="en-US" sz="2800" b="1">
                <a:solidFill>
                  <a:srgbClr val="006B62"/>
                </a:solidFill>
                <a:latin typeface="Aptos" panose="020B0004020202020204" pitchFamily="34" charset="0"/>
              </a:rPr>
              <a:t>Give it a route in plain language.</a:t>
            </a:r>
          </a:p>
        </p:txBody>
      </p:sp>
      <p:sp>
        <p:nvSpPr>
          <p:cNvPr id="9" name="TextBox 8">
            <a:extLst>
              <a:ext uri="{FF2B5EF4-FFF2-40B4-BE49-F238E27FC236}">
                <a16:creationId xmlns:a16="http://schemas.microsoft.com/office/drawing/2014/main" id="{3CB7ABA6-3AEF-C1A3-88CA-4FC550977557}"/>
              </a:ext>
            </a:extLst>
          </p:cNvPr>
          <p:cNvSpPr txBox="1"/>
          <p:nvPr/>
        </p:nvSpPr>
        <p:spPr>
          <a:xfrm>
            <a:off x="508000" y="3378200"/>
            <a:ext cx="10795000" cy="384721"/>
          </a:xfrm>
          <a:prstGeom prst="rect">
            <a:avLst/>
          </a:prstGeom>
          <a:noFill/>
        </p:spPr>
        <p:txBody>
          <a:bodyPr vert="horz" wrap="square" lIns="0" tIns="0" rIns="0" bIns="0" rtlCol="0">
            <a:spAutoFit/>
          </a:bodyPr>
          <a:lstStyle/>
          <a:p>
            <a:r>
              <a:rPr lang="en-US" sz="2500" b="1">
                <a:solidFill>
                  <a:srgbClr val="14263A"/>
                </a:solidFill>
                <a:latin typeface="Aptos" panose="020B0004020202020204" pitchFamily="34" charset="0"/>
              </a:rPr>
              <a:t>Then change the plan as the situation changes.</a:t>
            </a:r>
          </a:p>
        </p:txBody>
      </p:sp>
      <p:sp>
        <p:nvSpPr>
          <p:cNvPr id="10" name="Rectangle 9">
            <a:extLst>
              <a:ext uri="{FF2B5EF4-FFF2-40B4-BE49-F238E27FC236}">
                <a16:creationId xmlns:a16="http://schemas.microsoft.com/office/drawing/2014/main" id="{A1FF6F57-EC23-3218-9C48-B4EE7E1675F5}"/>
              </a:ext>
            </a:extLst>
          </p:cNvPr>
          <p:cNvSpPr/>
          <p:nvPr/>
        </p:nvSpPr>
        <p:spPr>
          <a:xfrm>
            <a:off x="508000" y="4279900"/>
            <a:ext cx="11112500" cy="1282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591C2F3-1EB1-F27B-EF1A-AA2DFB88958A}"/>
              </a:ext>
            </a:extLst>
          </p:cNvPr>
          <p:cNvSpPr txBox="1"/>
          <p:nvPr/>
        </p:nvSpPr>
        <p:spPr>
          <a:xfrm>
            <a:off x="762000" y="4546600"/>
            <a:ext cx="10515600" cy="707886"/>
          </a:xfrm>
          <a:prstGeom prst="rect">
            <a:avLst/>
          </a:prstGeom>
          <a:noFill/>
        </p:spPr>
        <p:txBody>
          <a:bodyPr vert="horz" wrap="square" lIns="0" tIns="0" rIns="0" bIns="0" rtlCol="0">
            <a:spAutoFit/>
          </a:bodyPr>
          <a:lstStyle/>
          <a:p>
            <a:r>
              <a:rPr lang="en-US" sz="2300">
                <a:solidFill>
                  <a:srgbClr val="617286"/>
                </a:solidFill>
                <a:latin typeface="Aptos" panose="020B0004020202020204" pitchFamily="34" charset="0"/>
              </a:rPr>
              <a:t>Spoken commands let it break from a preplanned route and respond to what you need next.</a:t>
            </a:r>
          </a:p>
        </p:txBody>
      </p:sp>
      <p:sp>
        <p:nvSpPr>
          <p:cNvPr id="12" name="TextBox 11">
            <a:extLst>
              <a:ext uri="{FF2B5EF4-FFF2-40B4-BE49-F238E27FC236}">
                <a16:creationId xmlns:a16="http://schemas.microsoft.com/office/drawing/2014/main" id="{11AB444B-237C-C8E7-57DD-5D64BDC57B26}"/>
              </a:ext>
            </a:extLst>
          </p:cNvPr>
          <p:cNvSpPr txBox="1"/>
          <p:nvPr/>
        </p:nvSpPr>
        <p:spPr>
          <a:xfrm>
            <a:off x="508000" y="5842000"/>
            <a:ext cx="11112500" cy="215444"/>
          </a:xfrm>
          <a:prstGeom prst="rect">
            <a:avLst/>
          </a:prstGeom>
          <a:noFill/>
        </p:spPr>
        <p:txBody>
          <a:bodyPr vert="horz" wrap="square" lIns="0" tIns="0" rIns="0" bIns="0" rtlCol="0">
            <a:spAutoFit/>
          </a:bodyPr>
          <a:lstStyle/>
          <a:p>
            <a:r>
              <a:rPr lang="en-US" sz="1400">
                <a:solidFill>
                  <a:srgbClr val="617286"/>
                </a:solidFill>
                <a:latin typeface="Aptos" panose="020B0004020202020204" pitchFamily="34" charset="0"/>
              </a:rPr>
              <a:t>Demonstrated in our simulation test environment.</a:t>
            </a:r>
          </a:p>
        </p:txBody>
      </p:sp>
    </p:spTree>
    <p:extLst>
      <p:ext uri="{BB962C8B-B14F-4D97-AF65-F5344CB8AC3E}">
        <p14:creationId xmlns:p14="http://schemas.microsoft.com/office/powerpoint/2010/main" val="2922498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2B2049-FAF4-04A2-31FC-FA7D09EFA7A1}"/>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D4E9FA30-7015-E1F9-3520-A7B26D07100A}"/>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Q&amp;A</a:t>
            </a:r>
          </a:p>
        </p:txBody>
      </p:sp>
      <p:sp>
        <p:nvSpPr>
          <p:cNvPr id="4" name="TextBox 3">
            <a:extLst>
              <a:ext uri="{FF2B5EF4-FFF2-40B4-BE49-F238E27FC236}">
                <a16:creationId xmlns:a16="http://schemas.microsoft.com/office/drawing/2014/main" id="{8389DCFD-410B-F219-D7F4-595F13686C50}"/>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Deployment questions we must answer.</a:t>
            </a:r>
          </a:p>
        </p:txBody>
      </p:sp>
      <p:cxnSp>
        <p:nvCxnSpPr>
          <p:cNvPr id="5" name="Straight Connector 4">
            <a:extLst>
              <a:ext uri="{FF2B5EF4-FFF2-40B4-BE49-F238E27FC236}">
                <a16:creationId xmlns:a16="http://schemas.microsoft.com/office/drawing/2014/main" id="{0643E03B-76FF-93BD-66BB-CF975D139EEC}"/>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890EE4B-92A0-99C7-62E7-0EB6152625E2}"/>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248E4440-456E-FF08-A02E-6C74943907A5}"/>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A1</a:t>
            </a:r>
          </a:p>
        </p:txBody>
      </p:sp>
      <p:sp>
        <p:nvSpPr>
          <p:cNvPr id="8" name="TextBox 7">
            <a:extLst>
              <a:ext uri="{FF2B5EF4-FFF2-40B4-BE49-F238E27FC236}">
                <a16:creationId xmlns:a16="http://schemas.microsoft.com/office/drawing/2014/main" id="{99CC31EF-F008-9109-F4ED-3D0CF61BE842}"/>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Hardware &amp; cost</a:t>
            </a:r>
          </a:p>
        </p:txBody>
      </p:sp>
      <p:sp>
        <p:nvSpPr>
          <p:cNvPr id="9" name="TextBox 8">
            <a:extLst>
              <a:ext uri="{FF2B5EF4-FFF2-40B4-BE49-F238E27FC236}">
                <a16:creationId xmlns:a16="http://schemas.microsoft.com/office/drawing/2014/main" id="{BCC073E7-1E12-3407-C83C-79229B404474}"/>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Select compute after measuring latency, power, thermal load, and flight-time impact.</a:t>
            </a:r>
          </a:p>
        </p:txBody>
      </p:sp>
      <p:sp>
        <p:nvSpPr>
          <p:cNvPr id="10" name="TextBox 9">
            <a:extLst>
              <a:ext uri="{FF2B5EF4-FFF2-40B4-BE49-F238E27FC236}">
                <a16:creationId xmlns:a16="http://schemas.microsoft.com/office/drawing/2014/main" id="{055C0D28-1DE3-9185-2B10-C2440507EDC4}"/>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Integration</a:t>
            </a:r>
          </a:p>
        </p:txBody>
      </p:sp>
      <p:sp>
        <p:nvSpPr>
          <p:cNvPr id="11" name="TextBox 10">
            <a:extLst>
              <a:ext uri="{FF2B5EF4-FFF2-40B4-BE49-F238E27FC236}">
                <a16:creationId xmlns:a16="http://schemas.microsoft.com/office/drawing/2014/main" id="{6F9C85EC-F026-AE9D-686C-AF23A021EDDD}"/>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Connect perception to a flight controller; validate command and link-loss behavior.</a:t>
            </a:r>
          </a:p>
        </p:txBody>
      </p:sp>
      <p:sp>
        <p:nvSpPr>
          <p:cNvPr id="12" name="TextBox 11">
            <a:extLst>
              <a:ext uri="{FF2B5EF4-FFF2-40B4-BE49-F238E27FC236}">
                <a16:creationId xmlns:a16="http://schemas.microsoft.com/office/drawing/2014/main" id="{95BD30B1-5C08-90C2-7436-C9B16BCA573D}"/>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Security</a:t>
            </a:r>
          </a:p>
        </p:txBody>
      </p:sp>
      <p:sp>
        <p:nvSpPr>
          <p:cNvPr id="13" name="TextBox 12">
            <a:extLst>
              <a:ext uri="{FF2B5EF4-FFF2-40B4-BE49-F238E27FC236}">
                <a16:creationId xmlns:a16="http://schemas.microsoft.com/office/drawing/2014/main" id="{CC3EBE00-C4D9-7490-4D8C-DE13E656124D}"/>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Nearest-person preference is not authorization. Validate who may issue commands.</a:t>
            </a:r>
          </a:p>
        </p:txBody>
      </p:sp>
      <p:sp>
        <p:nvSpPr>
          <p:cNvPr id="14" name="TextBox 13">
            <a:extLst>
              <a:ext uri="{FF2B5EF4-FFF2-40B4-BE49-F238E27FC236}">
                <a16:creationId xmlns:a16="http://schemas.microsoft.com/office/drawing/2014/main" id="{88063105-B4AE-A4EE-0062-5E9EAEF373B5}"/>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Adoption &amp; testing</a:t>
            </a:r>
          </a:p>
        </p:txBody>
      </p:sp>
      <p:sp>
        <p:nvSpPr>
          <p:cNvPr id="15" name="TextBox 14">
            <a:extLst>
              <a:ext uri="{FF2B5EF4-FFF2-40B4-BE49-F238E27FC236}">
                <a16:creationId xmlns:a16="http://schemas.microsoft.com/office/drawing/2014/main" id="{6F6C89AA-5557-1042-01A4-7011D5CAAD32}"/>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gesture learnability, gloves, distance, lighting, occlusion, and competing signals.</a:t>
            </a:r>
          </a:p>
        </p:txBody>
      </p:sp>
      <p:sp>
        <p:nvSpPr>
          <p:cNvPr id="16" name="TextBox 15">
            <a:extLst>
              <a:ext uri="{FF2B5EF4-FFF2-40B4-BE49-F238E27FC236}">
                <a16:creationId xmlns:a16="http://schemas.microsoft.com/office/drawing/2014/main" id="{12E3FF65-8211-31B4-E0E2-ADD4C2BE18EC}"/>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Field readiness</a:t>
            </a:r>
          </a:p>
        </p:txBody>
      </p:sp>
      <p:sp>
        <p:nvSpPr>
          <p:cNvPr id="17" name="TextBox 16">
            <a:extLst>
              <a:ext uri="{FF2B5EF4-FFF2-40B4-BE49-F238E27FC236}">
                <a16:creationId xmlns:a16="http://schemas.microsoft.com/office/drawing/2014/main" id="{243A33E5-3F1A-E899-F9CF-CA2DC4570CAE}"/>
              </a:ext>
            </a:extLst>
          </p:cNvPr>
          <p:cNvSpPr txBox="1"/>
          <p:nvPr/>
        </p:nvSpPr>
        <p:spPr>
          <a:xfrm>
            <a:off x="3581400" y="5295900"/>
            <a:ext cx="8013700" cy="52322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Plan physical trials, applicable flight approvals, and GPS-independent navigation separately.</a:t>
            </a:r>
          </a:p>
        </p:txBody>
      </p:sp>
    </p:spTree>
    <p:extLst>
      <p:ext uri="{BB962C8B-B14F-4D97-AF65-F5344CB8AC3E}">
        <p14:creationId xmlns:p14="http://schemas.microsoft.com/office/powerpoint/2010/main" val="316294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1FE26B-3DD4-25ED-65F2-B19456F7265C}"/>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51EF1DC5-FD97-19A4-AE1E-292776BEB911}"/>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EVALUATION PLAN</a:t>
            </a:r>
          </a:p>
        </p:txBody>
      </p:sp>
      <p:sp>
        <p:nvSpPr>
          <p:cNvPr id="4" name="TextBox 3">
            <a:extLst>
              <a:ext uri="{FF2B5EF4-FFF2-40B4-BE49-F238E27FC236}">
                <a16:creationId xmlns:a16="http://schemas.microsoft.com/office/drawing/2014/main" id="{3FA10144-DB7A-0610-69F8-CE3AB065B41E}"/>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Turn the next demo into evidence.</a:t>
            </a:r>
          </a:p>
        </p:txBody>
      </p:sp>
      <p:cxnSp>
        <p:nvCxnSpPr>
          <p:cNvPr id="5" name="Straight Connector 4">
            <a:extLst>
              <a:ext uri="{FF2B5EF4-FFF2-40B4-BE49-F238E27FC236}">
                <a16:creationId xmlns:a16="http://schemas.microsoft.com/office/drawing/2014/main" id="{95E6C559-6BCE-326A-D1FA-5B4FDAA2823B}"/>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F95648F-F25B-C802-2752-934F92D5DD9F}"/>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885A9A8A-195B-AA88-A792-6B342C3AB469}"/>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A2</a:t>
            </a:r>
          </a:p>
        </p:txBody>
      </p:sp>
      <p:sp>
        <p:nvSpPr>
          <p:cNvPr id="8" name="TextBox 7">
            <a:extLst>
              <a:ext uri="{FF2B5EF4-FFF2-40B4-BE49-F238E27FC236}">
                <a16:creationId xmlns:a16="http://schemas.microsoft.com/office/drawing/2014/main" id="{9F974F02-F17E-BC79-3085-E2F1470243D4}"/>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Command success</a:t>
            </a:r>
          </a:p>
        </p:txBody>
      </p:sp>
      <p:sp>
        <p:nvSpPr>
          <p:cNvPr id="9" name="TextBox 8">
            <a:extLst>
              <a:ext uri="{FF2B5EF4-FFF2-40B4-BE49-F238E27FC236}">
                <a16:creationId xmlns:a16="http://schemas.microsoft.com/office/drawing/2014/main" id="{C7AE6BDD-27D2-C6BB-7E17-FE56571CF318}"/>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Correct action / attempted commands, broken down by gesture.</a:t>
            </a:r>
          </a:p>
        </p:txBody>
      </p:sp>
      <p:sp>
        <p:nvSpPr>
          <p:cNvPr id="10" name="TextBox 9">
            <a:extLst>
              <a:ext uri="{FF2B5EF4-FFF2-40B4-BE49-F238E27FC236}">
                <a16:creationId xmlns:a16="http://schemas.microsoft.com/office/drawing/2014/main" id="{BF439902-9173-52D8-5F7D-2EC644A2CC6F}"/>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Response time</a:t>
            </a:r>
          </a:p>
        </p:txBody>
      </p:sp>
      <p:sp>
        <p:nvSpPr>
          <p:cNvPr id="11" name="TextBox 10">
            <a:extLst>
              <a:ext uri="{FF2B5EF4-FFF2-40B4-BE49-F238E27FC236}">
                <a16:creationId xmlns:a16="http://schemas.microsoft.com/office/drawing/2014/main" id="{DED61061-930C-7B9D-793B-CB36229A3373}"/>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Time from completed gesture to simulated action; report median and slow cases.</a:t>
            </a:r>
          </a:p>
        </p:txBody>
      </p:sp>
      <p:sp>
        <p:nvSpPr>
          <p:cNvPr id="12" name="TextBox 11">
            <a:extLst>
              <a:ext uri="{FF2B5EF4-FFF2-40B4-BE49-F238E27FC236}">
                <a16:creationId xmlns:a16="http://schemas.microsoft.com/office/drawing/2014/main" id="{D5ECE60B-0C82-68DD-13C6-6162220360B2}"/>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False activation</a:t>
            </a:r>
          </a:p>
        </p:txBody>
      </p:sp>
      <p:sp>
        <p:nvSpPr>
          <p:cNvPr id="13" name="TextBox 12">
            <a:extLst>
              <a:ext uri="{FF2B5EF4-FFF2-40B4-BE49-F238E27FC236}">
                <a16:creationId xmlns:a16="http://schemas.microsoft.com/office/drawing/2014/main" id="{8DB8049A-DD5F-4651-97E4-2C43C1CC7013}"/>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Count unintended commands during ordinary movement and no-command periods.</a:t>
            </a:r>
          </a:p>
        </p:txBody>
      </p:sp>
      <p:sp>
        <p:nvSpPr>
          <p:cNvPr id="14" name="TextBox 13">
            <a:extLst>
              <a:ext uri="{FF2B5EF4-FFF2-40B4-BE49-F238E27FC236}">
                <a16:creationId xmlns:a16="http://schemas.microsoft.com/office/drawing/2014/main" id="{23AFFA34-0DD3-4ECC-BB38-05A3C5DAB7E6}"/>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Operator selection</a:t>
            </a:r>
          </a:p>
        </p:txBody>
      </p:sp>
      <p:sp>
        <p:nvSpPr>
          <p:cNvPr id="15" name="TextBox 14">
            <a:extLst>
              <a:ext uri="{FF2B5EF4-FFF2-40B4-BE49-F238E27FC236}">
                <a16:creationId xmlns:a16="http://schemas.microsoft.com/office/drawing/2014/main" id="{5BB8C2E0-88A5-8F12-EADE-DB987B98CEEA}"/>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overlapping gestures, near-equal distances, and return-to-sender behavior.</a:t>
            </a:r>
          </a:p>
        </p:txBody>
      </p:sp>
      <p:sp>
        <p:nvSpPr>
          <p:cNvPr id="16" name="TextBox 15">
            <a:extLst>
              <a:ext uri="{FF2B5EF4-FFF2-40B4-BE49-F238E27FC236}">
                <a16:creationId xmlns:a16="http://schemas.microsoft.com/office/drawing/2014/main" id="{1DC75C2D-1BE3-CFA2-9610-23CE05883393}"/>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Stop behavior</a:t>
            </a:r>
          </a:p>
        </p:txBody>
      </p:sp>
      <p:sp>
        <p:nvSpPr>
          <p:cNvPr id="17" name="TextBox 16">
            <a:extLst>
              <a:ext uri="{FF2B5EF4-FFF2-40B4-BE49-F238E27FC236}">
                <a16:creationId xmlns:a16="http://schemas.microsoft.com/office/drawing/2014/main" id="{565ECB38-13BC-0A0E-5F58-84E1E20FDCD6}"/>
              </a:ext>
            </a:extLst>
          </p:cNvPr>
          <p:cNvSpPr txBox="1"/>
          <p:nvPr/>
        </p:nvSpPr>
        <p:spPr>
          <a:xfrm>
            <a:off x="3581400" y="52959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Measure stop response and observe the resulting simulated drone state.</a:t>
            </a:r>
          </a:p>
        </p:txBody>
      </p:sp>
    </p:spTree>
    <p:extLst>
      <p:ext uri="{BB962C8B-B14F-4D97-AF65-F5344CB8AC3E}">
        <p14:creationId xmlns:p14="http://schemas.microsoft.com/office/powerpoint/2010/main" val="191171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DFF54-CFAD-4CD1-2D26-03B74F8FFB4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78980AB8-3A4C-C434-C2AE-45CA8E629DAF}"/>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ORIGINAL INSPIRATION</a:t>
            </a:r>
          </a:p>
        </p:txBody>
      </p:sp>
      <p:sp>
        <p:nvSpPr>
          <p:cNvPr id="4" name="TextBox 3">
            <a:extLst>
              <a:ext uri="{FF2B5EF4-FFF2-40B4-BE49-F238E27FC236}">
                <a16:creationId xmlns:a16="http://schemas.microsoft.com/office/drawing/2014/main" id="{494E8696-87E0-9637-B446-93AFDB128BAA}"/>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CA550E0-B374-81C0-44DB-6656F291863E}"/>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F2FE6F3-4A0A-E07F-8E12-36539CCED41B}"/>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8B75118-DD8C-7499-C428-EB6E8908F1AE}"/>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A3</a:t>
            </a:r>
          </a:p>
        </p:txBody>
      </p:sp>
      <p:pic>
        <p:nvPicPr>
          <p:cNvPr id="9" name="Picture 8">
            <a:extLst>
              <a:ext uri="{FF2B5EF4-FFF2-40B4-BE49-F238E27FC236}">
                <a16:creationId xmlns:a16="http://schemas.microsoft.com/office/drawing/2014/main" id="{17CB52F2-2E0B-FE5E-FBD9-253AD25801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800100"/>
            <a:ext cx="4127500" cy="5384800"/>
          </a:xfrm>
          <a:prstGeom prst="rect">
            <a:avLst/>
          </a:prstGeom>
        </p:spPr>
      </p:pic>
      <p:sp>
        <p:nvSpPr>
          <p:cNvPr id="10" name="TextBox 9">
            <a:extLst>
              <a:ext uri="{FF2B5EF4-FFF2-40B4-BE49-F238E27FC236}">
                <a16:creationId xmlns:a16="http://schemas.microsoft.com/office/drawing/2014/main" id="{67B435AD-78C3-94DB-48E2-3B690FFD471C}"/>
              </a:ext>
            </a:extLst>
          </p:cNvPr>
          <p:cNvSpPr txBox="1"/>
          <p:nvPr/>
        </p:nvSpPr>
        <p:spPr>
          <a:xfrm>
            <a:off x="5257800" y="1282700"/>
            <a:ext cx="6197600" cy="492443"/>
          </a:xfrm>
          <a:prstGeom prst="rect">
            <a:avLst/>
          </a:prstGeom>
          <a:noFill/>
        </p:spPr>
        <p:txBody>
          <a:bodyPr vert="horz" wrap="square" lIns="0" tIns="0" rIns="0" bIns="0" rtlCol="0">
            <a:spAutoFit/>
          </a:bodyPr>
          <a:lstStyle/>
          <a:p>
            <a:r>
              <a:rPr lang="en-US" sz="3200" b="1">
                <a:solidFill>
                  <a:srgbClr val="14263A"/>
                </a:solidFill>
                <a:latin typeface="Aptos" panose="020B0004020202020204" pitchFamily="34" charset="0"/>
              </a:rPr>
              <a:t>The prompt that started the idea.</a:t>
            </a:r>
          </a:p>
        </p:txBody>
      </p:sp>
      <p:sp>
        <p:nvSpPr>
          <p:cNvPr id="11" name="TextBox 10">
            <a:extLst>
              <a:ext uri="{FF2B5EF4-FFF2-40B4-BE49-F238E27FC236}">
                <a16:creationId xmlns:a16="http://schemas.microsoft.com/office/drawing/2014/main" id="{646298AE-4CDB-022D-A122-70A51879C220}"/>
              </a:ext>
            </a:extLst>
          </p:cNvPr>
          <p:cNvSpPr txBox="1"/>
          <p:nvPr/>
        </p:nvSpPr>
        <p:spPr>
          <a:xfrm>
            <a:off x="5257800" y="2768600"/>
            <a:ext cx="6019800" cy="1154162"/>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Natural-language path planning suggested a broader question: how else do people communicate intent?</a:t>
            </a:r>
          </a:p>
        </p:txBody>
      </p:sp>
      <p:sp>
        <p:nvSpPr>
          <p:cNvPr id="12" name="TextBox 11">
            <a:extLst>
              <a:ext uri="{FF2B5EF4-FFF2-40B4-BE49-F238E27FC236}">
                <a16:creationId xmlns:a16="http://schemas.microsoft.com/office/drawing/2014/main" id="{3C59CEEB-12EB-2C09-9008-1978CCE4E71B}"/>
              </a:ext>
            </a:extLst>
          </p:cNvPr>
          <p:cNvSpPr txBox="1"/>
          <p:nvPr/>
        </p:nvSpPr>
        <p:spPr>
          <a:xfrm>
            <a:off x="5257800" y="4584700"/>
            <a:ext cx="6019800" cy="830997"/>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Tactlink explores gestures alongside spoken commands.</a:t>
            </a:r>
          </a:p>
        </p:txBody>
      </p:sp>
    </p:spTree>
    <p:extLst>
      <p:ext uri="{BB962C8B-B14F-4D97-AF65-F5344CB8AC3E}">
        <p14:creationId xmlns:p14="http://schemas.microsoft.com/office/powerpoint/2010/main" val="302758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1694</Words>
  <Application>Microsoft Office PowerPoint</Application>
  <PresentationFormat>Custom</PresentationFormat>
  <Paragraphs>179</Paragraphs>
  <Slides>11</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Holly, Ian Patrick</dc:creator>
  <cp:lastModifiedBy>Holly, Ian Patrick</cp:lastModifiedBy>
  <cp:revision>1</cp:revision>
  <dcterms:created xsi:type="dcterms:W3CDTF">2026-09-06T15:13:10Z</dcterms:created>
  <dcterms:modified xsi:type="dcterms:W3CDTF">2026-09-06T15:13:10Z</dcterms:modified>
</cp:coreProperties>
</file>