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E7316E-EB82-48AC-808B-172B0029A2C2}"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D5AC5A-175C-48F5-BBA6-F82CFCDAD2E2}" type="slidenum">
              <a:rPr lang="en-US" smtClean="0"/>
              <a:t>‹#›</a:t>
            </a:fld>
            <a:endParaRPr lang="en-US"/>
          </a:p>
        </p:txBody>
      </p:sp>
    </p:spTree>
    <p:extLst>
      <p:ext uri="{BB962C8B-B14F-4D97-AF65-F5344CB8AC3E}">
        <p14:creationId xmlns:p14="http://schemas.microsoft.com/office/powerpoint/2010/main" val="557634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0:00–0:15. Tactlink is about adding the drone to the squad. Soldiers communicate intent to teammates through familiar signals; we want the squad to interact with a drone in that same natural way. A conversation with a Mach Industries representative helped shape this goal. Today we demonstrate that interaction in a connected simulation, not physical flight. The conversation is design input, not an endorsement.</a:t>
            </a:r>
          </a:p>
        </p:txBody>
      </p:sp>
      <p:sp>
        <p:nvSpPr>
          <p:cNvPr id="4" name="Slide Number Placeholder 3"/>
          <p:cNvSpPr>
            <a:spLocks noGrp="1"/>
          </p:cNvSpPr>
          <p:nvPr>
            <p:ph type="sldNum" sz="quarter" idx="5"/>
          </p:nvPr>
        </p:nvSpPr>
        <p:spPr/>
        <p:txBody>
          <a:bodyPr/>
          <a:lstStyle/>
          <a:p>
            <a:fld id="{65D5AC5A-175C-48F5-BBA6-F82CFCDAD2E2}" type="slidenum">
              <a:rPr lang="en-US" smtClean="0"/>
              <a:t>1</a:t>
            </a:fld>
            <a:endParaRPr lang="en-US"/>
          </a:p>
        </p:txBody>
      </p:sp>
    </p:spTree>
    <p:extLst>
      <p:ext uri="{BB962C8B-B14F-4D97-AF65-F5344CB8AC3E}">
        <p14:creationId xmlns:p14="http://schemas.microsoft.com/office/powerpoint/2010/main" val="4000397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0:15–0:40. A Mach Industries representative described soldiers using a small, chest-mounted tablet in GPS-denied environments. That prompted our design question: can a soldier redirect a drone by signaling it directly while staying engaged with the squad? The intended benefit is more dynamic drone support as needs change. We demonstrate gesture-driven changes in simulation today; onboard perception is planned. The diagram interprets our informal user discovery; it is not a measured comparison or a claim about every military workflow. We have not measured attention or response-time improvements. Visual commands require visibility and do not provide GPS-independent navigation.</a:t>
            </a:r>
          </a:p>
        </p:txBody>
      </p:sp>
      <p:sp>
        <p:nvSpPr>
          <p:cNvPr id="4" name="Slide Number Placeholder 3"/>
          <p:cNvSpPr>
            <a:spLocks noGrp="1"/>
          </p:cNvSpPr>
          <p:nvPr>
            <p:ph type="sldNum" sz="quarter" idx="5"/>
          </p:nvPr>
        </p:nvSpPr>
        <p:spPr/>
        <p:txBody>
          <a:bodyPr/>
          <a:lstStyle/>
          <a:p>
            <a:fld id="{65D5AC5A-175C-48F5-BBA6-F82CFCDAD2E2}" type="slidenum">
              <a:rPr lang="en-US" smtClean="0"/>
              <a:t>2</a:t>
            </a:fld>
            <a:endParaRPr lang="en-US"/>
          </a:p>
        </p:txBody>
      </p:sp>
    </p:spTree>
    <p:extLst>
      <p:ext uri="{BB962C8B-B14F-4D97-AF65-F5344CB8AC3E}">
        <p14:creationId xmlns:p14="http://schemas.microsoft.com/office/powerpoint/2010/main" val="3418487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0:40–0:55. The hackathon prompt proposed flight paths in plain English. That inspired us to ask: why not communicate in another human way, through gestures? Our working demonstration focuses on gesture interaction; natural-language mission planning remains in development. The full original prompt is in the hidden appendix. The source prompt is inspiration, not evidence that we implemented its flight-controller or verification requirements.</a:t>
            </a:r>
          </a:p>
        </p:txBody>
      </p:sp>
      <p:sp>
        <p:nvSpPr>
          <p:cNvPr id="4" name="Slide Number Placeholder 3"/>
          <p:cNvSpPr>
            <a:spLocks noGrp="1"/>
          </p:cNvSpPr>
          <p:nvPr>
            <p:ph type="sldNum" sz="quarter" idx="5"/>
          </p:nvPr>
        </p:nvSpPr>
        <p:spPr/>
        <p:txBody>
          <a:bodyPr/>
          <a:lstStyle/>
          <a:p>
            <a:fld id="{65D5AC5A-175C-48F5-BBA6-F82CFCDAD2E2}" type="slidenum">
              <a:rPr lang="en-US" smtClean="0"/>
              <a:t>3</a:t>
            </a:fld>
            <a:endParaRPr lang="en-US"/>
          </a:p>
        </p:txBody>
      </p:sp>
    </p:spTree>
    <p:extLst>
      <p:ext uri="{BB962C8B-B14F-4D97-AF65-F5344CB8AC3E}">
        <p14:creationId xmlns:p14="http://schemas.microsoft.com/office/powerpoint/2010/main" val="4171061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0:55–1:40. Begin with a preassigned mission running in the 3D simulation, then show a gesture interrupting that flight. Demonstrate orbit, directional movement, return overhead to the sender, and open-palm stop. Explain that the route was created in the 2D planner. Keep the full sequence within 45 seconds. The phones and main computer are connected; this is simulated flight. Switch back to slide 4 after the demonstration.</a:t>
            </a:r>
          </a:p>
        </p:txBody>
      </p:sp>
      <p:sp>
        <p:nvSpPr>
          <p:cNvPr id="4" name="Slide Number Placeholder 3"/>
          <p:cNvSpPr>
            <a:spLocks noGrp="1"/>
          </p:cNvSpPr>
          <p:nvPr>
            <p:ph type="sldNum" sz="quarter" idx="5"/>
          </p:nvPr>
        </p:nvSpPr>
        <p:spPr/>
        <p:txBody>
          <a:bodyPr/>
          <a:lstStyle/>
          <a:p>
            <a:fld id="{65D5AC5A-175C-48F5-BBA6-F82CFCDAD2E2}" type="slidenum">
              <a:rPr lang="en-US" smtClean="0"/>
              <a:t>4</a:t>
            </a:fld>
            <a:endParaRPr lang="en-US"/>
          </a:p>
        </p:txBody>
      </p:sp>
    </p:spTree>
    <p:extLst>
      <p:ext uri="{BB962C8B-B14F-4D97-AF65-F5344CB8AC3E}">
        <p14:creationId xmlns:p14="http://schemas.microsoft.com/office/powerpoint/2010/main" val="315184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1:40–2:10. Tactlink also has mission planning. We build a route in a conventional 2D flight planner and visualize that mission in a 3D virtual world. Mid-flight, a hand gesture can interrupt the planned behavior. That makes the operator dynamic: plan ahead, then respond as the situation changes. We built the integration connecting the planner, custom gesture sequences, operator context, and simulated drone actions. A possible use case is sending a drone to another operator for overwatch. All flight behavior shown is simulated. Do not imply that interrupted routes automatically resume; that has not been confirmed.</a:t>
            </a:r>
          </a:p>
        </p:txBody>
      </p:sp>
      <p:sp>
        <p:nvSpPr>
          <p:cNvPr id="4" name="Slide Number Placeholder 3"/>
          <p:cNvSpPr>
            <a:spLocks noGrp="1"/>
          </p:cNvSpPr>
          <p:nvPr>
            <p:ph type="sldNum" sz="quarter" idx="5"/>
          </p:nvPr>
        </p:nvSpPr>
        <p:spPr/>
        <p:txBody>
          <a:bodyPr/>
          <a:lstStyle/>
          <a:p>
            <a:fld id="{65D5AC5A-175C-48F5-BBA6-F82CFCDAD2E2}" type="slidenum">
              <a:rPr lang="en-US" smtClean="0"/>
              <a:t>5</a:t>
            </a:fld>
            <a:endParaRPr lang="en-US"/>
          </a:p>
        </p:txBody>
      </p:sp>
    </p:spTree>
    <p:extLst>
      <p:ext uri="{BB962C8B-B14F-4D97-AF65-F5344CB8AC3E}">
        <p14:creationId xmlns:p14="http://schemas.microsoft.com/office/powerpoint/2010/main" val="4157475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2:10–2:35. The simulation implements emergency stop, path continuation or idle when no hand is visible, and a preference for the nearest operator. Those behaviors are not yet a validated safety system. Today the phones require connectivity, and we have no physical flight data. Next we will measure errors and latency, test visibility and competing commands, then integrate onboard compute and flight control. Visual commands require line of sight, and GPS-independent navigation remains a separate requirement.</a:t>
            </a:r>
          </a:p>
        </p:txBody>
      </p:sp>
      <p:sp>
        <p:nvSpPr>
          <p:cNvPr id="4" name="Slide Number Placeholder 3"/>
          <p:cNvSpPr>
            <a:spLocks noGrp="1"/>
          </p:cNvSpPr>
          <p:nvPr>
            <p:ph type="sldNum" sz="quarter" idx="5"/>
          </p:nvPr>
        </p:nvSpPr>
        <p:spPr/>
        <p:txBody>
          <a:bodyPr/>
          <a:lstStyle/>
          <a:p>
            <a:fld id="{65D5AC5A-175C-48F5-BBA6-F82CFCDAD2E2}" type="slidenum">
              <a:rPr lang="en-US" smtClean="0"/>
              <a:t>6</a:t>
            </a:fld>
            <a:endParaRPr lang="en-US"/>
          </a:p>
        </p:txBody>
      </p:sp>
    </p:spTree>
    <p:extLst>
      <p:ext uri="{BB962C8B-B14F-4D97-AF65-F5344CB8AC3E}">
        <p14:creationId xmlns:p14="http://schemas.microsoft.com/office/powerpoint/2010/main" val="3830983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2:35–2:55. We went beyond a fixed set of gestures: we built a custom gesture-training pipeline and trained a model on our own hand signals. Record examples, label them, train the model, and connect recognized gestures to commands. That demonstrates a vocabulary we can develop around the people using it. This training was demonstrated in desktop experiments. The current phone demo uses a separate gesture-rule layer. Do not imply retraining the hand-tracking backbone or deploying the trained model to the phone.</a:t>
            </a:r>
          </a:p>
        </p:txBody>
      </p:sp>
      <p:sp>
        <p:nvSpPr>
          <p:cNvPr id="4" name="Slide Number Placeholder 3"/>
          <p:cNvSpPr>
            <a:spLocks noGrp="1"/>
          </p:cNvSpPr>
          <p:nvPr>
            <p:ph type="sldNum" sz="quarter" idx="5"/>
          </p:nvPr>
        </p:nvSpPr>
        <p:spPr/>
        <p:txBody>
          <a:bodyPr/>
          <a:lstStyle/>
          <a:p>
            <a:fld id="{65D5AC5A-175C-48F5-BBA6-F82CFCDAD2E2}" type="slidenum">
              <a:rPr lang="en-US" smtClean="0"/>
              <a:t>7</a:t>
            </a:fld>
            <a:endParaRPr lang="en-US"/>
          </a:p>
        </p:txBody>
      </p:sp>
    </p:spTree>
    <p:extLst>
      <p:ext uri="{BB962C8B-B14F-4D97-AF65-F5344CB8AC3E}">
        <p14:creationId xmlns:p14="http://schemas.microsoft.com/office/powerpoint/2010/main" val="960597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2:55–3:10. Talk to the drone like you would a teammate. Give it a route in plain language, then change the plan as the situation changes. Spoken commands let it break from a preplanned route and respond to what you need next. Demonstrated in our simulation test environment, as confirmed by the team. This is separate from the phone gesture demo and does not claim physical flight integration. End here; remaining slides are hidden backup.</a:t>
            </a:r>
          </a:p>
        </p:txBody>
      </p:sp>
      <p:sp>
        <p:nvSpPr>
          <p:cNvPr id="4" name="Slide Number Placeholder 3"/>
          <p:cNvSpPr>
            <a:spLocks noGrp="1"/>
          </p:cNvSpPr>
          <p:nvPr>
            <p:ph type="sldNum" sz="quarter" idx="5"/>
          </p:nvPr>
        </p:nvSpPr>
        <p:spPr/>
        <p:txBody>
          <a:bodyPr/>
          <a:lstStyle/>
          <a:p>
            <a:fld id="{65D5AC5A-175C-48F5-BBA6-F82CFCDAD2E2}" type="slidenum">
              <a:rPr lang="en-US" smtClean="0"/>
              <a:t>8</a:t>
            </a:fld>
            <a:endParaRPr lang="en-US"/>
          </a:p>
        </p:txBody>
      </p:sp>
    </p:spTree>
    <p:extLst>
      <p:ext uri="{BB962C8B-B14F-4D97-AF65-F5344CB8AC3E}">
        <p14:creationId xmlns:p14="http://schemas.microsoft.com/office/powerpoint/2010/main" val="1710366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These are planned deployment considerations, not completed capabilities. No cost estimate, field validation, procurement commitment, or regulatory approval has been established. Jetson-class onboard compute is an option; no specific board is validated.</a:t>
            </a:r>
          </a:p>
        </p:txBody>
      </p:sp>
      <p:sp>
        <p:nvSpPr>
          <p:cNvPr id="4" name="Slide Number Placeholder 3"/>
          <p:cNvSpPr>
            <a:spLocks noGrp="1"/>
          </p:cNvSpPr>
          <p:nvPr>
            <p:ph type="sldNum" sz="quarter" idx="5"/>
          </p:nvPr>
        </p:nvSpPr>
        <p:spPr/>
        <p:txBody>
          <a:bodyPr/>
          <a:lstStyle/>
          <a:p>
            <a:fld id="{65D5AC5A-175C-48F5-BBA6-F82CFCDAD2E2}" type="slidenum">
              <a:rPr lang="en-US" smtClean="0"/>
              <a:t>9</a:t>
            </a:fld>
            <a:endParaRPr lang="en-US"/>
          </a:p>
        </p:txBody>
      </p:sp>
    </p:spTree>
    <p:extLst>
      <p:ext uri="{BB962C8B-B14F-4D97-AF65-F5344CB8AC3E}">
        <p14:creationId xmlns:p14="http://schemas.microsoft.com/office/powerpoint/2010/main" val="611548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This is a proposed evaluation plan. No measured results are claimed. Record the number of trials, test conditions, and failures. Simulation measurements do not establish physical-drone reliability.</a:t>
            </a:r>
          </a:p>
        </p:txBody>
      </p:sp>
      <p:sp>
        <p:nvSpPr>
          <p:cNvPr id="4" name="Slide Number Placeholder 3"/>
          <p:cNvSpPr>
            <a:spLocks noGrp="1"/>
          </p:cNvSpPr>
          <p:nvPr>
            <p:ph type="sldNum" sz="quarter" idx="5"/>
          </p:nvPr>
        </p:nvSpPr>
        <p:spPr/>
        <p:txBody>
          <a:bodyPr/>
          <a:lstStyle/>
          <a:p>
            <a:fld id="{65D5AC5A-175C-48F5-BBA6-F82CFCDAD2E2}" type="slidenum">
              <a:rPr lang="en-US" smtClean="0"/>
              <a:t>10</a:t>
            </a:fld>
            <a:endParaRPr lang="en-US"/>
          </a:p>
        </p:txBody>
      </p:sp>
    </p:spTree>
    <p:extLst>
      <p:ext uri="{BB962C8B-B14F-4D97-AF65-F5344CB8AC3E}">
        <p14:creationId xmlns:p14="http://schemas.microsoft.com/office/powerpoint/2010/main" val="4057891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team-provided image DNhacks_inspo_prompt.png, DNHacks Defense inspiration prompt titled Flight paths in plain English. Reproduced as supplied. This is historical inspiration; technical claims in the prompt are not independent evidence of Tactlink capabilities. Natural-language route commands are demonstrated in a separate simulation test environment.</a:t>
            </a:r>
          </a:p>
        </p:txBody>
      </p:sp>
      <p:sp>
        <p:nvSpPr>
          <p:cNvPr id="4" name="Slide Number Placeholder 3"/>
          <p:cNvSpPr>
            <a:spLocks noGrp="1"/>
          </p:cNvSpPr>
          <p:nvPr>
            <p:ph type="sldNum" sz="quarter" idx="5"/>
          </p:nvPr>
        </p:nvSpPr>
        <p:spPr/>
        <p:txBody>
          <a:bodyPr/>
          <a:lstStyle/>
          <a:p>
            <a:fld id="{65D5AC5A-175C-48F5-BBA6-F82CFCDAD2E2}" type="slidenum">
              <a:rPr lang="en-US" smtClean="0"/>
              <a:t>11</a:t>
            </a:fld>
            <a:endParaRPr lang="en-US"/>
          </a:p>
        </p:txBody>
      </p:sp>
    </p:spTree>
    <p:extLst>
      <p:ext uri="{BB962C8B-B14F-4D97-AF65-F5344CB8AC3E}">
        <p14:creationId xmlns:p14="http://schemas.microsoft.com/office/powerpoint/2010/main" val="1537814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85A7-B9A1-3AC5-9DFA-580068CF0B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C19E2E-86F5-B46D-7343-C085646C86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1973FB-1113-3171-C46D-EC5423A1FED0}"/>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5" name="Footer Placeholder 4">
            <a:extLst>
              <a:ext uri="{FF2B5EF4-FFF2-40B4-BE49-F238E27FC236}">
                <a16:creationId xmlns:a16="http://schemas.microsoft.com/office/drawing/2014/main" id="{07F752FE-B1A9-6FBB-B523-E4B845B3E2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BB4FF1-B352-BBCA-9C37-C80BD3F17299}"/>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3625697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4AABF-88CB-DB05-C7D6-87AE0A6636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AED8A7-3EFB-928C-9282-DDCEB515D5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A2FA8-F1DE-22D8-C207-5B8849A885F1}"/>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5" name="Footer Placeholder 4">
            <a:extLst>
              <a:ext uri="{FF2B5EF4-FFF2-40B4-BE49-F238E27FC236}">
                <a16:creationId xmlns:a16="http://schemas.microsoft.com/office/drawing/2014/main" id="{B85905F4-442A-029D-3382-448F0BC59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37AAB-57A9-EB24-7D75-B33486E18C91}"/>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4452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90C21-B232-3676-233D-9AB00549B1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2787B1-7839-4079-4A03-90166A61CE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34D2A3-3A93-849B-97A0-84E173B55477}"/>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5" name="Footer Placeholder 4">
            <a:extLst>
              <a:ext uri="{FF2B5EF4-FFF2-40B4-BE49-F238E27FC236}">
                <a16:creationId xmlns:a16="http://schemas.microsoft.com/office/drawing/2014/main" id="{C9CC04BF-BB77-7618-2DAE-AF597E8824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BBFE2C-A830-FF43-2621-EFA479E12A62}"/>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4269473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8D7D-4FBE-56B6-9504-2D1CAAC6A8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12C249-FB2D-9EBB-096B-F39E4ACF6E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E98C6C-6B0E-DA59-A386-A58E55BFCC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333D52-DA0F-E888-28BB-B0CFDED079DF}"/>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6" name="Footer Placeholder 5">
            <a:extLst>
              <a:ext uri="{FF2B5EF4-FFF2-40B4-BE49-F238E27FC236}">
                <a16:creationId xmlns:a16="http://schemas.microsoft.com/office/drawing/2014/main" id="{032CBBA9-0282-5E3E-852A-2746D4C334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92C264-B67E-67EF-FEE0-0F989B4E1022}"/>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3490766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8C954-1040-A480-17FF-E5A012C8A4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7D837A-9BBF-1EDD-A8BC-D1CBF1545F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5FA573-4DE0-46D7-5B2E-066BF8BC76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71534B-C7F4-3044-63D1-5ED890B8C1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DD70BE-177F-32BD-AF3D-F4A06E22E2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67ECC1-721A-44CE-2696-6CB80A5FF6C7}"/>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8" name="Footer Placeholder 7">
            <a:extLst>
              <a:ext uri="{FF2B5EF4-FFF2-40B4-BE49-F238E27FC236}">
                <a16:creationId xmlns:a16="http://schemas.microsoft.com/office/drawing/2014/main" id="{631366A2-8825-BE4A-52AE-74267B06F7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A01823-45F5-F71B-B3BD-7A7221F7CF42}"/>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2610579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DE7CA-FD9C-DA06-7FDD-739E2BC25D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169E0D-3709-E4C8-7698-C171C71B149D}"/>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4" name="Footer Placeholder 3">
            <a:extLst>
              <a:ext uri="{FF2B5EF4-FFF2-40B4-BE49-F238E27FC236}">
                <a16:creationId xmlns:a16="http://schemas.microsoft.com/office/drawing/2014/main" id="{D52A41B6-C6D1-96BC-1FFD-2B2F05FFF5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EE4B1C-5123-C1A4-052F-4C5D00427EDE}"/>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371470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8FB454-85B4-43E0-DC98-CB990CFC5A3B}"/>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3" name="Footer Placeholder 2">
            <a:extLst>
              <a:ext uri="{FF2B5EF4-FFF2-40B4-BE49-F238E27FC236}">
                <a16:creationId xmlns:a16="http://schemas.microsoft.com/office/drawing/2014/main" id="{975AC96C-0AFA-2DA8-2600-BABFBDFD20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AB086D-1F8F-5854-7BC9-3E86D009A862}"/>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3303198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05539-9AD1-36A5-877B-C8EDD4B9D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CFC11A-E115-3374-73CF-B7B629F4E1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2A9DF9-7A3B-E84A-C112-90F8EB19DC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AA971E-EC3F-9ED6-2C18-94F3D027AE4C}"/>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6" name="Footer Placeholder 5">
            <a:extLst>
              <a:ext uri="{FF2B5EF4-FFF2-40B4-BE49-F238E27FC236}">
                <a16:creationId xmlns:a16="http://schemas.microsoft.com/office/drawing/2014/main" id="{BE632729-0075-22E8-9449-A6963B4CB4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F85F59-2FA4-C268-5F74-3DE5FAA9E698}"/>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3728481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BC633-76C3-C8CB-B5C3-6B240E371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336C96-AF03-74EE-35C7-08A0DEC2B5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B7DBCC-5C3A-04F1-13D1-9EFBA5A4B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2A4984-D737-D261-12B5-2C1510B21AED}"/>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6" name="Footer Placeholder 5">
            <a:extLst>
              <a:ext uri="{FF2B5EF4-FFF2-40B4-BE49-F238E27FC236}">
                <a16:creationId xmlns:a16="http://schemas.microsoft.com/office/drawing/2014/main" id="{382E92DE-1972-0F4E-0B10-7DF96B323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E472E5-93AA-B2F8-9F17-C617180E5841}"/>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1414670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66BB-1BA7-F7BB-34F4-44E58599C6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048AD5-64E5-165A-8219-58D644AC46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A5DEF0-6934-3360-C5BB-18B0A254CA8C}"/>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5" name="Footer Placeholder 4">
            <a:extLst>
              <a:ext uri="{FF2B5EF4-FFF2-40B4-BE49-F238E27FC236}">
                <a16:creationId xmlns:a16="http://schemas.microsoft.com/office/drawing/2014/main" id="{C188507D-034E-C1C9-CBCC-425478E3B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AC850-CA75-F9E3-F9B2-DE226AF5F000}"/>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4242977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489675-90CA-9E68-FBF7-0B5CA3BEF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0CBD6D-185C-9E68-4A56-295B619480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7575C-D4B6-C2E9-D2DA-CFAB98A68DE2}"/>
              </a:ext>
            </a:extLst>
          </p:cNvPr>
          <p:cNvSpPr>
            <a:spLocks noGrp="1"/>
          </p:cNvSpPr>
          <p:nvPr>
            <p:ph type="dt" sz="half" idx="10"/>
          </p:nvPr>
        </p:nvSpPr>
        <p:spPr/>
        <p:txBody>
          <a:bodyPr/>
          <a:lstStyle/>
          <a:p>
            <a:fld id="{79AC019F-E04C-437E-83F1-53F5D0E833C5}" type="datetimeFigureOut">
              <a:rPr lang="en-US" smtClean="0"/>
              <a:t>9/6/2026</a:t>
            </a:fld>
            <a:endParaRPr lang="en-US"/>
          </a:p>
        </p:txBody>
      </p:sp>
      <p:sp>
        <p:nvSpPr>
          <p:cNvPr id="5" name="Footer Placeholder 4">
            <a:extLst>
              <a:ext uri="{FF2B5EF4-FFF2-40B4-BE49-F238E27FC236}">
                <a16:creationId xmlns:a16="http://schemas.microsoft.com/office/drawing/2014/main" id="{1AD4F103-109A-5840-DF7D-234C9C2185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BE65D6-0689-486D-C5B5-D2D902E2EF29}"/>
              </a:ext>
            </a:extLst>
          </p:cNvPr>
          <p:cNvSpPr>
            <a:spLocks noGrp="1"/>
          </p:cNvSpPr>
          <p:nvPr>
            <p:ph type="sldNum" sz="quarter" idx="12"/>
          </p:nvPr>
        </p:nvSpPr>
        <p:spPr/>
        <p:txBody>
          <a:bodyPr/>
          <a:lstStyle/>
          <a:p>
            <a:fld id="{321EB5B2-6280-4F86-8569-CBFC45F805B8}" type="slidenum">
              <a:rPr lang="en-US" smtClean="0"/>
              <a:t>‹#›</a:t>
            </a:fld>
            <a:endParaRPr lang="en-US"/>
          </a:p>
        </p:txBody>
      </p:sp>
    </p:spTree>
    <p:extLst>
      <p:ext uri="{BB962C8B-B14F-4D97-AF65-F5344CB8AC3E}">
        <p14:creationId xmlns:p14="http://schemas.microsoft.com/office/powerpoint/2010/main" val="3197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C1C8A1-EF0A-060C-9D4E-C730907867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A4A902-2A35-C5BD-EBA0-67892720D4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2BAA0-7C98-FEEC-D727-E08AB9EA7F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AC019F-E04C-437E-83F1-53F5D0E833C5}" type="datetimeFigureOut">
              <a:rPr lang="en-US" smtClean="0"/>
              <a:t>9/6/2026</a:t>
            </a:fld>
            <a:endParaRPr lang="en-US"/>
          </a:p>
        </p:txBody>
      </p:sp>
      <p:sp>
        <p:nvSpPr>
          <p:cNvPr id="5" name="Footer Placeholder 4">
            <a:extLst>
              <a:ext uri="{FF2B5EF4-FFF2-40B4-BE49-F238E27FC236}">
                <a16:creationId xmlns:a16="http://schemas.microsoft.com/office/drawing/2014/main" id="{B670CCC5-0CBF-6DF1-A1C3-EB770F3E12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5F6799-86DC-F0F6-06A9-32DA6EF133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EB5B2-6280-4F86-8569-CBFC45F805B8}" type="slidenum">
              <a:rPr lang="en-US" smtClean="0"/>
              <a:t>‹#›</a:t>
            </a:fld>
            <a:endParaRPr lang="en-US"/>
          </a:p>
        </p:txBody>
      </p:sp>
    </p:spTree>
    <p:extLst>
      <p:ext uri="{BB962C8B-B14F-4D97-AF65-F5344CB8AC3E}">
        <p14:creationId xmlns:p14="http://schemas.microsoft.com/office/powerpoint/2010/main" val="1713115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askandpurpose.com/news/army-drone-mos/"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4CA958-F8CB-8D0B-3A9E-B106A49EFEC5}"/>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DBE107AF-DE46-4741-CE63-034292A48DE5}"/>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SQUAD–DRONE INTERACTION</a:t>
            </a:r>
          </a:p>
        </p:txBody>
      </p:sp>
      <p:sp>
        <p:nvSpPr>
          <p:cNvPr id="4" name="TextBox 3">
            <a:extLst>
              <a:ext uri="{FF2B5EF4-FFF2-40B4-BE49-F238E27FC236}">
                <a16:creationId xmlns:a16="http://schemas.microsoft.com/office/drawing/2014/main" id="{322EB3A7-0F2B-F749-4A00-1DC8848323EE}"/>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EFF1E9"/>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8D1DB4A-D57C-B383-3C6E-8F1B2140AF7F}"/>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EEF0FA9-E4E7-4B60-F4F3-B464C26C42B4}"/>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8F8722AC-1F73-1B3D-665B-A2ED26A5DE03}"/>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56C83240-6CA1-7E05-F745-5BDC7843633E}"/>
              </a:ext>
            </a:extLst>
          </p:cNvPr>
          <p:cNvSpPr/>
          <p:nvPr/>
        </p:nvSpPr>
        <p:spPr>
          <a:xfrm>
            <a:off x="508000" y="1054100"/>
            <a:ext cx="3098800" cy="330200"/>
          </a:xfrm>
          <a:prstGeom prst="round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1AAA71-6065-B833-6A0C-B239D1862A06}"/>
              </a:ext>
            </a:extLst>
          </p:cNvPr>
          <p:cNvSpPr txBox="1"/>
          <p:nvPr/>
        </p:nvSpPr>
        <p:spPr>
          <a:xfrm>
            <a:off x="635000" y="1117600"/>
            <a:ext cx="28448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DEFENSE / WORKING SIMULATION</a:t>
            </a:r>
          </a:p>
        </p:txBody>
      </p:sp>
      <p:sp>
        <p:nvSpPr>
          <p:cNvPr id="10" name="TextBox 9">
            <a:extLst>
              <a:ext uri="{FF2B5EF4-FFF2-40B4-BE49-F238E27FC236}">
                <a16:creationId xmlns:a16="http://schemas.microsoft.com/office/drawing/2014/main" id="{7BFE16DB-5D62-EC0D-6FC5-FA455885A449}"/>
              </a:ext>
            </a:extLst>
          </p:cNvPr>
          <p:cNvSpPr txBox="1"/>
          <p:nvPr/>
        </p:nvSpPr>
        <p:spPr>
          <a:xfrm>
            <a:off x="508000" y="1778000"/>
            <a:ext cx="6540500" cy="1323439"/>
          </a:xfrm>
          <a:prstGeom prst="rect">
            <a:avLst/>
          </a:prstGeom>
          <a:noFill/>
        </p:spPr>
        <p:txBody>
          <a:bodyPr vert="horz" wrap="square" lIns="0" tIns="0" rIns="0" bIns="0" rtlCol="0">
            <a:spAutoFit/>
          </a:bodyPr>
          <a:lstStyle/>
          <a:p>
            <a:r>
              <a:rPr lang="en-US" sz="4300" b="1">
                <a:solidFill>
                  <a:srgbClr val="EFF1E9"/>
                </a:solidFill>
                <a:latin typeface="Aptos" panose="020B0004020202020204" pitchFamily="34" charset="0"/>
              </a:rPr>
              <a:t>Add the drone
to the squad.</a:t>
            </a:r>
          </a:p>
        </p:txBody>
      </p:sp>
      <p:sp>
        <p:nvSpPr>
          <p:cNvPr id="11" name="TextBox 10">
            <a:extLst>
              <a:ext uri="{FF2B5EF4-FFF2-40B4-BE49-F238E27FC236}">
                <a16:creationId xmlns:a16="http://schemas.microsoft.com/office/drawing/2014/main" id="{FB936F71-C03C-4002-5FB4-B7029EFD93D2}"/>
              </a:ext>
            </a:extLst>
          </p:cNvPr>
          <p:cNvSpPr txBox="1"/>
          <p:nvPr/>
        </p:nvSpPr>
        <p:spPr>
          <a:xfrm>
            <a:off x="508000" y="3886200"/>
            <a:ext cx="5270500" cy="769441"/>
          </a:xfrm>
          <a:prstGeom prst="rect">
            <a:avLst/>
          </a:prstGeom>
          <a:noFill/>
        </p:spPr>
        <p:txBody>
          <a:bodyPr vert="horz" wrap="square" lIns="0" tIns="0" rIns="0" bIns="0" rtlCol="0">
            <a:spAutoFit/>
          </a:bodyPr>
          <a:lstStyle/>
          <a:p>
            <a:r>
              <a:rPr lang="en-US" sz="2500">
                <a:solidFill>
                  <a:srgbClr val="9CA593"/>
                </a:solidFill>
                <a:latin typeface="Aptos" panose="020B0004020202020204" pitchFamily="34" charset="0"/>
              </a:rPr>
              <a:t>Plan the mission. Signal changes as the squad moves.</a:t>
            </a:r>
          </a:p>
        </p:txBody>
      </p:sp>
      <p:cxnSp>
        <p:nvCxnSpPr>
          <p:cNvPr id="12" name="Straight Connector 11">
            <a:extLst>
              <a:ext uri="{FF2B5EF4-FFF2-40B4-BE49-F238E27FC236}">
                <a16:creationId xmlns:a16="http://schemas.microsoft.com/office/drawing/2014/main" id="{39825B40-D90D-9E1C-2194-ACDB5FBD93C8}"/>
              </a:ext>
            </a:extLst>
          </p:cNvPr>
          <p:cNvCxnSpPr/>
          <p:nvPr/>
        </p:nvCxnSpPr>
        <p:spPr>
          <a:xfrm>
            <a:off x="508000" y="5156200"/>
            <a:ext cx="685800" cy="0"/>
          </a:xfrm>
          <a:prstGeom prst="line">
            <a:avLst/>
          </a:prstGeom>
          <a:ln w="25400">
            <a:solidFill>
              <a:srgbClr val="B4EF74"/>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8D32055-9263-6D40-3512-E6F3CED1854F}"/>
              </a:ext>
            </a:extLst>
          </p:cNvPr>
          <p:cNvSpPr txBox="1"/>
          <p:nvPr/>
        </p:nvSpPr>
        <p:spPr>
          <a:xfrm>
            <a:off x="508000" y="5422900"/>
            <a:ext cx="6096000" cy="246221"/>
          </a:xfrm>
          <a:prstGeom prst="rect">
            <a:avLst/>
          </a:prstGeom>
          <a:noFill/>
        </p:spPr>
        <p:txBody>
          <a:bodyPr vert="horz" wrap="square" lIns="0" tIns="0" rIns="0" bIns="0" rtlCol="0">
            <a:spAutoFit/>
          </a:bodyPr>
          <a:lstStyle/>
          <a:p>
            <a:r>
              <a:rPr lang="en-US" sz="1600" b="1">
                <a:solidFill>
                  <a:srgbClr val="B4EF74"/>
                </a:solidFill>
                <a:latin typeface="Aptos" panose="020B0004020202020204" pitchFamily="34" charset="0"/>
              </a:rPr>
              <a:t>ONE SQUAD. SHARED DRONE SUPPORT.</a:t>
            </a:r>
          </a:p>
        </p:txBody>
      </p:sp>
      <p:cxnSp>
        <p:nvCxnSpPr>
          <p:cNvPr id="14" name="Straight Connector 13">
            <a:extLst>
              <a:ext uri="{FF2B5EF4-FFF2-40B4-BE49-F238E27FC236}">
                <a16:creationId xmlns:a16="http://schemas.microsoft.com/office/drawing/2014/main" id="{C786A8DD-BBBE-1EE6-0C5A-F910E1766642}"/>
              </a:ext>
            </a:extLst>
          </p:cNvPr>
          <p:cNvCxnSpPr/>
          <p:nvPr/>
        </p:nvCxnSpPr>
        <p:spPr>
          <a:xfrm>
            <a:off x="70358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2F6A3A9-CEEA-21C3-062B-6E1E68878D6E}"/>
              </a:ext>
            </a:extLst>
          </p:cNvPr>
          <p:cNvCxnSpPr/>
          <p:nvPr/>
        </p:nvCxnSpPr>
        <p:spPr>
          <a:xfrm>
            <a:off x="74422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0FC1CFB-20EF-1FA0-3D1A-B228D084EF54}"/>
              </a:ext>
            </a:extLst>
          </p:cNvPr>
          <p:cNvCxnSpPr/>
          <p:nvPr/>
        </p:nvCxnSpPr>
        <p:spPr>
          <a:xfrm>
            <a:off x="78486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2656CD2-2B96-D875-C93D-1DBB097C40C0}"/>
              </a:ext>
            </a:extLst>
          </p:cNvPr>
          <p:cNvCxnSpPr/>
          <p:nvPr/>
        </p:nvCxnSpPr>
        <p:spPr>
          <a:xfrm>
            <a:off x="82550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C93968A-2149-F89A-C3EF-5DB98D4E3179}"/>
              </a:ext>
            </a:extLst>
          </p:cNvPr>
          <p:cNvCxnSpPr/>
          <p:nvPr/>
        </p:nvCxnSpPr>
        <p:spPr>
          <a:xfrm>
            <a:off x="86614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AA984A5-232B-B5F9-7091-069C61AD485E}"/>
              </a:ext>
            </a:extLst>
          </p:cNvPr>
          <p:cNvCxnSpPr/>
          <p:nvPr/>
        </p:nvCxnSpPr>
        <p:spPr>
          <a:xfrm>
            <a:off x="90678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5D0814D-F9CD-BE88-DB56-2DB3704DC9CD}"/>
              </a:ext>
            </a:extLst>
          </p:cNvPr>
          <p:cNvCxnSpPr/>
          <p:nvPr/>
        </p:nvCxnSpPr>
        <p:spPr>
          <a:xfrm>
            <a:off x="94742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5038590-1FDD-E8B0-DC75-7F82B31E6D4D}"/>
              </a:ext>
            </a:extLst>
          </p:cNvPr>
          <p:cNvCxnSpPr/>
          <p:nvPr/>
        </p:nvCxnSpPr>
        <p:spPr>
          <a:xfrm>
            <a:off x="98806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475FB68-B384-A00C-7E9F-2727565906DD}"/>
              </a:ext>
            </a:extLst>
          </p:cNvPr>
          <p:cNvCxnSpPr/>
          <p:nvPr/>
        </p:nvCxnSpPr>
        <p:spPr>
          <a:xfrm>
            <a:off x="102870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12B95005-9496-ACAF-B509-11827EBF0764}"/>
              </a:ext>
            </a:extLst>
          </p:cNvPr>
          <p:cNvCxnSpPr/>
          <p:nvPr/>
        </p:nvCxnSpPr>
        <p:spPr>
          <a:xfrm>
            <a:off x="106934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03AB30C-B98F-3481-AEB6-CD315F082A90}"/>
              </a:ext>
            </a:extLst>
          </p:cNvPr>
          <p:cNvCxnSpPr/>
          <p:nvPr/>
        </p:nvCxnSpPr>
        <p:spPr>
          <a:xfrm>
            <a:off x="110998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EDE9C06-6300-43FF-2CB3-595C2DB9AA7F}"/>
              </a:ext>
            </a:extLst>
          </p:cNvPr>
          <p:cNvCxnSpPr/>
          <p:nvPr/>
        </p:nvCxnSpPr>
        <p:spPr>
          <a:xfrm>
            <a:off x="11506200" y="1651000"/>
            <a:ext cx="0" cy="36576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505833A-72FF-1670-1329-CF3979498B2C}"/>
              </a:ext>
            </a:extLst>
          </p:cNvPr>
          <p:cNvCxnSpPr/>
          <p:nvPr/>
        </p:nvCxnSpPr>
        <p:spPr>
          <a:xfrm>
            <a:off x="7035800" y="16510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C7C125C-9286-3A8B-0002-025DACB4ABC4}"/>
              </a:ext>
            </a:extLst>
          </p:cNvPr>
          <p:cNvCxnSpPr/>
          <p:nvPr/>
        </p:nvCxnSpPr>
        <p:spPr>
          <a:xfrm>
            <a:off x="7035800" y="20574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D79E55A-8B27-BD21-E3F7-282CE7C6AEFF}"/>
              </a:ext>
            </a:extLst>
          </p:cNvPr>
          <p:cNvCxnSpPr/>
          <p:nvPr/>
        </p:nvCxnSpPr>
        <p:spPr>
          <a:xfrm>
            <a:off x="7035800" y="24638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40820E2-F945-1361-7E59-2516B366A8BF}"/>
              </a:ext>
            </a:extLst>
          </p:cNvPr>
          <p:cNvCxnSpPr/>
          <p:nvPr/>
        </p:nvCxnSpPr>
        <p:spPr>
          <a:xfrm>
            <a:off x="7035800" y="28702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38F7B9C-116D-266C-0BC5-01732BAE5853}"/>
              </a:ext>
            </a:extLst>
          </p:cNvPr>
          <p:cNvCxnSpPr/>
          <p:nvPr/>
        </p:nvCxnSpPr>
        <p:spPr>
          <a:xfrm>
            <a:off x="7035800" y="32766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81C7F08-5AF4-FD91-F553-F9FE5224D265}"/>
              </a:ext>
            </a:extLst>
          </p:cNvPr>
          <p:cNvCxnSpPr/>
          <p:nvPr/>
        </p:nvCxnSpPr>
        <p:spPr>
          <a:xfrm>
            <a:off x="7035800" y="36830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7E12F5B-E0C2-6502-9D52-B49187DB4AE9}"/>
              </a:ext>
            </a:extLst>
          </p:cNvPr>
          <p:cNvCxnSpPr/>
          <p:nvPr/>
        </p:nvCxnSpPr>
        <p:spPr>
          <a:xfrm>
            <a:off x="7035800" y="40894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9004A04-E0BE-447B-9A41-CAD310C2889F}"/>
              </a:ext>
            </a:extLst>
          </p:cNvPr>
          <p:cNvCxnSpPr/>
          <p:nvPr/>
        </p:nvCxnSpPr>
        <p:spPr>
          <a:xfrm>
            <a:off x="7035800" y="44958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6BE56B1-2FA8-B429-BD42-6DCFF52ED045}"/>
              </a:ext>
            </a:extLst>
          </p:cNvPr>
          <p:cNvCxnSpPr/>
          <p:nvPr/>
        </p:nvCxnSpPr>
        <p:spPr>
          <a:xfrm>
            <a:off x="7035800" y="49022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41216D3-BC71-7E20-2604-33587BB01EB1}"/>
              </a:ext>
            </a:extLst>
          </p:cNvPr>
          <p:cNvCxnSpPr/>
          <p:nvPr/>
        </p:nvCxnSpPr>
        <p:spPr>
          <a:xfrm>
            <a:off x="7035800" y="5308600"/>
            <a:ext cx="44704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371B50C-FE4C-7675-56C0-7D5728E8032D}"/>
              </a:ext>
            </a:extLst>
          </p:cNvPr>
          <p:cNvSpPr/>
          <p:nvPr/>
        </p:nvSpPr>
        <p:spPr>
          <a:xfrm>
            <a:off x="7531100" y="2120900"/>
            <a:ext cx="3302000" cy="3302000"/>
          </a:xfrm>
          <a:prstGeom prst="ellipse">
            <a:avLst/>
          </a:prstGeom>
          <a:noFill/>
          <a:ln w="25400" cap="flat" cmpd="sng" algn="ctr">
            <a:solidFill>
              <a:srgbClr val="2C3427"/>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2ECB31D-9505-5E19-76F9-B77A3C86C2EE}"/>
              </a:ext>
            </a:extLst>
          </p:cNvPr>
          <p:cNvSpPr/>
          <p:nvPr/>
        </p:nvSpPr>
        <p:spPr>
          <a:xfrm>
            <a:off x="8031480" y="3220720"/>
            <a:ext cx="142240" cy="14224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3D329B54-DE9D-B56D-B1DA-2380BDEEB0F0}"/>
              </a:ext>
            </a:extLst>
          </p:cNvPr>
          <p:cNvSpPr/>
          <p:nvPr/>
        </p:nvSpPr>
        <p:spPr>
          <a:xfrm>
            <a:off x="8001000" y="3403600"/>
            <a:ext cx="203200" cy="325120"/>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202400D1-3353-CDFA-ADB9-C45A808C3A25}"/>
              </a:ext>
            </a:extLst>
          </p:cNvPr>
          <p:cNvCxnSpPr/>
          <p:nvPr/>
        </p:nvCxnSpPr>
        <p:spPr>
          <a:xfrm flipH="1">
            <a:off x="8001000" y="36982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DE41A8C-11C3-E986-90CC-E30167278633}"/>
              </a:ext>
            </a:extLst>
          </p:cNvPr>
          <p:cNvCxnSpPr/>
          <p:nvPr/>
        </p:nvCxnSpPr>
        <p:spPr>
          <a:xfrm>
            <a:off x="8173720" y="36982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0719190-0730-270A-8CCD-D416F2F414D7}"/>
              </a:ext>
            </a:extLst>
          </p:cNvPr>
          <p:cNvCxnSpPr/>
          <p:nvPr/>
        </p:nvCxnSpPr>
        <p:spPr>
          <a:xfrm flipH="1">
            <a:off x="7879080" y="3474720"/>
            <a:ext cx="152400" cy="12192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CE62FBC7-6D31-E9D7-A78F-6627FBA55E07}"/>
              </a:ext>
            </a:extLst>
          </p:cNvPr>
          <p:cNvCxnSpPr/>
          <p:nvPr/>
        </p:nvCxnSpPr>
        <p:spPr>
          <a:xfrm flipV="1">
            <a:off x="8173720" y="3281680"/>
            <a:ext cx="162560" cy="19304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6DAC6326-21A4-3855-C0C0-0F55FEEF7E36}"/>
              </a:ext>
            </a:extLst>
          </p:cNvPr>
          <p:cNvSpPr/>
          <p:nvPr/>
        </p:nvSpPr>
        <p:spPr>
          <a:xfrm>
            <a:off x="9047480" y="3855720"/>
            <a:ext cx="142240" cy="14224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E8FA0963-FCE9-6455-715C-D06ADB626487}"/>
              </a:ext>
            </a:extLst>
          </p:cNvPr>
          <p:cNvSpPr/>
          <p:nvPr/>
        </p:nvSpPr>
        <p:spPr>
          <a:xfrm>
            <a:off x="9017000" y="4038600"/>
            <a:ext cx="203200" cy="325120"/>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833B30B2-09F1-EE61-802C-5BDFC33F6918}"/>
              </a:ext>
            </a:extLst>
          </p:cNvPr>
          <p:cNvCxnSpPr/>
          <p:nvPr/>
        </p:nvCxnSpPr>
        <p:spPr>
          <a:xfrm flipH="1">
            <a:off x="9017000" y="43332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9646722B-7E96-3C06-8336-ADE5D1EB61DC}"/>
              </a:ext>
            </a:extLst>
          </p:cNvPr>
          <p:cNvCxnSpPr/>
          <p:nvPr/>
        </p:nvCxnSpPr>
        <p:spPr>
          <a:xfrm>
            <a:off x="9189720" y="43332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68A01FB-871B-942B-B477-997FA7981F0B}"/>
              </a:ext>
            </a:extLst>
          </p:cNvPr>
          <p:cNvCxnSpPr/>
          <p:nvPr/>
        </p:nvCxnSpPr>
        <p:spPr>
          <a:xfrm flipH="1">
            <a:off x="8895080" y="4109720"/>
            <a:ext cx="152400" cy="12192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BE160E48-A759-C0A3-2531-0DBA588764D2}"/>
              </a:ext>
            </a:extLst>
          </p:cNvPr>
          <p:cNvCxnSpPr/>
          <p:nvPr/>
        </p:nvCxnSpPr>
        <p:spPr>
          <a:xfrm flipV="1">
            <a:off x="9189720" y="3916680"/>
            <a:ext cx="162560" cy="19304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8ABA1B06-C718-BDD9-98E9-5593C9080360}"/>
              </a:ext>
            </a:extLst>
          </p:cNvPr>
          <p:cNvSpPr/>
          <p:nvPr/>
        </p:nvSpPr>
        <p:spPr>
          <a:xfrm>
            <a:off x="10228580" y="4008120"/>
            <a:ext cx="142240" cy="14224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87EAD522-A603-06B5-8C47-493CDDA4AA3D}"/>
              </a:ext>
            </a:extLst>
          </p:cNvPr>
          <p:cNvSpPr/>
          <p:nvPr/>
        </p:nvSpPr>
        <p:spPr>
          <a:xfrm>
            <a:off x="10198100" y="4191000"/>
            <a:ext cx="203200" cy="325120"/>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95232D3F-D999-CBA0-D049-935FA79F00A5}"/>
              </a:ext>
            </a:extLst>
          </p:cNvPr>
          <p:cNvCxnSpPr/>
          <p:nvPr/>
        </p:nvCxnSpPr>
        <p:spPr>
          <a:xfrm flipH="1">
            <a:off x="10198100" y="44856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92CC094-0658-8D7E-8613-5E2175DD0DF8}"/>
              </a:ext>
            </a:extLst>
          </p:cNvPr>
          <p:cNvCxnSpPr/>
          <p:nvPr/>
        </p:nvCxnSpPr>
        <p:spPr>
          <a:xfrm>
            <a:off x="10370820" y="44856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5908245D-465B-65B4-59D7-D6E159D4BD84}"/>
              </a:ext>
            </a:extLst>
          </p:cNvPr>
          <p:cNvCxnSpPr/>
          <p:nvPr/>
        </p:nvCxnSpPr>
        <p:spPr>
          <a:xfrm flipH="1">
            <a:off x="10076180" y="4262120"/>
            <a:ext cx="152400" cy="12192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EBB72093-55FB-2342-540E-05009E7ED168}"/>
              </a:ext>
            </a:extLst>
          </p:cNvPr>
          <p:cNvCxnSpPr/>
          <p:nvPr/>
        </p:nvCxnSpPr>
        <p:spPr>
          <a:xfrm flipV="1">
            <a:off x="10370820" y="4069080"/>
            <a:ext cx="162560" cy="19304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4EE794F7-80FC-725E-49C0-67A578C8E6FC}"/>
              </a:ext>
            </a:extLst>
          </p:cNvPr>
          <p:cNvSpPr/>
          <p:nvPr/>
        </p:nvSpPr>
        <p:spPr>
          <a:xfrm>
            <a:off x="8945880" y="2585720"/>
            <a:ext cx="142240" cy="14224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81642898-1E4E-09A5-1F2C-57A3A0F4D34C}"/>
              </a:ext>
            </a:extLst>
          </p:cNvPr>
          <p:cNvSpPr/>
          <p:nvPr/>
        </p:nvSpPr>
        <p:spPr>
          <a:xfrm>
            <a:off x="8915400" y="2768600"/>
            <a:ext cx="203200" cy="325120"/>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05C84681-88ED-BBA7-2F95-3B1AF41B3828}"/>
              </a:ext>
            </a:extLst>
          </p:cNvPr>
          <p:cNvCxnSpPr/>
          <p:nvPr/>
        </p:nvCxnSpPr>
        <p:spPr>
          <a:xfrm flipH="1">
            <a:off x="8915400" y="30632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26B5E7E4-2218-C745-075C-768BF01BBAAE}"/>
              </a:ext>
            </a:extLst>
          </p:cNvPr>
          <p:cNvCxnSpPr/>
          <p:nvPr/>
        </p:nvCxnSpPr>
        <p:spPr>
          <a:xfrm>
            <a:off x="9088120" y="3063240"/>
            <a:ext cx="30480" cy="21336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BAF5C904-611B-CAE7-A205-2898E8FBF8B4}"/>
              </a:ext>
            </a:extLst>
          </p:cNvPr>
          <p:cNvCxnSpPr/>
          <p:nvPr/>
        </p:nvCxnSpPr>
        <p:spPr>
          <a:xfrm flipH="1">
            <a:off x="8793480" y="2839720"/>
            <a:ext cx="152400" cy="12192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7578EE9C-A208-217F-55D4-CADE41907247}"/>
              </a:ext>
            </a:extLst>
          </p:cNvPr>
          <p:cNvCxnSpPr/>
          <p:nvPr/>
        </p:nvCxnSpPr>
        <p:spPr>
          <a:xfrm flipV="1">
            <a:off x="9088120" y="2646680"/>
            <a:ext cx="162560" cy="19304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58790EF6-5FEF-6D3A-3E1F-7D3FDBF87799}"/>
              </a:ext>
            </a:extLst>
          </p:cNvPr>
          <p:cNvCxnSpPr/>
          <p:nvPr/>
        </p:nvCxnSpPr>
        <p:spPr>
          <a:xfrm flipH="1" flipV="1">
            <a:off x="10153904" y="2828544"/>
            <a:ext cx="234696" cy="181356"/>
          </a:xfrm>
          <a:prstGeom prst="line">
            <a:avLst/>
          </a:prstGeom>
          <a:ln w="53340">
            <a:solidFill>
              <a:srgbClr val="EFF1E9"/>
            </a:solidFill>
          </a:ln>
        </p:spPr>
        <p:style>
          <a:lnRef idx="2">
            <a:schemeClr val="accent1"/>
          </a:lnRef>
          <a:fillRef idx="0">
            <a:schemeClr val="accent1"/>
          </a:fillRef>
          <a:effectRef idx="1">
            <a:schemeClr val="accent1"/>
          </a:effectRef>
          <a:fontRef idx="minor">
            <a:schemeClr val="tx1"/>
          </a:fontRef>
        </p:style>
      </p:cxnSp>
      <p:sp>
        <p:nvSpPr>
          <p:cNvPr id="62" name="Oval 61">
            <a:extLst>
              <a:ext uri="{FF2B5EF4-FFF2-40B4-BE49-F238E27FC236}">
                <a16:creationId xmlns:a16="http://schemas.microsoft.com/office/drawing/2014/main" id="{FFEBE49F-5BC9-E2EC-446A-3FE160D7E3F6}"/>
              </a:ext>
            </a:extLst>
          </p:cNvPr>
          <p:cNvSpPr/>
          <p:nvPr/>
        </p:nvSpPr>
        <p:spPr>
          <a:xfrm>
            <a:off x="10025888" y="2700528"/>
            <a:ext cx="256032" cy="256032"/>
          </a:xfrm>
          <a:prstGeom prst="ellipse">
            <a:avLst/>
          </a:prstGeom>
          <a:noFill/>
          <a:ln w="2133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8A3C695A-0D89-04D4-1E44-A385C52BAF0B}"/>
              </a:ext>
            </a:extLst>
          </p:cNvPr>
          <p:cNvCxnSpPr/>
          <p:nvPr/>
        </p:nvCxnSpPr>
        <p:spPr>
          <a:xfrm>
            <a:off x="10068560" y="2828544"/>
            <a:ext cx="17068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E94C5E86-33BE-57EC-DBAD-B1ABD0E7835A}"/>
              </a:ext>
            </a:extLst>
          </p:cNvPr>
          <p:cNvCxnSpPr/>
          <p:nvPr/>
        </p:nvCxnSpPr>
        <p:spPr>
          <a:xfrm flipV="1">
            <a:off x="10388600" y="2828544"/>
            <a:ext cx="234696" cy="181356"/>
          </a:xfrm>
          <a:prstGeom prst="line">
            <a:avLst/>
          </a:prstGeom>
          <a:ln w="53340">
            <a:solidFill>
              <a:srgbClr val="EFF1E9"/>
            </a:solidFill>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B35C80E6-9CBD-09DA-8EE0-595B2B55B246}"/>
              </a:ext>
            </a:extLst>
          </p:cNvPr>
          <p:cNvSpPr/>
          <p:nvPr/>
        </p:nvSpPr>
        <p:spPr>
          <a:xfrm>
            <a:off x="10495280" y="2700528"/>
            <a:ext cx="256032" cy="256032"/>
          </a:xfrm>
          <a:prstGeom prst="ellipse">
            <a:avLst/>
          </a:prstGeom>
          <a:noFill/>
          <a:ln w="2133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33093A22-C772-24C2-F321-7AD054EF1D53}"/>
              </a:ext>
            </a:extLst>
          </p:cNvPr>
          <p:cNvCxnSpPr/>
          <p:nvPr/>
        </p:nvCxnSpPr>
        <p:spPr>
          <a:xfrm>
            <a:off x="10537952" y="2828544"/>
            <a:ext cx="17068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C9B482B8-5912-815C-1029-E1481D14329C}"/>
              </a:ext>
            </a:extLst>
          </p:cNvPr>
          <p:cNvCxnSpPr/>
          <p:nvPr/>
        </p:nvCxnSpPr>
        <p:spPr>
          <a:xfrm flipH="1">
            <a:off x="10153904" y="3009900"/>
            <a:ext cx="234696" cy="181356"/>
          </a:xfrm>
          <a:prstGeom prst="line">
            <a:avLst/>
          </a:prstGeom>
          <a:ln w="53340">
            <a:solidFill>
              <a:srgbClr val="EFF1E9"/>
            </a:solidFill>
          </a:ln>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B43F3467-83E1-271D-13E7-11BA0394C8C9}"/>
              </a:ext>
            </a:extLst>
          </p:cNvPr>
          <p:cNvSpPr/>
          <p:nvPr/>
        </p:nvSpPr>
        <p:spPr>
          <a:xfrm>
            <a:off x="10025888" y="3063240"/>
            <a:ext cx="256032" cy="256032"/>
          </a:xfrm>
          <a:prstGeom prst="ellipse">
            <a:avLst/>
          </a:prstGeom>
          <a:noFill/>
          <a:ln w="2133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F004AB10-E153-8AE6-EC17-04DCABD76D58}"/>
              </a:ext>
            </a:extLst>
          </p:cNvPr>
          <p:cNvCxnSpPr/>
          <p:nvPr/>
        </p:nvCxnSpPr>
        <p:spPr>
          <a:xfrm>
            <a:off x="10068560" y="3191256"/>
            <a:ext cx="17068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2EC63E8-4447-7BA5-9639-A0E0765649EF}"/>
              </a:ext>
            </a:extLst>
          </p:cNvPr>
          <p:cNvCxnSpPr/>
          <p:nvPr/>
        </p:nvCxnSpPr>
        <p:spPr>
          <a:xfrm>
            <a:off x="10388600" y="3009900"/>
            <a:ext cx="234696" cy="181356"/>
          </a:xfrm>
          <a:prstGeom prst="line">
            <a:avLst/>
          </a:prstGeom>
          <a:ln w="53340">
            <a:solidFill>
              <a:srgbClr val="EFF1E9"/>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170C64F6-AB06-1A26-79E7-E2E2EB0A8742}"/>
              </a:ext>
            </a:extLst>
          </p:cNvPr>
          <p:cNvSpPr/>
          <p:nvPr/>
        </p:nvSpPr>
        <p:spPr>
          <a:xfrm>
            <a:off x="10495280" y="3063240"/>
            <a:ext cx="256032" cy="256032"/>
          </a:xfrm>
          <a:prstGeom prst="ellipse">
            <a:avLst/>
          </a:prstGeom>
          <a:noFill/>
          <a:ln w="2133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FCA08B46-CC2D-CEA7-7407-5D7D79442C81}"/>
              </a:ext>
            </a:extLst>
          </p:cNvPr>
          <p:cNvCxnSpPr/>
          <p:nvPr/>
        </p:nvCxnSpPr>
        <p:spPr>
          <a:xfrm>
            <a:off x="10537952" y="3191256"/>
            <a:ext cx="17068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73" name="Rectangle: Rounded Corners 72">
            <a:extLst>
              <a:ext uri="{FF2B5EF4-FFF2-40B4-BE49-F238E27FC236}">
                <a16:creationId xmlns:a16="http://schemas.microsoft.com/office/drawing/2014/main" id="{4BEECE2A-6FCF-41D8-02BC-8A45006FDEF8}"/>
              </a:ext>
            </a:extLst>
          </p:cNvPr>
          <p:cNvSpPr/>
          <p:nvPr/>
        </p:nvSpPr>
        <p:spPr>
          <a:xfrm>
            <a:off x="10292588" y="2839212"/>
            <a:ext cx="192024" cy="341376"/>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214FC3C3-30FB-3621-4DFF-56A388D149C1}"/>
              </a:ext>
            </a:extLst>
          </p:cNvPr>
          <p:cNvSpPr/>
          <p:nvPr/>
        </p:nvSpPr>
        <p:spPr>
          <a:xfrm>
            <a:off x="10356596" y="2903220"/>
            <a:ext cx="64007" cy="64008"/>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9071C412-57FF-5D59-E03F-D4D1F43EFDAB}"/>
              </a:ext>
            </a:extLst>
          </p:cNvPr>
          <p:cNvCxnSpPr/>
          <p:nvPr/>
        </p:nvCxnSpPr>
        <p:spPr>
          <a:xfrm>
            <a:off x="9398000" y="2794000"/>
            <a:ext cx="546100" cy="1524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34F71FCB-B4D5-F7F3-DFF2-5EA9044DBB6B}"/>
              </a:ext>
            </a:extLst>
          </p:cNvPr>
          <p:cNvSpPr/>
          <p:nvPr/>
        </p:nvSpPr>
        <p:spPr>
          <a:xfrm>
            <a:off x="9613900" y="1968500"/>
            <a:ext cx="1879600" cy="330200"/>
          </a:xfrm>
          <a:prstGeom prst="round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DA9494E5-CE40-5917-1146-BD1CCD16AE03}"/>
              </a:ext>
            </a:extLst>
          </p:cNvPr>
          <p:cNvSpPr txBox="1"/>
          <p:nvPr/>
        </p:nvSpPr>
        <p:spPr>
          <a:xfrm>
            <a:off x="9740900" y="2032000"/>
            <a:ext cx="16256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DRONE TEAMMATE</a:t>
            </a:r>
          </a:p>
        </p:txBody>
      </p:sp>
      <p:sp>
        <p:nvSpPr>
          <p:cNvPr id="78" name="Rectangle: Rounded Corners 77">
            <a:extLst>
              <a:ext uri="{FF2B5EF4-FFF2-40B4-BE49-F238E27FC236}">
                <a16:creationId xmlns:a16="http://schemas.microsoft.com/office/drawing/2014/main" id="{08E11BA8-4BBF-B413-CD8A-02A1B2EB2751}"/>
              </a:ext>
            </a:extLst>
          </p:cNvPr>
          <p:cNvSpPr/>
          <p:nvPr/>
        </p:nvSpPr>
        <p:spPr>
          <a:xfrm>
            <a:off x="8331200" y="4864100"/>
            <a:ext cx="1524000" cy="330200"/>
          </a:xfrm>
          <a:prstGeom prst="round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02C233E0-D7A9-61EB-3B94-6C5D50EDA3D0}"/>
              </a:ext>
            </a:extLst>
          </p:cNvPr>
          <p:cNvSpPr txBox="1"/>
          <p:nvPr/>
        </p:nvSpPr>
        <p:spPr>
          <a:xfrm>
            <a:off x="8458200" y="4927600"/>
            <a:ext cx="12700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THE SQUAD</a:t>
            </a:r>
          </a:p>
        </p:txBody>
      </p:sp>
      <p:sp>
        <p:nvSpPr>
          <p:cNvPr id="80" name="TextBox 79">
            <a:extLst>
              <a:ext uri="{FF2B5EF4-FFF2-40B4-BE49-F238E27FC236}">
                <a16:creationId xmlns:a16="http://schemas.microsoft.com/office/drawing/2014/main" id="{DF01D9AA-C542-769A-EEF5-3FA7EFA52E01}"/>
              </a:ext>
            </a:extLst>
          </p:cNvPr>
          <p:cNvSpPr txBox="1"/>
          <p:nvPr/>
        </p:nvSpPr>
        <p:spPr>
          <a:xfrm>
            <a:off x="7975600" y="5702300"/>
            <a:ext cx="3810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ILLUSTRATIVE SQUAD CONCEPT</a:t>
            </a:r>
          </a:p>
        </p:txBody>
      </p:sp>
      <p:sp>
        <p:nvSpPr>
          <p:cNvPr id="81" name="TextBox 80">
            <a:extLst>
              <a:ext uri="{FF2B5EF4-FFF2-40B4-BE49-F238E27FC236}">
                <a16:creationId xmlns:a16="http://schemas.microsoft.com/office/drawing/2014/main" id="{170151D2-4319-BD5B-FAEB-4044E99ECB5F}"/>
              </a:ext>
            </a:extLst>
          </p:cNvPr>
          <p:cNvSpPr txBox="1"/>
          <p:nvPr/>
        </p:nvSpPr>
        <p:spPr>
          <a:xfrm>
            <a:off x="508000" y="5943600"/>
            <a:ext cx="6985000" cy="169277"/>
          </a:xfrm>
          <a:prstGeom prst="rect">
            <a:avLst/>
          </a:prstGeom>
          <a:noFill/>
        </p:spPr>
        <p:txBody>
          <a:bodyPr vert="horz" wrap="square" lIns="0" tIns="0" rIns="0" bIns="0" rtlCol="0">
            <a:spAutoFit/>
          </a:bodyPr>
          <a:lstStyle/>
          <a:p>
            <a:r>
              <a:rPr lang="en-US" sz="1100">
                <a:solidFill>
                  <a:srgbClr val="9CA593"/>
                </a:solidFill>
                <a:latin typeface="Aptos" panose="020B0004020202020204" pitchFamily="34" charset="0"/>
              </a:rPr>
              <a:t>WHY NOW: Army drone specialists may join squads. [1]</a:t>
            </a:r>
          </a:p>
        </p:txBody>
      </p:sp>
      <p:sp>
        <p:nvSpPr>
          <p:cNvPr id="82" name="TextBox 81">
            <a:hlinkClick r:id="rId3"/>
            <a:extLst>
              <a:ext uri="{FF2B5EF4-FFF2-40B4-BE49-F238E27FC236}">
                <a16:creationId xmlns:a16="http://schemas.microsoft.com/office/drawing/2014/main" id="{B3B02953-828D-3FB6-3707-6DBD860E9636}"/>
              </a:ext>
            </a:extLst>
          </p:cNvPr>
          <p:cNvSpPr txBox="1"/>
          <p:nvPr/>
        </p:nvSpPr>
        <p:spPr>
          <a:xfrm>
            <a:off x="8267700" y="5969000"/>
            <a:ext cx="34036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[1] Task &amp; Purpose · Aug. 31, 2026</a:t>
            </a:r>
          </a:p>
        </p:txBody>
      </p:sp>
    </p:spTree>
    <p:extLst>
      <p:ext uri="{BB962C8B-B14F-4D97-AF65-F5344CB8AC3E}">
        <p14:creationId xmlns:p14="http://schemas.microsoft.com/office/powerpoint/2010/main" val="3303503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B0D7EB-ED42-CE4F-D7D3-5817865AD1A0}"/>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FE3D04D7-29B5-76A6-BD24-EE8096776842}"/>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01 / PROBLEM → PROPOSED INTERACTION</a:t>
            </a:r>
          </a:p>
        </p:txBody>
      </p:sp>
      <p:sp>
        <p:nvSpPr>
          <p:cNvPr id="4" name="TextBox 3">
            <a:extLst>
              <a:ext uri="{FF2B5EF4-FFF2-40B4-BE49-F238E27FC236}">
                <a16:creationId xmlns:a16="http://schemas.microsoft.com/office/drawing/2014/main" id="{48D159B0-2D01-8E84-902E-8CAB79AA45E8}"/>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The squad needs to adapt. Eyes stay up.</a:t>
            </a:r>
          </a:p>
        </p:txBody>
      </p:sp>
      <p:cxnSp>
        <p:nvCxnSpPr>
          <p:cNvPr id="5" name="Straight Connector 4">
            <a:extLst>
              <a:ext uri="{FF2B5EF4-FFF2-40B4-BE49-F238E27FC236}">
                <a16:creationId xmlns:a16="http://schemas.microsoft.com/office/drawing/2014/main" id="{88F41175-3996-C8E2-3CB7-769AE73C27CC}"/>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EAEDFDB-C551-58AB-1B8E-EFE7E410498F}"/>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4C2CC7A1-2CD4-7F04-F685-51A78070E039}"/>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EC3F7A2E-C670-3B0A-6334-9035D69ED03E}"/>
              </a:ext>
            </a:extLst>
          </p:cNvPr>
          <p:cNvSpPr/>
          <p:nvPr/>
        </p:nvSpPr>
        <p:spPr>
          <a:xfrm>
            <a:off x="508000" y="1968500"/>
            <a:ext cx="5003800" cy="330200"/>
          </a:xfrm>
          <a:prstGeom prst="round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56C3589-528B-528C-C1B9-67D19B44D7C3}"/>
              </a:ext>
            </a:extLst>
          </p:cNvPr>
          <p:cNvSpPr txBox="1"/>
          <p:nvPr/>
        </p:nvSpPr>
        <p:spPr>
          <a:xfrm>
            <a:off x="635000" y="2032000"/>
            <a:ext cx="47498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OPERATING CONTEXT: GPS-DENIED ENVIRONMENTS</a:t>
            </a:r>
          </a:p>
        </p:txBody>
      </p:sp>
      <p:sp>
        <p:nvSpPr>
          <p:cNvPr id="10" name="Rectangle 9">
            <a:extLst>
              <a:ext uri="{FF2B5EF4-FFF2-40B4-BE49-F238E27FC236}">
                <a16:creationId xmlns:a16="http://schemas.microsoft.com/office/drawing/2014/main" id="{7F461603-5913-E54F-62B9-76ED7CDEDCED}"/>
              </a:ext>
            </a:extLst>
          </p:cNvPr>
          <p:cNvSpPr/>
          <p:nvPr/>
        </p:nvSpPr>
        <p:spPr>
          <a:xfrm>
            <a:off x="508000" y="2501900"/>
            <a:ext cx="5422900" cy="26289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F3CABEE-77B6-7B70-A1CD-8393432ED3ED}"/>
              </a:ext>
            </a:extLst>
          </p:cNvPr>
          <p:cNvSpPr/>
          <p:nvPr/>
        </p:nvSpPr>
        <p:spPr>
          <a:xfrm>
            <a:off x="6184900" y="2501900"/>
            <a:ext cx="5499100" cy="2628900"/>
          </a:xfrm>
          <a:prstGeom prst="rect">
            <a:avLst/>
          </a:prstGeom>
          <a:solidFill>
            <a:srgbClr val="1820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6999C36-CBF7-E7E3-EC50-F88B96D5063D}"/>
              </a:ext>
            </a:extLst>
          </p:cNvPr>
          <p:cNvSpPr txBox="1"/>
          <p:nvPr/>
        </p:nvSpPr>
        <p:spPr>
          <a:xfrm>
            <a:off x="723900" y="2667000"/>
            <a:ext cx="5016500" cy="184666"/>
          </a:xfrm>
          <a:prstGeom prst="rect">
            <a:avLst/>
          </a:prstGeom>
          <a:noFill/>
        </p:spPr>
        <p:txBody>
          <a:bodyPr vert="horz" wrap="square" lIns="0" tIns="0" rIns="0" bIns="0" rtlCol="0">
            <a:spAutoFit/>
          </a:bodyPr>
          <a:lstStyle/>
          <a:p>
            <a:r>
              <a:rPr lang="en-US" sz="1200" b="1">
                <a:solidFill>
                  <a:srgbClr val="9CA593"/>
                </a:solidFill>
                <a:latin typeface="Aptos" panose="020B0004020202020204" pitchFamily="34" charset="0"/>
              </a:rPr>
              <a:t>WORKFLOW DESCRIBED TO US</a:t>
            </a:r>
          </a:p>
        </p:txBody>
      </p:sp>
      <p:sp>
        <p:nvSpPr>
          <p:cNvPr id="13" name="TextBox 12">
            <a:extLst>
              <a:ext uri="{FF2B5EF4-FFF2-40B4-BE49-F238E27FC236}">
                <a16:creationId xmlns:a16="http://schemas.microsoft.com/office/drawing/2014/main" id="{F446B7C8-9560-604E-B8A5-46B99A4AA5CA}"/>
              </a:ext>
            </a:extLst>
          </p:cNvPr>
          <p:cNvSpPr txBox="1"/>
          <p:nvPr/>
        </p:nvSpPr>
        <p:spPr>
          <a:xfrm>
            <a:off x="723900" y="3048000"/>
            <a:ext cx="5016500" cy="369332"/>
          </a:xfrm>
          <a:prstGeom prst="rect">
            <a:avLst/>
          </a:prstGeom>
          <a:noFill/>
        </p:spPr>
        <p:txBody>
          <a:bodyPr vert="horz" wrap="square" lIns="0" tIns="0" rIns="0" bIns="0" rtlCol="0">
            <a:spAutoFit/>
          </a:bodyPr>
          <a:lstStyle/>
          <a:p>
            <a:r>
              <a:rPr lang="en-US" sz="2400" b="1">
                <a:solidFill>
                  <a:srgbClr val="EFF1E9"/>
                </a:solidFill>
                <a:latin typeface="Aptos" panose="020B0004020202020204" pitchFamily="34" charset="0"/>
              </a:rPr>
              <a:t>Small, chest-mounted tablet</a:t>
            </a:r>
          </a:p>
        </p:txBody>
      </p:sp>
      <p:sp>
        <p:nvSpPr>
          <p:cNvPr id="14" name="Oval 13">
            <a:extLst>
              <a:ext uri="{FF2B5EF4-FFF2-40B4-BE49-F238E27FC236}">
                <a16:creationId xmlns:a16="http://schemas.microsoft.com/office/drawing/2014/main" id="{9BCE051A-6A22-B28E-5250-F894100CF495}"/>
              </a:ext>
            </a:extLst>
          </p:cNvPr>
          <p:cNvSpPr/>
          <p:nvPr/>
        </p:nvSpPr>
        <p:spPr>
          <a:xfrm>
            <a:off x="1140206" y="4014724"/>
            <a:ext cx="81788" cy="81788"/>
          </a:xfrm>
          <a:prstGeom prst="ellipse">
            <a:avLst/>
          </a:prstGeom>
          <a:solidFill>
            <a:srgbClr val="9CA5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AA7A475B-B347-253C-69D7-C6F4AF5E3AC0}"/>
              </a:ext>
            </a:extLst>
          </p:cNvPr>
          <p:cNvSpPr/>
          <p:nvPr/>
        </p:nvSpPr>
        <p:spPr>
          <a:xfrm>
            <a:off x="1122680" y="4119880"/>
            <a:ext cx="116840" cy="186944"/>
          </a:xfrm>
          <a:prstGeom prst="roundRect">
            <a:avLst/>
          </a:prstGeom>
          <a:solidFill>
            <a:srgbClr val="9CA5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6F43F24E-F138-C3C0-7BA4-154922068419}"/>
              </a:ext>
            </a:extLst>
          </p:cNvPr>
          <p:cNvCxnSpPr/>
          <p:nvPr/>
        </p:nvCxnSpPr>
        <p:spPr>
          <a:xfrm flipH="1">
            <a:off x="1122680" y="4289298"/>
            <a:ext cx="17526" cy="122682"/>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C21F78F-6811-9B9F-2400-0702F70EFE64}"/>
              </a:ext>
            </a:extLst>
          </p:cNvPr>
          <p:cNvCxnSpPr/>
          <p:nvPr/>
        </p:nvCxnSpPr>
        <p:spPr>
          <a:xfrm>
            <a:off x="1221994" y="4289298"/>
            <a:ext cx="17526" cy="122682"/>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DA02CEE-7B64-8CE8-4112-2AF4CDBBE97B}"/>
              </a:ext>
            </a:extLst>
          </p:cNvPr>
          <p:cNvCxnSpPr/>
          <p:nvPr/>
        </p:nvCxnSpPr>
        <p:spPr>
          <a:xfrm flipH="1">
            <a:off x="1052576" y="4160774"/>
            <a:ext cx="87630" cy="70104"/>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F3BF887-2536-E3FE-5321-8AE79F41CD7E}"/>
              </a:ext>
            </a:extLst>
          </p:cNvPr>
          <p:cNvCxnSpPr/>
          <p:nvPr/>
        </p:nvCxnSpPr>
        <p:spPr>
          <a:xfrm flipV="1">
            <a:off x="1221994" y="4049776"/>
            <a:ext cx="93472" cy="110998"/>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18FA4624-4FDE-29FD-7B34-E1E336D68B9A}"/>
              </a:ext>
            </a:extLst>
          </p:cNvPr>
          <p:cNvSpPr/>
          <p:nvPr/>
        </p:nvSpPr>
        <p:spPr>
          <a:xfrm>
            <a:off x="1787906" y="4230624"/>
            <a:ext cx="81788" cy="81788"/>
          </a:xfrm>
          <a:prstGeom prst="ellipse">
            <a:avLst/>
          </a:prstGeom>
          <a:solidFill>
            <a:srgbClr val="9CA5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88E54ACA-5AAC-F456-439E-A9F49FCDD281}"/>
              </a:ext>
            </a:extLst>
          </p:cNvPr>
          <p:cNvSpPr/>
          <p:nvPr/>
        </p:nvSpPr>
        <p:spPr>
          <a:xfrm>
            <a:off x="1770380" y="4335780"/>
            <a:ext cx="116840" cy="186944"/>
          </a:xfrm>
          <a:prstGeom prst="roundRect">
            <a:avLst/>
          </a:prstGeom>
          <a:solidFill>
            <a:srgbClr val="9CA5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6F7431A1-6E5C-4A91-A5A0-A9955A7BC3EF}"/>
              </a:ext>
            </a:extLst>
          </p:cNvPr>
          <p:cNvCxnSpPr/>
          <p:nvPr/>
        </p:nvCxnSpPr>
        <p:spPr>
          <a:xfrm flipH="1">
            <a:off x="1770380" y="4505198"/>
            <a:ext cx="17526" cy="122682"/>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D34FC16-0376-8F6D-494F-D148ED988B63}"/>
              </a:ext>
            </a:extLst>
          </p:cNvPr>
          <p:cNvCxnSpPr/>
          <p:nvPr/>
        </p:nvCxnSpPr>
        <p:spPr>
          <a:xfrm>
            <a:off x="1869694" y="4505198"/>
            <a:ext cx="17526" cy="122682"/>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78382E8-C20A-D4DC-59E6-B0D1E7A34EAD}"/>
              </a:ext>
            </a:extLst>
          </p:cNvPr>
          <p:cNvCxnSpPr/>
          <p:nvPr/>
        </p:nvCxnSpPr>
        <p:spPr>
          <a:xfrm flipH="1">
            <a:off x="1700276" y="4376674"/>
            <a:ext cx="87630" cy="70104"/>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202449F-DD02-3688-3E2D-F200A296D524}"/>
              </a:ext>
            </a:extLst>
          </p:cNvPr>
          <p:cNvCxnSpPr/>
          <p:nvPr/>
        </p:nvCxnSpPr>
        <p:spPr>
          <a:xfrm flipV="1">
            <a:off x="1869694" y="4265676"/>
            <a:ext cx="93472" cy="110998"/>
          </a:xfrm>
          <a:prstGeom prst="line">
            <a:avLst/>
          </a:prstGeom>
          <a:ln w="29210">
            <a:solidFill>
              <a:srgbClr val="9CA593"/>
            </a:solidFill>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79E46CB3-DB62-4968-D882-DBA33B21C914}"/>
              </a:ext>
            </a:extLst>
          </p:cNvPr>
          <p:cNvSpPr/>
          <p:nvPr/>
        </p:nvSpPr>
        <p:spPr>
          <a:xfrm>
            <a:off x="2552700" y="3556000"/>
            <a:ext cx="254000" cy="254000"/>
          </a:xfrm>
          <a:prstGeom prst="ellipse">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E73017-448E-D18F-8577-1AAFC35D3E47}"/>
              </a:ext>
            </a:extLst>
          </p:cNvPr>
          <p:cNvSpPr/>
          <p:nvPr/>
        </p:nvSpPr>
        <p:spPr>
          <a:xfrm>
            <a:off x="2514600" y="3898900"/>
            <a:ext cx="330200" cy="609600"/>
          </a:xfrm>
          <a:prstGeom prst="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F1071DCC-C0AB-CC8E-1445-4104C12F1971}"/>
              </a:ext>
            </a:extLst>
          </p:cNvPr>
          <p:cNvCxnSpPr/>
          <p:nvPr/>
        </p:nvCxnSpPr>
        <p:spPr>
          <a:xfrm flipH="1">
            <a:off x="2527300" y="4457700"/>
            <a:ext cx="50800" cy="330200"/>
          </a:xfrm>
          <a:prstGeom prst="line">
            <a:avLst/>
          </a:prstGeom>
          <a:ln w="762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CC2C0BC-75A4-9EAC-D4A4-8601397135CD}"/>
              </a:ext>
            </a:extLst>
          </p:cNvPr>
          <p:cNvCxnSpPr/>
          <p:nvPr/>
        </p:nvCxnSpPr>
        <p:spPr>
          <a:xfrm>
            <a:off x="2781300" y="4457700"/>
            <a:ext cx="76200" cy="330200"/>
          </a:xfrm>
          <a:prstGeom prst="line">
            <a:avLst/>
          </a:prstGeom>
          <a:ln w="76200">
            <a:solidFill>
              <a:srgbClr val="EFF1E9"/>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CB233853-A7FC-B2E8-6063-2C42DB344A8B}"/>
              </a:ext>
            </a:extLst>
          </p:cNvPr>
          <p:cNvSpPr/>
          <p:nvPr/>
        </p:nvSpPr>
        <p:spPr>
          <a:xfrm>
            <a:off x="2641600" y="3975100"/>
            <a:ext cx="469900" cy="330200"/>
          </a:xfrm>
          <a:prstGeom prst="rect">
            <a:avLst/>
          </a:prstGeom>
          <a:solidFill>
            <a:srgbClr val="9CA5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076BBA2-D72D-D664-C821-6ADBDDE74D67}"/>
              </a:ext>
            </a:extLst>
          </p:cNvPr>
          <p:cNvSpPr/>
          <p:nvPr/>
        </p:nvSpPr>
        <p:spPr>
          <a:xfrm>
            <a:off x="2705100" y="4025900"/>
            <a:ext cx="342900" cy="215900"/>
          </a:xfrm>
          <a:prstGeom prst="rect">
            <a:avLst/>
          </a:prstGeom>
          <a:solidFill>
            <a:srgbClr val="0C10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A957CB2C-3158-2538-FF36-57E2B5B2E4C7}"/>
              </a:ext>
            </a:extLst>
          </p:cNvPr>
          <p:cNvCxnSpPr/>
          <p:nvPr/>
        </p:nvCxnSpPr>
        <p:spPr>
          <a:xfrm>
            <a:off x="2768600" y="3708400"/>
            <a:ext cx="177800" cy="190500"/>
          </a:xfrm>
          <a:prstGeom prst="line">
            <a:avLst/>
          </a:prstGeom>
          <a:ln w="25400">
            <a:solidFill>
              <a:srgbClr val="9CA593"/>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674FDCF-1AC5-F270-6C49-C016B20C5F1C}"/>
              </a:ext>
            </a:extLst>
          </p:cNvPr>
          <p:cNvCxnSpPr/>
          <p:nvPr/>
        </p:nvCxnSpPr>
        <p:spPr>
          <a:xfrm>
            <a:off x="2527300" y="3975100"/>
            <a:ext cx="177800" cy="292100"/>
          </a:xfrm>
          <a:prstGeom prst="line">
            <a:avLst/>
          </a:prstGeom>
          <a:ln w="635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98D845-1AE1-B142-ADDB-E1D6AD6C1F3E}"/>
              </a:ext>
            </a:extLst>
          </p:cNvPr>
          <p:cNvCxnSpPr/>
          <p:nvPr/>
        </p:nvCxnSpPr>
        <p:spPr>
          <a:xfrm flipV="1">
            <a:off x="3238500" y="3746500"/>
            <a:ext cx="1168400" cy="368300"/>
          </a:xfrm>
          <a:prstGeom prst="line">
            <a:avLst/>
          </a:prstGeom>
          <a:ln w="25400">
            <a:solidFill>
              <a:srgbClr val="9CA593"/>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61836FB-4388-D82A-A5C6-1CF5D0058C44}"/>
              </a:ext>
            </a:extLst>
          </p:cNvPr>
          <p:cNvCxnSpPr/>
          <p:nvPr/>
        </p:nvCxnSpPr>
        <p:spPr>
          <a:xfrm flipH="1" flipV="1">
            <a:off x="4871466" y="3564001"/>
            <a:ext cx="170434" cy="131699"/>
          </a:xfrm>
          <a:prstGeom prst="line">
            <a:avLst/>
          </a:prstGeom>
          <a:ln w="38735">
            <a:solidFill>
              <a:srgbClr val="EFF1E9"/>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26A766BC-A428-FF93-6D93-9009333C7E61}"/>
              </a:ext>
            </a:extLst>
          </p:cNvPr>
          <p:cNvSpPr/>
          <p:nvPr/>
        </p:nvSpPr>
        <p:spPr>
          <a:xfrm>
            <a:off x="4778502" y="3471037"/>
            <a:ext cx="185928" cy="185928"/>
          </a:xfrm>
          <a:prstGeom prst="ellipse">
            <a:avLst/>
          </a:prstGeom>
          <a:noFill/>
          <a:ln w="1549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A1430B21-3046-5657-062E-37A927E9286C}"/>
              </a:ext>
            </a:extLst>
          </p:cNvPr>
          <p:cNvCxnSpPr/>
          <p:nvPr/>
        </p:nvCxnSpPr>
        <p:spPr>
          <a:xfrm>
            <a:off x="4809490" y="3564001"/>
            <a:ext cx="12395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10002684-977A-4DCC-5540-EC711BCA326B}"/>
              </a:ext>
            </a:extLst>
          </p:cNvPr>
          <p:cNvCxnSpPr/>
          <p:nvPr/>
        </p:nvCxnSpPr>
        <p:spPr>
          <a:xfrm flipV="1">
            <a:off x="5041900" y="3564001"/>
            <a:ext cx="170434" cy="131699"/>
          </a:xfrm>
          <a:prstGeom prst="line">
            <a:avLst/>
          </a:prstGeom>
          <a:ln w="38735">
            <a:solidFill>
              <a:srgbClr val="EFF1E9"/>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14764732-622D-F351-484C-5B7BFB996303}"/>
              </a:ext>
            </a:extLst>
          </p:cNvPr>
          <p:cNvSpPr/>
          <p:nvPr/>
        </p:nvSpPr>
        <p:spPr>
          <a:xfrm>
            <a:off x="5119370" y="3471037"/>
            <a:ext cx="185928" cy="185928"/>
          </a:xfrm>
          <a:prstGeom prst="ellipse">
            <a:avLst/>
          </a:prstGeom>
          <a:noFill/>
          <a:ln w="1549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647386F9-731A-F325-1C46-AC9CB2690CB0}"/>
              </a:ext>
            </a:extLst>
          </p:cNvPr>
          <p:cNvCxnSpPr/>
          <p:nvPr/>
        </p:nvCxnSpPr>
        <p:spPr>
          <a:xfrm>
            <a:off x="5150358" y="3564001"/>
            <a:ext cx="12395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F559F2F-0E73-77DE-8E33-BD06D7563405}"/>
              </a:ext>
            </a:extLst>
          </p:cNvPr>
          <p:cNvCxnSpPr/>
          <p:nvPr/>
        </p:nvCxnSpPr>
        <p:spPr>
          <a:xfrm flipH="1">
            <a:off x="4871466" y="3695700"/>
            <a:ext cx="170434" cy="131699"/>
          </a:xfrm>
          <a:prstGeom prst="line">
            <a:avLst/>
          </a:prstGeom>
          <a:ln w="38735">
            <a:solidFill>
              <a:srgbClr val="EFF1E9"/>
            </a:solidFill>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492EF554-90FD-5FC4-A27D-495D7CF31C41}"/>
              </a:ext>
            </a:extLst>
          </p:cNvPr>
          <p:cNvSpPr/>
          <p:nvPr/>
        </p:nvSpPr>
        <p:spPr>
          <a:xfrm>
            <a:off x="4778502" y="3734435"/>
            <a:ext cx="185928" cy="185928"/>
          </a:xfrm>
          <a:prstGeom prst="ellipse">
            <a:avLst/>
          </a:prstGeom>
          <a:noFill/>
          <a:ln w="1549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B7D98683-53A9-02D2-F32C-23AB97E6CB01}"/>
              </a:ext>
            </a:extLst>
          </p:cNvPr>
          <p:cNvCxnSpPr/>
          <p:nvPr/>
        </p:nvCxnSpPr>
        <p:spPr>
          <a:xfrm>
            <a:off x="4809490" y="3827399"/>
            <a:ext cx="12395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5402AF1-A09C-63B6-B807-1E5A2DD6450E}"/>
              </a:ext>
            </a:extLst>
          </p:cNvPr>
          <p:cNvCxnSpPr/>
          <p:nvPr/>
        </p:nvCxnSpPr>
        <p:spPr>
          <a:xfrm>
            <a:off x="5041900" y="3695700"/>
            <a:ext cx="170434" cy="131699"/>
          </a:xfrm>
          <a:prstGeom prst="line">
            <a:avLst/>
          </a:prstGeom>
          <a:ln w="38735">
            <a:solidFill>
              <a:srgbClr val="EFF1E9"/>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324174B1-9104-71AC-132C-AC9949B2E732}"/>
              </a:ext>
            </a:extLst>
          </p:cNvPr>
          <p:cNvSpPr/>
          <p:nvPr/>
        </p:nvSpPr>
        <p:spPr>
          <a:xfrm>
            <a:off x="5119370" y="3734435"/>
            <a:ext cx="185928" cy="185928"/>
          </a:xfrm>
          <a:prstGeom prst="ellipse">
            <a:avLst/>
          </a:prstGeom>
          <a:noFill/>
          <a:ln w="1549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10F2BA3F-3B4A-FC5C-D4C1-9F7ACE48016B}"/>
              </a:ext>
            </a:extLst>
          </p:cNvPr>
          <p:cNvCxnSpPr/>
          <p:nvPr/>
        </p:nvCxnSpPr>
        <p:spPr>
          <a:xfrm>
            <a:off x="5150358" y="3827399"/>
            <a:ext cx="12395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47" name="Rectangle: Rounded Corners 46">
            <a:extLst>
              <a:ext uri="{FF2B5EF4-FFF2-40B4-BE49-F238E27FC236}">
                <a16:creationId xmlns:a16="http://schemas.microsoft.com/office/drawing/2014/main" id="{201ED4D9-CCA0-A226-A815-9D1964347F0D}"/>
              </a:ext>
            </a:extLst>
          </p:cNvPr>
          <p:cNvSpPr/>
          <p:nvPr/>
        </p:nvSpPr>
        <p:spPr>
          <a:xfrm>
            <a:off x="4972177" y="3571748"/>
            <a:ext cx="139446" cy="247904"/>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50C6916-6E40-AA25-0E86-6587F24565DF}"/>
              </a:ext>
            </a:extLst>
          </p:cNvPr>
          <p:cNvSpPr/>
          <p:nvPr/>
        </p:nvSpPr>
        <p:spPr>
          <a:xfrm>
            <a:off x="5018659" y="3618230"/>
            <a:ext cx="46482" cy="46482"/>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52EEA107-38D2-8710-AFA7-BE4E92444BB7}"/>
              </a:ext>
            </a:extLst>
          </p:cNvPr>
          <p:cNvSpPr txBox="1"/>
          <p:nvPr/>
        </p:nvSpPr>
        <p:spPr>
          <a:xfrm>
            <a:off x="723900" y="4800600"/>
            <a:ext cx="49657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Attention moves to the interface.</a:t>
            </a:r>
          </a:p>
        </p:txBody>
      </p:sp>
      <p:sp>
        <p:nvSpPr>
          <p:cNvPr id="50" name="TextBox 49">
            <a:extLst>
              <a:ext uri="{FF2B5EF4-FFF2-40B4-BE49-F238E27FC236}">
                <a16:creationId xmlns:a16="http://schemas.microsoft.com/office/drawing/2014/main" id="{053B1AB5-BD8B-0B0C-2899-442BD4E6F7CD}"/>
              </a:ext>
            </a:extLst>
          </p:cNvPr>
          <p:cNvSpPr txBox="1"/>
          <p:nvPr/>
        </p:nvSpPr>
        <p:spPr>
          <a:xfrm>
            <a:off x="6400800" y="2667000"/>
            <a:ext cx="5054600" cy="184666"/>
          </a:xfrm>
          <a:prstGeom prst="rect">
            <a:avLst/>
          </a:prstGeom>
          <a:noFill/>
        </p:spPr>
        <p:txBody>
          <a:bodyPr vert="horz" wrap="square" lIns="0" tIns="0" rIns="0" bIns="0" rtlCol="0">
            <a:spAutoFit/>
          </a:bodyPr>
          <a:lstStyle/>
          <a:p>
            <a:r>
              <a:rPr lang="en-US" sz="1200" b="1">
                <a:solidFill>
                  <a:srgbClr val="B4EF74"/>
                </a:solidFill>
                <a:latin typeface="Aptos" panose="020B0004020202020204" pitchFamily="34" charset="0"/>
              </a:rPr>
              <a:t>TACTLINK / ONBOARD VISION CONCEPT</a:t>
            </a:r>
          </a:p>
        </p:txBody>
      </p:sp>
      <p:sp>
        <p:nvSpPr>
          <p:cNvPr id="51" name="TextBox 50">
            <a:extLst>
              <a:ext uri="{FF2B5EF4-FFF2-40B4-BE49-F238E27FC236}">
                <a16:creationId xmlns:a16="http://schemas.microsoft.com/office/drawing/2014/main" id="{A34DE353-9F40-D242-C195-894BAF24221C}"/>
              </a:ext>
            </a:extLst>
          </p:cNvPr>
          <p:cNvSpPr txBox="1"/>
          <p:nvPr/>
        </p:nvSpPr>
        <p:spPr>
          <a:xfrm>
            <a:off x="6400800" y="3048000"/>
            <a:ext cx="5067300" cy="369332"/>
          </a:xfrm>
          <a:prstGeom prst="rect">
            <a:avLst/>
          </a:prstGeom>
          <a:noFill/>
        </p:spPr>
        <p:txBody>
          <a:bodyPr vert="horz" wrap="square" lIns="0" tIns="0" rIns="0" bIns="0" rtlCol="0">
            <a:spAutoFit/>
          </a:bodyPr>
          <a:lstStyle/>
          <a:p>
            <a:r>
              <a:rPr lang="en-US" sz="2400" b="1">
                <a:solidFill>
                  <a:srgbClr val="EFF1E9"/>
                </a:solidFill>
                <a:latin typeface="Aptos" panose="020B0004020202020204" pitchFamily="34" charset="0"/>
              </a:rPr>
              <a:t>Signal directly to the drone</a:t>
            </a:r>
          </a:p>
        </p:txBody>
      </p:sp>
      <p:sp>
        <p:nvSpPr>
          <p:cNvPr id="52" name="Oval 51">
            <a:extLst>
              <a:ext uri="{FF2B5EF4-FFF2-40B4-BE49-F238E27FC236}">
                <a16:creationId xmlns:a16="http://schemas.microsoft.com/office/drawing/2014/main" id="{CF8E64B2-3812-71DA-BD13-ABEBC5BC3D1A}"/>
              </a:ext>
            </a:extLst>
          </p:cNvPr>
          <p:cNvSpPr/>
          <p:nvPr/>
        </p:nvSpPr>
        <p:spPr>
          <a:xfrm>
            <a:off x="6829806" y="4014724"/>
            <a:ext cx="81788" cy="81788"/>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1436E124-DA19-7A94-A1AA-02FC1B5CFADC}"/>
              </a:ext>
            </a:extLst>
          </p:cNvPr>
          <p:cNvSpPr/>
          <p:nvPr/>
        </p:nvSpPr>
        <p:spPr>
          <a:xfrm>
            <a:off x="6812280" y="4119880"/>
            <a:ext cx="116840" cy="186944"/>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3ADB2BE-18FC-8AB1-DA6F-474F341C883F}"/>
              </a:ext>
            </a:extLst>
          </p:cNvPr>
          <p:cNvCxnSpPr/>
          <p:nvPr/>
        </p:nvCxnSpPr>
        <p:spPr>
          <a:xfrm flipH="1">
            <a:off x="6812280" y="4289298"/>
            <a:ext cx="17526" cy="122682"/>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204C4F95-586B-E378-523A-7694B3058E3F}"/>
              </a:ext>
            </a:extLst>
          </p:cNvPr>
          <p:cNvCxnSpPr/>
          <p:nvPr/>
        </p:nvCxnSpPr>
        <p:spPr>
          <a:xfrm>
            <a:off x="6911594" y="4289298"/>
            <a:ext cx="17526" cy="122682"/>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412F710-D5A0-3CCD-F5F0-8AB26F0B5684}"/>
              </a:ext>
            </a:extLst>
          </p:cNvPr>
          <p:cNvCxnSpPr/>
          <p:nvPr/>
        </p:nvCxnSpPr>
        <p:spPr>
          <a:xfrm flipH="1">
            <a:off x="6742176" y="4160774"/>
            <a:ext cx="87630" cy="70104"/>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4A11B1E0-5FB3-FC1F-2197-4D81B7A468E1}"/>
              </a:ext>
            </a:extLst>
          </p:cNvPr>
          <p:cNvCxnSpPr/>
          <p:nvPr/>
        </p:nvCxnSpPr>
        <p:spPr>
          <a:xfrm flipV="1">
            <a:off x="6911594" y="4049776"/>
            <a:ext cx="93472" cy="110998"/>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9FF16762-7C05-C339-32BA-EF7A8ACC6C88}"/>
              </a:ext>
            </a:extLst>
          </p:cNvPr>
          <p:cNvSpPr/>
          <p:nvPr/>
        </p:nvSpPr>
        <p:spPr>
          <a:xfrm>
            <a:off x="7464806" y="4230624"/>
            <a:ext cx="81788" cy="81788"/>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31E73E58-B0E0-CA5C-A851-CFB66ABCD5F7}"/>
              </a:ext>
            </a:extLst>
          </p:cNvPr>
          <p:cNvSpPr/>
          <p:nvPr/>
        </p:nvSpPr>
        <p:spPr>
          <a:xfrm>
            <a:off x="7447280" y="4335780"/>
            <a:ext cx="116840" cy="186944"/>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C8A68002-2E2B-ACDB-EB14-5F9BAC8E792F}"/>
              </a:ext>
            </a:extLst>
          </p:cNvPr>
          <p:cNvCxnSpPr/>
          <p:nvPr/>
        </p:nvCxnSpPr>
        <p:spPr>
          <a:xfrm flipH="1">
            <a:off x="7447280" y="4505198"/>
            <a:ext cx="17526" cy="122682"/>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731314D2-E1FF-8871-454C-47661AD9282E}"/>
              </a:ext>
            </a:extLst>
          </p:cNvPr>
          <p:cNvCxnSpPr/>
          <p:nvPr/>
        </p:nvCxnSpPr>
        <p:spPr>
          <a:xfrm>
            <a:off x="7546594" y="4505198"/>
            <a:ext cx="17526" cy="122682"/>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C0D1AF8B-6DA9-F9F1-FE20-F6DE469C10E3}"/>
              </a:ext>
            </a:extLst>
          </p:cNvPr>
          <p:cNvCxnSpPr/>
          <p:nvPr/>
        </p:nvCxnSpPr>
        <p:spPr>
          <a:xfrm flipH="1">
            <a:off x="7377176" y="4376674"/>
            <a:ext cx="87630" cy="70104"/>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FCA35FC4-2E49-DE54-9002-5615C64AAC14}"/>
              </a:ext>
            </a:extLst>
          </p:cNvPr>
          <p:cNvCxnSpPr/>
          <p:nvPr/>
        </p:nvCxnSpPr>
        <p:spPr>
          <a:xfrm flipV="1">
            <a:off x="7546594" y="4265676"/>
            <a:ext cx="93472" cy="110998"/>
          </a:xfrm>
          <a:prstGeom prst="line">
            <a:avLst/>
          </a:prstGeom>
          <a:ln w="29210">
            <a:solidFill>
              <a:srgbClr val="B4EF74"/>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A18D89FA-0B7C-F35B-A59C-5806952B07D0}"/>
              </a:ext>
            </a:extLst>
          </p:cNvPr>
          <p:cNvSpPr/>
          <p:nvPr/>
        </p:nvSpPr>
        <p:spPr>
          <a:xfrm>
            <a:off x="8350758" y="3862832"/>
            <a:ext cx="138684" cy="138684"/>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F02E30AC-1341-AB4E-F48E-6C207635A896}"/>
              </a:ext>
            </a:extLst>
          </p:cNvPr>
          <p:cNvSpPr/>
          <p:nvPr/>
        </p:nvSpPr>
        <p:spPr>
          <a:xfrm>
            <a:off x="8321040" y="4041140"/>
            <a:ext cx="198120" cy="316992"/>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6F21C055-3677-5482-A7EE-D1CA844212E8}"/>
              </a:ext>
            </a:extLst>
          </p:cNvPr>
          <p:cNvCxnSpPr/>
          <p:nvPr/>
        </p:nvCxnSpPr>
        <p:spPr>
          <a:xfrm flipH="1">
            <a:off x="8321040" y="4328414"/>
            <a:ext cx="29718" cy="208026"/>
          </a:xfrm>
          <a:prstGeom prst="line">
            <a:avLst/>
          </a:prstGeom>
          <a:ln w="495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79FD629F-C6F3-E521-649D-1B4381C0E9FA}"/>
              </a:ext>
            </a:extLst>
          </p:cNvPr>
          <p:cNvCxnSpPr/>
          <p:nvPr/>
        </p:nvCxnSpPr>
        <p:spPr>
          <a:xfrm>
            <a:off x="8489442" y="4328414"/>
            <a:ext cx="29718" cy="208026"/>
          </a:xfrm>
          <a:prstGeom prst="line">
            <a:avLst/>
          </a:prstGeom>
          <a:ln w="495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7647ECD9-08DA-0B65-5F13-CA8517958EB9}"/>
              </a:ext>
            </a:extLst>
          </p:cNvPr>
          <p:cNvCxnSpPr/>
          <p:nvPr/>
        </p:nvCxnSpPr>
        <p:spPr>
          <a:xfrm flipH="1">
            <a:off x="8202168" y="4110482"/>
            <a:ext cx="148590" cy="118872"/>
          </a:xfrm>
          <a:prstGeom prst="line">
            <a:avLst/>
          </a:prstGeom>
          <a:ln w="495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95B230D-EBCB-89C7-9DE9-5378866A5C75}"/>
              </a:ext>
            </a:extLst>
          </p:cNvPr>
          <p:cNvCxnSpPr/>
          <p:nvPr/>
        </p:nvCxnSpPr>
        <p:spPr>
          <a:xfrm flipV="1">
            <a:off x="8489442" y="3922268"/>
            <a:ext cx="158496" cy="188214"/>
          </a:xfrm>
          <a:prstGeom prst="line">
            <a:avLst/>
          </a:prstGeom>
          <a:ln w="495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6505FAC5-DE86-F3BF-956E-C13722E1AA62}"/>
              </a:ext>
            </a:extLst>
          </p:cNvPr>
          <p:cNvCxnSpPr/>
          <p:nvPr/>
        </p:nvCxnSpPr>
        <p:spPr>
          <a:xfrm flipH="1" flipV="1">
            <a:off x="10666984" y="3582924"/>
            <a:ext cx="178816" cy="138176"/>
          </a:xfrm>
          <a:prstGeom prst="line">
            <a:avLst/>
          </a:prstGeom>
          <a:ln w="40640">
            <a:solidFill>
              <a:srgbClr val="EFF1E9"/>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24ADEEAC-0D69-C711-C749-E70995929268}"/>
              </a:ext>
            </a:extLst>
          </p:cNvPr>
          <p:cNvSpPr/>
          <p:nvPr/>
        </p:nvSpPr>
        <p:spPr>
          <a:xfrm>
            <a:off x="10569448" y="3485388"/>
            <a:ext cx="195072" cy="195072"/>
          </a:xfrm>
          <a:prstGeom prst="ellipse">
            <a:avLst/>
          </a:prstGeom>
          <a:noFill/>
          <a:ln w="1625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DA2D8033-A2F7-7737-A226-37D778ABD06A}"/>
              </a:ext>
            </a:extLst>
          </p:cNvPr>
          <p:cNvCxnSpPr/>
          <p:nvPr/>
        </p:nvCxnSpPr>
        <p:spPr>
          <a:xfrm>
            <a:off x="10601960" y="3582924"/>
            <a:ext cx="13004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1A731A9-37CB-372F-C0D4-40160297A5AB}"/>
              </a:ext>
            </a:extLst>
          </p:cNvPr>
          <p:cNvCxnSpPr/>
          <p:nvPr/>
        </p:nvCxnSpPr>
        <p:spPr>
          <a:xfrm flipV="1">
            <a:off x="10845800" y="3582924"/>
            <a:ext cx="178816" cy="138176"/>
          </a:xfrm>
          <a:prstGeom prst="line">
            <a:avLst/>
          </a:prstGeom>
          <a:ln w="40640">
            <a:solidFill>
              <a:srgbClr val="EFF1E9"/>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DA3346E3-DA07-1694-09EE-9491AC139C14}"/>
              </a:ext>
            </a:extLst>
          </p:cNvPr>
          <p:cNvSpPr/>
          <p:nvPr/>
        </p:nvSpPr>
        <p:spPr>
          <a:xfrm>
            <a:off x="10927080" y="3485388"/>
            <a:ext cx="195072" cy="195072"/>
          </a:xfrm>
          <a:prstGeom prst="ellipse">
            <a:avLst/>
          </a:prstGeom>
          <a:noFill/>
          <a:ln w="1625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C3081EAC-1AA1-CE9A-6360-F73B9EF3813A}"/>
              </a:ext>
            </a:extLst>
          </p:cNvPr>
          <p:cNvCxnSpPr/>
          <p:nvPr/>
        </p:nvCxnSpPr>
        <p:spPr>
          <a:xfrm>
            <a:off x="10959592" y="3582924"/>
            <a:ext cx="13004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E308EB1C-3657-B600-73FC-3430EEA6FB63}"/>
              </a:ext>
            </a:extLst>
          </p:cNvPr>
          <p:cNvCxnSpPr/>
          <p:nvPr/>
        </p:nvCxnSpPr>
        <p:spPr>
          <a:xfrm flipH="1">
            <a:off x="10666984" y="3721100"/>
            <a:ext cx="178816" cy="138176"/>
          </a:xfrm>
          <a:prstGeom prst="line">
            <a:avLst/>
          </a:prstGeom>
          <a:ln w="40640">
            <a:solidFill>
              <a:srgbClr val="EFF1E9"/>
            </a:solidFill>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D4FD683C-45E6-70FD-61B1-9A91B1D7BD25}"/>
              </a:ext>
            </a:extLst>
          </p:cNvPr>
          <p:cNvSpPr/>
          <p:nvPr/>
        </p:nvSpPr>
        <p:spPr>
          <a:xfrm>
            <a:off x="10569448" y="3761740"/>
            <a:ext cx="195072" cy="195072"/>
          </a:xfrm>
          <a:prstGeom prst="ellipse">
            <a:avLst/>
          </a:prstGeom>
          <a:noFill/>
          <a:ln w="1625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483752FD-6B31-3877-6998-58E87104A93D}"/>
              </a:ext>
            </a:extLst>
          </p:cNvPr>
          <p:cNvCxnSpPr/>
          <p:nvPr/>
        </p:nvCxnSpPr>
        <p:spPr>
          <a:xfrm>
            <a:off x="10601960" y="3859276"/>
            <a:ext cx="13004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10575CF1-2781-EB3B-4A3A-E73E2672DA6D}"/>
              </a:ext>
            </a:extLst>
          </p:cNvPr>
          <p:cNvCxnSpPr/>
          <p:nvPr/>
        </p:nvCxnSpPr>
        <p:spPr>
          <a:xfrm>
            <a:off x="10845800" y="3721100"/>
            <a:ext cx="178816" cy="138176"/>
          </a:xfrm>
          <a:prstGeom prst="line">
            <a:avLst/>
          </a:prstGeom>
          <a:ln w="40640">
            <a:solidFill>
              <a:srgbClr val="EFF1E9"/>
            </a:solidFill>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088D0186-07AA-2C32-9F0D-F7627B656CCA}"/>
              </a:ext>
            </a:extLst>
          </p:cNvPr>
          <p:cNvSpPr/>
          <p:nvPr/>
        </p:nvSpPr>
        <p:spPr>
          <a:xfrm>
            <a:off x="10927080" y="3761740"/>
            <a:ext cx="195072" cy="195072"/>
          </a:xfrm>
          <a:prstGeom prst="ellipse">
            <a:avLst/>
          </a:prstGeom>
          <a:noFill/>
          <a:ln w="1625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DF1792D2-A028-1F3D-92FB-8A76FE5CEEA7}"/>
              </a:ext>
            </a:extLst>
          </p:cNvPr>
          <p:cNvCxnSpPr/>
          <p:nvPr/>
        </p:nvCxnSpPr>
        <p:spPr>
          <a:xfrm>
            <a:off x="10959592" y="3859276"/>
            <a:ext cx="13004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89C63011-743F-E917-8531-724EA27BFB32}"/>
              </a:ext>
            </a:extLst>
          </p:cNvPr>
          <p:cNvSpPr/>
          <p:nvPr/>
        </p:nvSpPr>
        <p:spPr>
          <a:xfrm>
            <a:off x="10772648" y="3591052"/>
            <a:ext cx="146304" cy="260096"/>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6ACF9A8A-9634-F706-BAAB-2102593C7802}"/>
              </a:ext>
            </a:extLst>
          </p:cNvPr>
          <p:cNvSpPr/>
          <p:nvPr/>
        </p:nvSpPr>
        <p:spPr>
          <a:xfrm>
            <a:off x="10821416" y="3639820"/>
            <a:ext cx="48769" cy="48768"/>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F04C0645-7238-D34B-B525-25E3A29F76AE}"/>
              </a:ext>
            </a:extLst>
          </p:cNvPr>
          <p:cNvCxnSpPr/>
          <p:nvPr/>
        </p:nvCxnSpPr>
        <p:spPr>
          <a:xfrm flipV="1">
            <a:off x="8801100" y="3721100"/>
            <a:ext cx="1549400" cy="1778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33179A8A-25C2-7C6B-5655-DDB4BB79C6DE}"/>
              </a:ext>
            </a:extLst>
          </p:cNvPr>
          <p:cNvSpPr txBox="1"/>
          <p:nvPr/>
        </p:nvSpPr>
        <p:spPr>
          <a:xfrm>
            <a:off x="8940800" y="4089400"/>
            <a:ext cx="1714500" cy="153888"/>
          </a:xfrm>
          <a:prstGeom prst="rect">
            <a:avLst/>
          </a:prstGeom>
          <a:noFill/>
        </p:spPr>
        <p:txBody>
          <a:bodyPr vert="horz" wrap="square" lIns="0" tIns="0" rIns="0" bIns="0" rtlCol="0">
            <a:spAutoFit/>
          </a:bodyPr>
          <a:lstStyle/>
          <a:p>
            <a:r>
              <a:rPr lang="en-US" sz="1000" b="1">
                <a:solidFill>
                  <a:srgbClr val="B4EF74"/>
                </a:solidFill>
                <a:latin typeface="Aptos" panose="020B0004020202020204" pitchFamily="34" charset="0"/>
              </a:rPr>
              <a:t>VISUAL COMMAND</a:t>
            </a:r>
          </a:p>
        </p:txBody>
      </p:sp>
      <p:sp>
        <p:nvSpPr>
          <p:cNvPr id="86" name="TextBox 85">
            <a:extLst>
              <a:ext uri="{FF2B5EF4-FFF2-40B4-BE49-F238E27FC236}">
                <a16:creationId xmlns:a16="http://schemas.microsoft.com/office/drawing/2014/main" id="{A1B6230A-7A0B-1FE8-FE0C-18EA32036207}"/>
              </a:ext>
            </a:extLst>
          </p:cNvPr>
          <p:cNvSpPr txBox="1"/>
          <p:nvPr/>
        </p:nvSpPr>
        <p:spPr>
          <a:xfrm>
            <a:off x="6400800" y="4800600"/>
            <a:ext cx="5067300" cy="246221"/>
          </a:xfrm>
          <a:prstGeom prst="rect">
            <a:avLst/>
          </a:prstGeom>
          <a:noFill/>
        </p:spPr>
        <p:txBody>
          <a:bodyPr vert="horz" wrap="square" lIns="0" tIns="0" rIns="0" bIns="0" rtlCol="0">
            <a:spAutoFit/>
          </a:bodyPr>
          <a:lstStyle/>
          <a:p>
            <a:r>
              <a:rPr lang="en-US" sz="1600">
                <a:solidFill>
                  <a:srgbClr val="B4EF74"/>
                </a:solidFill>
                <a:latin typeface="Aptos" panose="020B0004020202020204" pitchFamily="34" charset="0"/>
              </a:rPr>
              <a:t>Change intent while facing the squad.</a:t>
            </a:r>
          </a:p>
        </p:txBody>
      </p:sp>
      <p:sp>
        <p:nvSpPr>
          <p:cNvPr id="87" name="TextBox 86">
            <a:extLst>
              <a:ext uri="{FF2B5EF4-FFF2-40B4-BE49-F238E27FC236}">
                <a16:creationId xmlns:a16="http://schemas.microsoft.com/office/drawing/2014/main" id="{D147D96E-6ED0-64A6-5347-4D7206F0CDF7}"/>
              </a:ext>
            </a:extLst>
          </p:cNvPr>
          <p:cNvSpPr txBox="1"/>
          <p:nvPr/>
        </p:nvSpPr>
        <p:spPr>
          <a:xfrm>
            <a:off x="508000" y="5359400"/>
            <a:ext cx="20701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INTENDED IMPACT</a:t>
            </a:r>
          </a:p>
        </p:txBody>
      </p:sp>
      <p:sp>
        <p:nvSpPr>
          <p:cNvPr id="88" name="TextBox 87">
            <a:extLst>
              <a:ext uri="{FF2B5EF4-FFF2-40B4-BE49-F238E27FC236}">
                <a16:creationId xmlns:a16="http://schemas.microsoft.com/office/drawing/2014/main" id="{2E5A3BBF-9004-A424-38FE-3C95313B2463}"/>
              </a:ext>
            </a:extLst>
          </p:cNvPr>
          <p:cNvSpPr txBox="1"/>
          <p:nvPr/>
        </p:nvSpPr>
        <p:spPr>
          <a:xfrm>
            <a:off x="2654300" y="5283200"/>
            <a:ext cx="9017000" cy="369332"/>
          </a:xfrm>
          <a:prstGeom prst="rect">
            <a:avLst/>
          </a:prstGeom>
          <a:noFill/>
        </p:spPr>
        <p:txBody>
          <a:bodyPr vert="horz" wrap="square" lIns="0" tIns="0" rIns="0" bIns="0" rtlCol="0">
            <a:spAutoFit/>
          </a:bodyPr>
          <a:lstStyle/>
          <a:p>
            <a:r>
              <a:rPr lang="en-US" sz="2400" b="1">
                <a:solidFill>
                  <a:srgbClr val="EFF1E9"/>
                </a:solidFill>
                <a:latin typeface="Aptos" panose="020B0004020202020204" pitchFamily="34" charset="0"/>
              </a:rPr>
              <a:t>Redirect drone support as squad needs change.</a:t>
            </a:r>
          </a:p>
        </p:txBody>
      </p:sp>
      <p:sp>
        <p:nvSpPr>
          <p:cNvPr id="89" name="TextBox 88">
            <a:extLst>
              <a:ext uri="{FF2B5EF4-FFF2-40B4-BE49-F238E27FC236}">
                <a16:creationId xmlns:a16="http://schemas.microsoft.com/office/drawing/2014/main" id="{A73B2B24-5824-238D-AB68-3F19DE8A25F9}"/>
              </a:ext>
            </a:extLst>
          </p:cNvPr>
          <p:cNvSpPr txBox="1"/>
          <p:nvPr/>
        </p:nvSpPr>
        <p:spPr>
          <a:xfrm>
            <a:off x="508000" y="5829300"/>
            <a:ext cx="112014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Discovery: team conversation with a Mach Industries representative (paraphrased; informal user input).</a:t>
            </a:r>
          </a:p>
        </p:txBody>
      </p:sp>
      <p:sp>
        <p:nvSpPr>
          <p:cNvPr id="90" name="TextBox 89">
            <a:extLst>
              <a:ext uri="{FF2B5EF4-FFF2-40B4-BE49-F238E27FC236}">
                <a16:creationId xmlns:a16="http://schemas.microsoft.com/office/drawing/2014/main" id="{E2291DFE-E0F8-E5C0-E625-C7F99A8405F2}"/>
              </a:ext>
            </a:extLst>
          </p:cNvPr>
          <p:cNvSpPr txBox="1"/>
          <p:nvPr/>
        </p:nvSpPr>
        <p:spPr>
          <a:xfrm>
            <a:off x="508000" y="6032500"/>
            <a:ext cx="112014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Today: connected simulation. Onboard vision is planned; GPS-independent navigation is a separate requirement.</a:t>
            </a:r>
          </a:p>
        </p:txBody>
      </p:sp>
    </p:spTree>
    <p:extLst>
      <p:ext uri="{BB962C8B-B14F-4D97-AF65-F5344CB8AC3E}">
        <p14:creationId xmlns:p14="http://schemas.microsoft.com/office/powerpoint/2010/main" val="4225706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D46489-9333-D0DC-D1F6-33E8E71C18F9}"/>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6A8C6A0E-F972-B1B6-C0B5-51CB7622EB2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02 / THE INSPIRATION</a:t>
            </a:r>
          </a:p>
        </p:txBody>
      </p:sp>
      <p:sp>
        <p:nvSpPr>
          <p:cNvPr id="4" name="TextBox 3">
            <a:extLst>
              <a:ext uri="{FF2B5EF4-FFF2-40B4-BE49-F238E27FC236}">
                <a16:creationId xmlns:a16="http://schemas.microsoft.com/office/drawing/2014/main" id="{BF405902-B4AA-41AB-7223-3EB1F12B0C18}"/>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Human intent, in more than one form.</a:t>
            </a:r>
          </a:p>
        </p:txBody>
      </p:sp>
      <p:cxnSp>
        <p:nvCxnSpPr>
          <p:cNvPr id="5" name="Straight Connector 4">
            <a:extLst>
              <a:ext uri="{FF2B5EF4-FFF2-40B4-BE49-F238E27FC236}">
                <a16:creationId xmlns:a16="http://schemas.microsoft.com/office/drawing/2014/main" id="{239B4811-1664-4E33-A831-A7DC67E5FB94}"/>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57F462B-7B7D-1DE6-C53B-671224D76989}"/>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DDA8AE77-5C27-61F8-F609-C5BC5044D782}"/>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03</a:t>
            </a:r>
          </a:p>
        </p:txBody>
      </p:sp>
      <p:sp>
        <p:nvSpPr>
          <p:cNvPr id="8" name="Rectangle 7">
            <a:extLst>
              <a:ext uri="{FF2B5EF4-FFF2-40B4-BE49-F238E27FC236}">
                <a16:creationId xmlns:a16="http://schemas.microsoft.com/office/drawing/2014/main" id="{9995B9E9-0068-CC01-21C5-890B025083CE}"/>
              </a:ext>
            </a:extLst>
          </p:cNvPr>
          <p:cNvSpPr/>
          <p:nvPr/>
        </p:nvSpPr>
        <p:spPr>
          <a:xfrm>
            <a:off x="508000" y="2476500"/>
            <a:ext cx="4991100" cy="26797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15BA02-42B6-463A-A26F-378908065B51}"/>
              </a:ext>
            </a:extLst>
          </p:cNvPr>
          <p:cNvSpPr txBox="1"/>
          <p:nvPr/>
        </p:nvSpPr>
        <p:spPr>
          <a:xfrm>
            <a:off x="736600" y="2743200"/>
            <a:ext cx="4533900" cy="184666"/>
          </a:xfrm>
          <a:prstGeom prst="rect">
            <a:avLst/>
          </a:prstGeom>
          <a:noFill/>
        </p:spPr>
        <p:txBody>
          <a:bodyPr vert="horz" wrap="square" lIns="0" tIns="0" rIns="0" bIns="0" rtlCol="0">
            <a:spAutoFit/>
          </a:bodyPr>
          <a:lstStyle/>
          <a:p>
            <a:r>
              <a:rPr lang="en-US" sz="1200" b="1">
                <a:solidFill>
                  <a:srgbClr val="9CA593"/>
                </a:solidFill>
                <a:latin typeface="Aptos" panose="020B0004020202020204" pitchFamily="34" charset="0"/>
              </a:rPr>
              <a:t>THE HACKATHON PROMPT</a:t>
            </a:r>
          </a:p>
        </p:txBody>
      </p:sp>
      <p:sp>
        <p:nvSpPr>
          <p:cNvPr id="10" name="TextBox 9">
            <a:extLst>
              <a:ext uri="{FF2B5EF4-FFF2-40B4-BE49-F238E27FC236}">
                <a16:creationId xmlns:a16="http://schemas.microsoft.com/office/drawing/2014/main" id="{7FA051FE-DF03-22EC-AAC8-ED87AE5D37E2}"/>
              </a:ext>
            </a:extLst>
          </p:cNvPr>
          <p:cNvSpPr txBox="1"/>
          <p:nvPr/>
        </p:nvSpPr>
        <p:spPr>
          <a:xfrm>
            <a:off x="736600" y="3276600"/>
            <a:ext cx="4457700" cy="892552"/>
          </a:xfrm>
          <a:prstGeom prst="rect">
            <a:avLst/>
          </a:prstGeom>
          <a:noFill/>
        </p:spPr>
        <p:txBody>
          <a:bodyPr vert="horz" wrap="square" lIns="0" tIns="0" rIns="0" bIns="0" rtlCol="0">
            <a:spAutoFit/>
          </a:bodyPr>
          <a:lstStyle/>
          <a:p>
            <a:r>
              <a:rPr lang="en-US" sz="2900" b="1">
                <a:solidFill>
                  <a:srgbClr val="EFF1E9"/>
                </a:solidFill>
                <a:latin typeface="Aptos" panose="020B0004020202020204" pitchFamily="34" charset="0"/>
              </a:rPr>
              <a:t>“Flight paths in plain English”</a:t>
            </a:r>
          </a:p>
        </p:txBody>
      </p:sp>
      <p:sp>
        <p:nvSpPr>
          <p:cNvPr id="11" name="TextBox 10">
            <a:extLst>
              <a:ext uri="{FF2B5EF4-FFF2-40B4-BE49-F238E27FC236}">
                <a16:creationId xmlns:a16="http://schemas.microsoft.com/office/drawing/2014/main" id="{A42654CA-B402-EA46-B57F-3A61592325E5}"/>
              </a:ext>
            </a:extLst>
          </p:cNvPr>
          <p:cNvSpPr txBox="1"/>
          <p:nvPr/>
        </p:nvSpPr>
        <p:spPr>
          <a:xfrm>
            <a:off x="736600" y="4445000"/>
            <a:ext cx="4457700" cy="584775"/>
          </a:xfrm>
          <a:prstGeom prst="rect">
            <a:avLst/>
          </a:prstGeom>
          <a:noFill/>
        </p:spPr>
        <p:txBody>
          <a:bodyPr vert="horz" wrap="square" lIns="0" tIns="0" rIns="0" bIns="0" rtlCol="0">
            <a:spAutoFit/>
          </a:bodyPr>
          <a:lstStyle/>
          <a:p>
            <a:r>
              <a:rPr lang="en-US" sz="1900">
                <a:solidFill>
                  <a:srgbClr val="9CA593"/>
                </a:solidFill>
                <a:latin typeface="Aptos" panose="020B0004020202020204" pitchFamily="34" charset="0"/>
              </a:rPr>
              <a:t>Plan and adjust a flight path using natural language.</a:t>
            </a:r>
          </a:p>
        </p:txBody>
      </p:sp>
      <p:cxnSp>
        <p:nvCxnSpPr>
          <p:cNvPr id="12" name="Straight Connector 11">
            <a:extLst>
              <a:ext uri="{FF2B5EF4-FFF2-40B4-BE49-F238E27FC236}">
                <a16:creationId xmlns:a16="http://schemas.microsoft.com/office/drawing/2014/main" id="{091D407B-55AA-AF6A-C2F6-14329954E089}"/>
              </a:ext>
            </a:extLst>
          </p:cNvPr>
          <p:cNvCxnSpPr/>
          <p:nvPr/>
        </p:nvCxnSpPr>
        <p:spPr>
          <a:xfrm>
            <a:off x="5689600" y="3771900"/>
            <a:ext cx="5588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6451F053-9DB4-9453-BFEE-748BEFDEC69D}"/>
              </a:ext>
            </a:extLst>
          </p:cNvPr>
          <p:cNvSpPr/>
          <p:nvPr/>
        </p:nvSpPr>
        <p:spPr>
          <a:xfrm>
            <a:off x="6438900" y="2476500"/>
            <a:ext cx="5245100" cy="2679700"/>
          </a:xfrm>
          <a:prstGeom prst="rect">
            <a:avLst/>
          </a:prstGeom>
          <a:solidFill>
            <a:srgbClr val="1820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13E33F8-607A-F5A3-C30E-339EE1BD05FF}"/>
              </a:ext>
            </a:extLst>
          </p:cNvPr>
          <p:cNvSpPr txBox="1"/>
          <p:nvPr/>
        </p:nvSpPr>
        <p:spPr>
          <a:xfrm>
            <a:off x="6667500" y="2743200"/>
            <a:ext cx="4787900" cy="184666"/>
          </a:xfrm>
          <a:prstGeom prst="rect">
            <a:avLst/>
          </a:prstGeom>
          <a:noFill/>
        </p:spPr>
        <p:txBody>
          <a:bodyPr vert="horz" wrap="square" lIns="0" tIns="0" rIns="0" bIns="0" rtlCol="0">
            <a:spAutoFit/>
          </a:bodyPr>
          <a:lstStyle/>
          <a:p>
            <a:r>
              <a:rPr lang="en-US" sz="1200" b="1">
                <a:solidFill>
                  <a:srgbClr val="B4EF74"/>
                </a:solidFill>
                <a:latin typeface="Aptos" panose="020B0004020202020204" pitchFamily="34" charset="0"/>
              </a:rPr>
              <a:t>OUR EXTENSION</a:t>
            </a:r>
          </a:p>
        </p:txBody>
      </p:sp>
      <p:sp>
        <p:nvSpPr>
          <p:cNvPr id="15" name="TextBox 14">
            <a:extLst>
              <a:ext uri="{FF2B5EF4-FFF2-40B4-BE49-F238E27FC236}">
                <a16:creationId xmlns:a16="http://schemas.microsoft.com/office/drawing/2014/main" id="{1F2A14FA-694D-74EC-3983-758E7EDCEFCE}"/>
              </a:ext>
            </a:extLst>
          </p:cNvPr>
          <p:cNvSpPr txBox="1"/>
          <p:nvPr/>
        </p:nvSpPr>
        <p:spPr>
          <a:xfrm>
            <a:off x="6667500" y="3276600"/>
            <a:ext cx="4686300" cy="892552"/>
          </a:xfrm>
          <a:prstGeom prst="rect">
            <a:avLst/>
          </a:prstGeom>
          <a:noFill/>
        </p:spPr>
        <p:txBody>
          <a:bodyPr vert="horz" wrap="square" lIns="0" tIns="0" rIns="0" bIns="0" rtlCol="0">
            <a:spAutoFit/>
          </a:bodyPr>
          <a:lstStyle/>
          <a:p>
            <a:r>
              <a:rPr lang="en-US" sz="2900" b="1">
                <a:solidFill>
                  <a:srgbClr val="EFF1E9"/>
                </a:solidFill>
                <a:latin typeface="Aptos" panose="020B0004020202020204" pitchFamily="34" charset="0"/>
              </a:rPr>
              <a:t>Why not communicate with hand gestures, too?</a:t>
            </a:r>
          </a:p>
        </p:txBody>
      </p:sp>
      <p:sp>
        <p:nvSpPr>
          <p:cNvPr id="16" name="TextBox 15">
            <a:extLst>
              <a:ext uri="{FF2B5EF4-FFF2-40B4-BE49-F238E27FC236}">
                <a16:creationId xmlns:a16="http://schemas.microsoft.com/office/drawing/2014/main" id="{9B3FF3D1-16BD-7E6C-2B0F-B32C28BA6418}"/>
              </a:ext>
            </a:extLst>
          </p:cNvPr>
          <p:cNvSpPr txBox="1"/>
          <p:nvPr/>
        </p:nvSpPr>
        <p:spPr>
          <a:xfrm>
            <a:off x="6667500" y="4445000"/>
            <a:ext cx="4699000" cy="584775"/>
          </a:xfrm>
          <a:prstGeom prst="rect">
            <a:avLst/>
          </a:prstGeom>
          <a:noFill/>
        </p:spPr>
        <p:txBody>
          <a:bodyPr vert="horz" wrap="square" lIns="0" tIns="0" rIns="0" bIns="0" rtlCol="0">
            <a:spAutoFit/>
          </a:bodyPr>
          <a:lstStyle/>
          <a:p>
            <a:r>
              <a:rPr lang="en-US" sz="1900">
                <a:solidFill>
                  <a:srgbClr val="B4EF74"/>
                </a:solidFill>
                <a:latin typeface="Aptos" panose="020B0004020202020204" pitchFamily="34" charset="0"/>
              </a:rPr>
              <a:t>Another human way to express intent and change drone behavior.</a:t>
            </a:r>
          </a:p>
        </p:txBody>
      </p:sp>
      <p:sp>
        <p:nvSpPr>
          <p:cNvPr id="17" name="TextBox 16">
            <a:extLst>
              <a:ext uri="{FF2B5EF4-FFF2-40B4-BE49-F238E27FC236}">
                <a16:creationId xmlns:a16="http://schemas.microsoft.com/office/drawing/2014/main" id="{2B2A9AC3-FD76-082B-5BAE-5179C472048E}"/>
              </a:ext>
            </a:extLst>
          </p:cNvPr>
          <p:cNvSpPr txBox="1"/>
          <p:nvPr/>
        </p:nvSpPr>
        <p:spPr>
          <a:xfrm>
            <a:off x="508000" y="5511800"/>
            <a:ext cx="11150600" cy="646331"/>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Natural-language planning inspired us. Gesture interaction became our working demonstration.</a:t>
            </a:r>
          </a:p>
        </p:txBody>
      </p:sp>
      <p:sp>
        <p:nvSpPr>
          <p:cNvPr id="18" name="TextBox 17">
            <a:extLst>
              <a:ext uri="{FF2B5EF4-FFF2-40B4-BE49-F238E27FC236}">
                <a16:creationId xmlns:a16="http://schemas.microsoft.com/office/drawing/2014/main" id="{8461AA39-04A8-AD4F-0C53-429F026CA8D5}"/>
              </a:ext>
            </a:extLst>
          </p:cNvPr>
          <p:cNvSpPr txBox="1"/>
          <p:nvPr/>
        </p:nvSpPr>
        <p:spPr>
          <a:xfrm>
            <a:off x="508000" y="6083300"/>
            <a:ext cx="111887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Source: DNHacks Defense inspiration prompt, “Flight paths in plain English” (provided by team).</a:t>
            </a:r>
          </a:p>
        </p:txBody>
      </p:sp>
    </p:spTree>
    <p:extLst>
      <p:ext uri="{BB962C8B-B14F-4D97-AF65-F5344CB8AC3E}">
        <p14:creationId xmlns:p14="http://schemas.microsoft.com/office/powerpoint/2010/main" val="3233859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59BF72-1393-31E2-7E91-02EB7A35C44C}"/>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6E9B0CB8-BF66-6EA1-9585-31D5D63934B8}"/>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03 / LIVE DEMO · 45 SECONDS</a:t>
            </a:r>
          </a:p>
        </p:txBody>
      </p:sp>
      <p:sp>
        <p:nvSpPr>
          <p:cNvPr id="4" name="TextBox 3">
            <a:extLst>
              <a:ext uri="{FF2B5EF4-FFF2-40B4-BE49-F238E27FC236}">
                <a16:creationId xmlns:a16="http://schemas.microsoft.com/office/drawing/2014/main" id="{FBB90264-E161-54D1-F613-5FB636426D5B}"/>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Four commands. One continuous demo.</a:t>
            </a:r>
          </a:p>
        </p:txBody>
      </p:sp>
      <p:cxnSp>
        <p:nvCxnSpPr>
          <p:cNvPr id="5" name="Straight Connector 4">
            <a:extLst>
              <a:ext uri="{FF2B5EF4-FFF2-40B4-BE49-F238E27FC236}">
                <a16:creationId xmlns:a16="http://schemas.microsoft.com/office/drawing/2014/main" id="{C1F40A80-355D-FD59-7D60-7EC6AC65E139}"/>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577C0F3-1769-C016-3790-AC438E261470}"/>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9065710E-1967-2619-5B60-D3C241781741}"/>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04</a:t>
            </a:r>
          </a:p>
        </p:txBody>
      </p:sp>
      <p:sp>
        <p:nvSpPr>
          <p:cNvPr id="8" name="TextBox 7">
            <a:extLst>
              <a:ext uri="{FF2B5EF4-FFF2-40B4-BE49-F238E27FC236}">
                <a16:creationId xmlns:a16="http://schemas.microsoft.com/office/drawing/2014/main" id="{0274E5F9-85D5-1F15-662C-AAE30B9B0BC8}"/>
              </a:ext>
            </a:extLst>
          </p:cNvPr>
          <p:cNvSpPr txBox="1"/>
          <p:nvPr/>
        </p:nvSpPr>
        <p:spPr>
          <a:xfrm>
            <a:off x="508000" y="2374900"/>
            <a:ext cx="635000" cy="184666"/>
          </a:xfrm>
          <a:prstGeom prst="rect">
            <a:avLst/>
          </a:prstGeom>
          <a:noFill/>
        </p:spPr>
        <p:txBody>
          <a:bodyPr vert="horz" wrap="square" lIns="0" tIns="0" rIns="0" bIns="0" rtlCol="0">
            <a:spAutoFit/>
          </a:bodyPr>
          <a:lstStyle/>
          <a:p>
            <a:r>
              <a:rPr lang="en-US" sz="1200" b="1">
                <a:solidFill>
                  <a:srgbClr val="B4EF74"/>
                </a:solidFill>
                <a:latin typeface="Aptos" panose="020B0004020202020204" pitchFamily="34" charset="0"/>
              </a:rPr>
              <a:t>01</a:t>
            </a:r>
          </a:p>
        </p:txBody>
      </p:sp>
      <p:sp>
        <p:nvSpPr>
          <p:cNvPr id="9" name="TextBox 8">
            <a:extLst>
              <a:ext uri="{FF2B5EF4-FFF2-40B4-BE49-F238E27FC236}">
                <a16:creationId xmlns:a16="http://schemas.microsoft.com/office/drawing/2014/main" id="{DC3E51F5-D758-81E5-E146-7A9F1F5F7B9E}"/>
              </a:ext>
            </a:extLst>
          </p:cNvPr>
          <p:cNvSpPr txBox="1"/>
          <p:nvPr/>
        </p:nvSpPr>
        <p:spPr>
          <a:xfrm>
            <a:off x="508000" y="2755900"/>
            <a:ext cx="2603500" cy="415498"/>
          </a:xfrm>
          <a:prstGeom prst="rect">
            <a:avLst/>
          </a:prstGeom>
          <a:noFill/>
        </p:spPr>
        <p:txBody>
          <a:bodyPr vert="horz" wrap="square" lIns="0" tIns="0" rIns="0" bIns="0" rtlCol="0">
            <a:spAutoFit/>
          </a:bodyPr>
          <a:lstStyle/>
          <a:p>
            <a:r>
              <a:rPr lang="en-US" sz="2700" b="1">
                <a:solidFill>
                  <a:srgbClr val="EFF1E9"/>
                </a:solidFill>
                <a:latin typeface="Aptos" panose="020B0004020202020204" pitchFamily="34" charset="0"/>
              </a:rPr>
              <a:t>Orbit</a:t>
            </a:r>
          </a:p>
        </p:txBody>
      </p:sp>
      <p:sp>
        <p:nvSpPr>
          <p:cNvPr id="10" name="TextBox 9">
            <a:extLst>
              <a:ext uri="{FF2B5EF4-FFF2-40B4-BE49-F238E27FC236}">
                <a16:creationId xmlns:a16="http://schemas.microsoft.com/office/drawing/2014/main" id="{2E1FADAE-A7F3-09A0-4C51-383DBF83621A}"/>
              </a:ext>
            </a:extLst>
          </p:cNvPr>
          <p:cNvSpPr txBox="1"/>
          <p:nvPr/>
        </p:nvSpPr>
        <p:spPr>
          <a:xfrm>
            <a:off x="508000" y="4953000"/>
            <a:ext cx="2603500" cy="261610"/>
          </a:xfrm>
          <a:prstGeom prst="rect">
            <a:avLst/>
          </a:prstGeom>
          <a:noFill/>
        </p:spPr>
        <p:txBody>
          <a:bodyPr vert="horz" wrap="square" lIns="0" tIns="0" rIns="0" bIns="0" rtlCol="0">
            <a:spAutoFit/>
          </a:bodyPr>
          <a:lstStyle/>
          <a:p>
            <a:r>
              <a:rPr lang="en-US" sz="1700">
                <a:solidFill>
                  <a:srgbClr val="9CA593"/>
                </a:solidFill>
                <a:latin typeface="Aptos" panose="020B0004020202020204" pitchFamily="34" charset="0"/>
              </a:rPr>
              <a:t>Circle the operator.</a:t>
            </a:r>
          </a:p>
        </p:txBody>
      </p:sp>
      <p:cxnSp>
        <p:nvCxnSpPr>
          <p:cNvPr id="11" name="Straight Connector 10">
            <a:extLst>
              <a:ext uri="{FF2B5EF4-FFF2-40B4-BE49-F238E27FC236}">
                <a16:creationId xmlns:a16="http://schemas.microsoft.com/office/drawing/2014/main" id="{A45633B2-36F5-378B-5729-D45F9293FBAF}"/>
              </a:ext>
            </a:extLst>
          </p:cNvPr>
          <p:cNvCxnSpPr/>
          <p:nvPr/>
        </p:nvCxnSpPr>
        <p:spPr>
          <a:xfrm>
            <a:off x="3187700" y="2540000"/>
            <a:ext cx="0" cy="27051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7918975-5C1E-33B7-FA7A-22393B6D8614}"/>
              </a:ext>
            </a:extLst>
          </p:cNvPr>
          <p:cNvSpPr txBox="1"/>
          <p:nvPr/>
        </p:nvSpPr>
        <p:spPr>
          <a:xfrm>
            <a:off x="3352800" y="2374900"/>
            <a:ext cx="635000" cy="184666"/>
          </a:xfrm>
          <a:prstGeom prst="rect">
            <a:avLst/>
          </a:prstGeom>
          <a:noFill/>
        </p:spPr>
        <p:txBody>
          <a:bodyPr vert="horz" wrap="square" lIns="0" tIns="0" rIns="0" bIns="0" rtlCol="0">
            <a:spAutoFit/>
          </a:bodyPr>
          <a:lstStyle/>
          <a:p>
            <a:r>
              <a:rPr lang="en-US" sz="1200" b="1">
                <a:solidFill>
                  <a:srgbClr val="B4EF74"/>
                </a:solidFill>
                <a:latin typeface="Aptos" panose="020B0004020202020204" pitchFamily="34" charset="0"/>
              </a:rPr>
              <a:t>02</a:t>
            </a:r>
          </a:p>
        </p:txBody>
      </p:sp>
      <p:sp>
        <p:nvSpPr>
          <p:cNvPr id="13" name="TextBox 12">
            <a:extLst>
              <a:ext uri="{FF2B5EF4-FFF2-40B4-BE49-F238E27FC236}">
                <a16:creationId xmlns:a16="http://schemas.microsoft.com/office/drawing/2014/main" id="{6935F1CE-EA1E-59DA-C76B-106A25D540A7}"/>
              </a:ext>
            </a:extLst>
          </p:cNvPr>
          <p:cNvSpPr txBox="1"/>
          <p:nvPr/>
        </p:nvSpPr>
        <p:spPr>
          <a:xfrm>
            <a:off x="3352800" y="2755900"/>
            <a:ext cx="2603500" cy="415498"/>
          </a:xfrm>
          <a:prstGeom prst="rect">
            <a:avLst/>
          </a:prstGeom>
          <a:noFill/>
        </p:spPr>
        <p:txBody>
          <a:bodyPr vert="horz" wrap="square" lIns="0" tIns="0" rIns="0" bIns="0" rtlCol="0">
            <a:spAutoFit/>
          </a:bodyPr>
          <a:lstStyle/>
          <a:p>
            <a:r>
              <a:rPr lang="en-US" sz="2700" b="1">
                <a:solidFill>
                  <a:srgbClr val="EFF1E9"/>
                </a:solidFill>
                <a:latin typeface="Aptos" panose="020B0004020202020204" pitchFamily="34" charset="0"/>
              </a:rPr>
              <a:t>Move</a:t>
            </a:r>
          </a:p>
        </p:txBody>
      </p:sp>
      <p:sp>
        <p:nvSpPr>
          <p:cNvPr id="14" name="TextBox 13">
            <a:extLst>
              <a:ext uri="{FF2B5EF4-FFF2-40B4-BE49-F238E27FC236}">
                <a16:creationId xmlns:a16="http://schemas.microsoft.com/office/drawing/2014/main" id="{7D2F36B0-011D-D36C-C099-1B782B995C08}"/>
              </a:ext>
            </a:extLst>
          </p:cNvPr>
          <p:cNvSpPr txBox="1"/>
          <p:nvPr/>
        </p:nvSpPr>
        <p:spPr>
          <a:xfrm>
            <a:off x="3352800" y="4953000"/>
            <a:ext cx="2603500" cy="261610"/>
          </a:xfrm>
          <a:prstGeom prst="rect">
            <a:avLst/>
          </a:prstGeom>
          <a:noFill/>
        </p:spPr>
        <p:txBody>
          <a:bodyPr vert="horz" wrap="square" lIns="0" tIns="0" rIns="0" bIns="0" rtlCol="0">
            <a:spAutoFit/>
          </a:bodyPr>
          <a:lstStyle/>
          <a:p>
            <a:r>
              <a:rPr lang="en-US" sz="1700">
                <a:solidFill>
                  <a:srgbClr val="9CA593"/>
                </a:solidFill>
                <a:latin typeface="Aptos" panose="020B0004020202020204" pitchFamily="34" charset="0"/>
              </a:rPr>
              <a:t>Follow directional intent.</a:t>
            </a:r>
          </a:p>
        </p:txBody>
      </p:sp>
      <p:cxnSp>
        <p:nvCxnSpPr>
          <p:cNvPr id="15" name="Straight Connector 14">
            <a:extLst>
              <a:ext uri="{FF2B5EF4-FFF2-40B4-BE49-F238E27FC236}">
                <a16:creationId xmlns:a16="http://schemas.microsoft.com/office/drawing/2014/main" id="{3F130420-EDE6-1AF7-3AC1-6C2405B6CDD3}"/>
              </a:ext>
            </a:extLst>
          </p:cNvPr>
          <p:cNvCxnSpPr/>
          <p:nvPr/>
        </p:nvCxnSpPr>
        <p:spPr>
          <a:xfrm>
            <a:off x="6032500" y="2540000"/>
            <a:ext cx="0" cy="27051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92F1DFC-7FA0-4070-05C7-6C73FFF8A6AC}"/>
              </a:ext>
            </a:extLst>
          </p:cNvPr>
          <p:cNvSpPr txBox="1"/>
          <p:nvPr/>
        </p:nvSpPr>
        <p:spPr>
          <a:xfrm>
            <a:off x="6197600" y="2374900"/>
            <a:ext cx="635000" cy="184666"/>
          </a:xfrm>
          <a:prstGeom prst="rect">
            <a:avLst/>
          </a:prstGeom>
          <a:noFill/>
        </p:spPr>
        <p:txBody>
          <a:bodyPr vert="horz" wrap="square" lIns="0" tIns="0" rIns="0" bIns="0" rtlCol="0">
            <a:spAutoFit/>
          </a:bodyPr>
          <a:lstStyle/>
          <a:p>
            <a:r>
              <a:rPr lang="en-US" sz="1200" b="1">
                <a:solidFill>
                  <a:srgbClr val="B4EF74"/>
                </a:solidFill>
                <a:latin typeface="Aptos" panose="020B0004020202020204" pitchFamily="34" charset="0"/>
              </a:rPr>
              <a:t>03</a:t>
            </a:r>
          </a:p>
        </p:txBody>
      </p:sp>
      <p:sp>
        <p:nvSpPr>
          <p:cNvPr id="17" name="TextBox 16">
            <a:extLst>
              <a:ext uri="{FF2B5EF4-FFF2-40B4-BE49-F238E27FC236}">
                <a16:creationId xmlns:a16="http://schemas.microsoft.com/office/drawing/2014/main" id="{E194CDA1-D859-23FF-5B9B-EE1909FC7938}"/>
              </a:ext>
            </a:extLst>
          </p:cNvPr>
          <p:cNvSpPr txBox="1"/>
          <p:nvPr/>
        </p:nvSpPr>
        <p:spPr>
          <a:xfrm>
            <a:off x="6197600" y="2755900"/>
            <a:ext cx="2603500" cy="415498"/>
          </a:xfrm>
          <a:prstGeom prst="rect">
            <a:avLst/>
          </a:prstGeom>
          <a:noFill/>
        </p:spPr>
        <p:txBody>
          <a:bodyPr vert="horz" wrap="square" lIns="0" tIns="0" rIns="0" bIns="0" rtlCol="0">
            <a:spAutoFit/>
          </a:bodyPr>
          <a:lstStyle/>
          <a:p>
            <a:r>
              <a:rPr lang="en-US" sz="2700" b="1">
                <a:solidFill>
                  <a:srgbClr val="EFF1E9"/>
                </a:solidFill>
                <a:latin typeface="Aptos" panose="020B0004020202020204" pitchFamily="34" charset="0"/>
              </a:rPr>
              <a:t>Return</a:t>
            </a:r>
          </a:p>
        </p:txBody>
      </p:sp>
      <p:sp>
        <p:nvSpPr>
          <p:cNvPr id="18" name="TextBox 17">
            <a:extLst>
              <a:ext uri="{FF2B5EF4-FFF2-40B4-BE49-F238E27FC236}">
                <a16:creationId xmlns:a16="http://schemas.microsoft.com/office/drawing/2014/main" id="{F160AB25-7FAA-3BB3-FF0A-ECEF5848B1EB}"/>
              </a:ext>
            </a:extLst>
          </p:cNvPr>
          <p:cNvSpPr txBox="1"/>
          <p:nvPr/>
        </p:nvSpPr>
        <p:spPr>
          <a:xfrm>
            <a:off x="6197600" y="4953000"/>
            <a:ext cx="2603500" cy="261610"/>
          </a:xfrm>
          <a:prstGeom prst="rect">
            <a:avLst/>
          </a:prstGeom>
          <a:noFill/>
        </p:spPr>
        <p:txBody>
          <a:bodyPr vert="horz" wrap="square" lIns="0" tIns="0" rIns="0" bIns="0" rtlCol="0">
            <a:spAutoFit/>
          </a:bodyPr>
          <a:lstStyle/>
          <a:p>
            <a:r>
              <a:rPr lang="en-US" sz="1700">
                <a:solidFill>
                  <a:srgbClr val="9CA593"/>
                </a:solidFill>
                <a:latin typeface="Aptos" panose="020B0004020202020204" pitchFamily="34" charset="0"/>
              </a:rPr>
              <a:t>Overhead to the sender.</a:t>
            </a:r>
          </a:p>
        </p:txBody>
      </p:sp>
      <p:cxnSp>
        <p:nvCxnSpPr>
          <p:cNvPr id="19" name="Straight Connector 18">
            <a:extLst>
              <a:ext uri="{FF2B5EF4-FFF2-40B4-BE49-F238E27FC236}">
                <a16:creationId xmlns:a16="http://schemas.microsoft.com/office/drawing/2014/main" id="{5AE74C8D-D467-8C71-FCF7-0756E9C1EB75}"/>
              </a:ext>
            </a:extLst>
          </p:cNvPr>
          <p:cNvCxnSpPr/>
          <p:nvPr/>
        </p:nvCxnSpPr>
        <p:spPr>
          <a:xfrm>
            <a:off x="8877300" y="2540000"/>
            <a:ext cx="0" cy="27051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25482BB-6BDB-53FC-78C8-E88F2F1E1EF4}"/>
              </a:ext>
            </a:extLst>
          </p:cNvPr>
          <p:cNvSpPr txBox="1"/>
          <p:nvPr/>
        </p:nvSpPr>
        <p:spPr>
          <a:xfrm>
            <a:off x="9042400" y="2374900"/>
            <a:ext cx="635000" cy="184666"/>
          </a:xfrm>
          <a:prstGeom prst="rect">
            <a:avLst/>
          </a:prstGeom>
          <a:noFill/>
        </p:spPr>
        <p:txBody>
          <a:bodyPr vert="horz" wrap="square" lIns="0" tIns="0" rIns="0" bIns="0" rtlCol="0">
            <a:spAutoFit/>
          </a:bodyPr>
          <a:lstStyle/>
          <a:p>
            <a:r>
              <a:rPr lang="en-US" sz="1200" b="1">
                <a:solidFill>
                  <a:srgbClr val="B4EF74"/>
                </a:solidFill>
                <a:latin typeface="Aptos" panose="020B0004020202020204" pitchFamily="34" charset="0"/>
              </a:rPr>
              <a:t>04</a:t>
            </a:r>
          </a:p>
        </p:txBody>
      </p:sp>
      <p:sp>
        <p:nvSpPr>
          <p:cNvPr id="21" name="TextBox 20">
            <a:extLst>
              <a:ext uri="{FF2B5EF4-FFF2-40B4-BE49-F238E27FC236}">
                <a16:creationId xmlns:a16="http://schemas.microsoft.com/office/drawing/2014/main" id="{42D1DF8D-EB64-5AAB-CBDC-AD135176D12F}"/>
              </a:ext>
            </a:extLst>
          </p:cNvPr>
          <p:cNvSpPr txBox="1"/>
          <p:nvPr/>
        </p:nvSpPr>
        <p:spPr>
          <a:xfrm>
            <a:off x="9042400" y="2755900"/>
            <a:ext cx="2603500" cy="415498"/>
          </a:xfrm>
          <a:prstGeom prst="rect">
            <a:avLst/>
          </a:prstGeom>
          <a:noFill/>
        </p:spPr>
        <p:txBody>
          <a:bodyPr vert="horz" wrap="square" lIns="0" tIns="0" rIns="0" bIns="0" rtlCol="0">
            <a:spAutoFit/>
          </a:bodyPr>
          <a:lstStyle/>
          <a:p>
            <a:r>
              <a:rPr lang="en-US" sz="2700" b="1">
                <a:solidFill>
                  <a:srgbClr val="EFF1E9"/>
                </a:solidFill>
                <a:latin typeface="Aptos" panose="020B0004020202020204" pitchFamily="34" charset="0"/>
              </a:rPr>
              <a:t>Stop</a:t>
            </a:r>
          </a:p>
        </p:txBody>
      </p:sp>
      <p:sp>
        <p:nvSpPr>
          <p:cNvPr id="22" name="TextBox 21">
            <a:extLst>
              <a:ext uri="{FF2B5EF4-FFF2-40B4-BE49-F238E27FC236}">
                <a16:creationId xmlns:a16="http://schemas.microsoft.com/office/drawing/2014/main" id="{2D7C3959-B550-9D13-8189-0B6ECDC7A87E}"/>
              </a:ext>
            </a:extLst>
          </p:cNvPr>
          <p:cNvSpPr txBox="1"/>
          <p:nvPr/>
        </p:nvSpPr>
        <p:spPr>
          <a:xfrm>
            <a:off x="9042400" y="4953000"/>
            <a:ext cx="2603500" cy="523220"/>
          </a:xfrm>
          <a:prstGeom prst="rect">
            <a:avLst/>
          </a:prstGeom>
          <a:noFill/>
        </p:spPr>
        <p:txBody>
          <a:bodyPr vert="horz" wrap="square" lIns="0" tIns="0" rIns="0" bIns="0" rtlCol="0">
            <a:spAutoFit/>
          </a:bodyPr>
          <a:lstStyle/>
          <a:p>
            <a:r>
              <a:rPr lang="en-US" sz="1700">
                <a:solidFill>
                  <a:srgbClr val="9CA593"/>
                </a:solidFill>
                <a:latin typeface="Aptos" panose="020B0004020202020204" pitchFamily="34" charset="0"/>
              </a:rPr>
              <a:t>Open-palm emergency stop.</a:t>
            </a:r>
          </a:p>
        </p:txBody>
      </p:sp>
      <p:sp>
        <p:nvSpPr>
          <p:cNvPr id="23" name="Oval 22">
            <a:extLst>
              <a:ext uri="{FF2B5EF4-FFF2-40B4-BE49-F238E27FC236}">
                <a16:creationId xmlns:a16="http://schemas.microsoft.com/office/drawing/2014/main" id="{601F1FA9-73AA-0649-561E-0D0C0F10432E}"/>
              </a:ext>
            </a:extLst>
          </p:cNvPr>
          <p:cNvSpPr/>
          <p:nvPr/>
        </p:nvSpPr>
        <p:spPr>
          <a:xfrm>
            <a:off x="1054100" y="3479800"/>
            <a:ext cx="1371600" cy="1371600"/>
          </a:xfrm>
          <a:prstGeom prst="ellipse">
            <a:avLst/>
          </a:prstGeom>
          <a:noFill/>
          <a:ln w="25400" cap="flat" cmpd="sng" algn="ctr">
            <a:solidFill>
              <a:srgbClr val="B4EF7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E6302FC-CC39-3A9D-3A55-6C689A8B6CF1}"/>
              </a:ext>
            </a:extLst>
          </p:cNvPr>
          <p:cNvSpPr/>
          <p:nvPr/>
        </p:nvSpPr>
        <p:spPr>
          <a:xfrm>
            <a:off x="1675638" y="3883152"/>
            <a:ext cx="103124" cy="103124"/>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CF142CC0-68CE-F4A7-4DDD-2C88F0EF2F40}"/>
              </a:ext>
            </a:extLst>
          </p:cNvPr>
          <p:cNvSpPr/>
          <p:nvPr/>
        </p:nvSpPr>
        <p:spPr>
          <a:xfrm>
            <a:off x="1653540" y="4015740"/>
            <a:ext cx="147320" cy="235712"/>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7500928-6EF7-8C19-9506-5EA6B2FBF76A}"/>
              </a:ext>
            </a:extLst>
          </p:cNvPr>
          <p:cNvCxnSpPr/>
          <p:nvPr/>
        </p:nvCxnSpPr>
        <p:spPr>
          <a:xfrm flipH="1">
            <a:off x="1653540" y="4229354"/>
            <a:ext cx="22098" cy="154686"/>
          </a:xfrm>
          <a:prstGeom prst="line">
            <a:avLst/>
          </a:prstGeom>
          <a:ln w="368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7832CC9-0C8A-B7DF-3AB0-62E66A1D452A}"/>
              </a:ext>
            </a:extLst>
          </p:cNvPr>
          <p:cNvCxnSpPr/>
          <p:nvPr/>
        </p:nvCxnSpPr>
        <p:spPr>
          <a:xfrm>
            <a:off x="1778762" y="4229354"/>
            <a:ext cx="22098" cy="154686"/>
          </a:xfrm>
          <a:prstGeom prst="line">
            <a:avLst/>
          </a:prstGeom>
          <a:ln w="368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37E223F-424B-3624-2FE1-842D27D8C0B2}"/>
              </a:ext>
            </a:extLst>
          </p:cNvPr>
          <p:cNvCxnSpPr/>
          <p:nvPr/>
        </p:nvCxnSpPr>
        <p:spPr>
          <a:xfrm flipH="1">
            <a:off x="1565148" y="4067302"/>
            <a:ext cx="110490" cy="88392"/>
          </a:xfrm>
          <a:prstGeom prst="line">
            <a:avLst/>
          </a:prstGeom>
          <a:ln w="368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D71CE96-DE76-908E-C0E1-80176C9232C5}"/>
              </a:ext>
            </a:extLst>
          </p:cNvPr>
          <p:cNvCxnSpPr/>
          <p:nvPr/>
        </p:nvCxnSpPr>
        <p:spPr>
          <a:xfrm flipV="1">
            <a:off x="1778762" y="3927348"/>
            <a:ext cx="117856" cy="139954"/>
          </a:xfrm>
          <a:prstGeom prst="line">
            <a:avLst/>
          </a:prstGeom>
          <a:ln w="3683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DEDC4DF-5D97-8670-AECD-C275244F4EAC}"/>
              </a:ext>
            </a:extLst>
          </p:cNvPr>
          <p:cNvCxnSpPr/>
          <p:nvPr/>
        </p:nvCxnSpPr>
        <p:spPr>
          <a:xfrm flipH="1" flipV="1">
            <a:off x="2246376" y="3685286"/>
            <a:ext cx="128524" cy="99314"/>
          </a:xfrm>
          <a:prstGeom prst="line">
            <a:avLst/>
          </a:prstGeom>
          <a:ln w="29210">
            <a:solidFill>
              <a:srgbClr val="EFF1E9"/>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74245AA0-5C8B-8F87-7900-07F280BA7D1E}"/>
              </a:ext>
            </a:extLst>
          </p:cNvPr>
          <p:cNvSpPr/>
          <p:nvPr/>
        </p:nvSpPr>
        <p:spPr>
          <a:xfrm>
            <a:off x="2176272" y="3615182"/>
            <a:ext cx="140208" cy="140208"/>
          </a:xfrm>
          <a:prstGeom prst="ellipse">
            <a:avLst/>
          </a:prstGeom>
          <a:noFill/>
          <a:ln w="1168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3B70E100-F4C0-1378-72F7-F74764A3F2DD}"/>
              </a:ext>
            </a:extLst>
          </p:cNvPr>
          <p:cNvCxnSpPr/>
          <p:nvPr/>
        </p:nvCxnSpPr>
        <p:spPr>
          <a:xfrm>
            <a:off x="2199640" y="3685286"/>
            <a:ext cx="9347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E93FDCE-1E70-2BDE-116B-0C6FDBD85CCC}"/>
              </a:ext>
            </a:extLst>
          </p:cNvPr>
          <p:cNvCxnSpPr/>
          <p:nvPr/>
        </p:nvCxnSpPr>
        <p:spPr>
          <a:xfrm flipV="1">
            <a:off x="2374900" y="3685286"/>
            <a:ext cx="128524" cy="99314"/>
          </a:xfrm>
          <a:prstGeom prst="line">
            <a:avLst/>
          </a:prstGeom>
          <a:ln w="29210">
            <a:solidFill>
              <a:srgbClr val="EFF1E9"/>
            </a:solidFill>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6C14D92D-CCC8-2188-9C45-35B0F36BB0E8}"/>
              </a:ext>
            </a:extLst>
          </p:cNvPr>
          <p:cNvSpPr/>
          <p:nvPr/>
        </p:nvSpPr>
        <p:spPr>
          <a:xfrm>
            <a:off x="2433320" y="3615182"/>
            <a:ext cx="140208" cy="140208"/>
          </a:xfrm>
          <a:prstGeom prst="ellipse">
            <a:avLst/>
          </a:prstGeom>
          <a:noFill/>
          <a:ln w="1168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F55F4DB6-E0A1-9498-F5DA-22EE26E69C88}"/>
              </a:ext>
            </a:extLst>
          </p:cNvPr>
          <p:cNvCxnSpPr/>
          <p:nvPr/>
        </p:nvCxnSpPr>
        <p:spPr>
          <a:xfrm>
            <a:off x="2456688" y="3685286"/>
            <a:ext cx="9347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7BF5524-5FAD-4009-A592-BC8DFBB5D076}"/>
              </a:ext>
            </a:extLst>
          </p:cNvPr>
          <p:cNvCxnSpPr/>
          <p:nvPr/>
        </p:nvCxnSpPr>
        <p:spPr>
          <a:xfrm flipH="1">
            <a:off x="2246376" y="3784600"/>
            <a:ext cx="128524" cy="99314"/>
          </a:xfrm>
          <a:prstGeom prst="line">
            <a:avLst/>
          </a:prstGeom>
          <a:ln w="29210">
            <a:solidFill>
              <a:srgbClr val="EFF1E9"/>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A72B13A3-9274-9371-96E9-AB549ABA1558}"/>
              </a:ext>
            </a:extLst>
          </p:cNvPr>
          <p:cNvSpPr/>
          <p:nvPr/>
        </p:nvSpPr>
        <p:spPr>
          <a:xfrm>
            <a:off x="2176272" y="3813810"/>
            <a:ext cx="140208" cy="140208"/>
          </a:xfrm>
          <a:prstGeom prst="ellipse">
            <a:avLst/>
          </a:prstGeom>
          <a:noFill/>
          <a:ln w="1168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28F0AA4C-D592-4B0A-9438-3AB6D9CC7491}"/>
              </a:ext>
            </a:extLst>
          </p:cNvPr>
          <p:cNvCxnSpPr/>
          <p:nvPr/>
        </p:nvCxnSpPr>
        <p:spPr>
          <a:xfrm>
            <a:off x="2199640" y="3883914"/>
            <a:ext cx="9347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8999E63-E6E9-4A4A-C402-3038FBA7488C}"/>
              </a:ext>
            </a:extLst>
          </p:cNvPr>
          <p:cNvCxnSpPr/>
          <p:nvPr/>
        </p:nvCxnSpPr>
        <p:spPr>
          <a:xfrm>
            <a:off x="2374900" y="3784600"/>
            <a:ext cx="128524" cy="99314"/>
          </a:xfrm>
          <a:prstGeom prst="line">
            <a:avLst/>
          </a:prstGeom>
          <a:ln w="29210">
            <a:solidFill>
              <a:srgbClr val="EFF1E9"/>
            </a:solidFill>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387183DA-B5FC-66F6-3285-F639AAE33EF1}"/>
              </a:ext>
            </a:extLst>
          </p:cNvPr>
          <p:cNvSpPr/>
          <p:nvPr/>
        </p:nvSpPr>
        <p:spPr>
          <a:xfrm>
            <a:off x="2433320" y="3813810"/>
            <a:ext cx="140208" cy="140208"/>
          </a:xfrm>
          <a:prstGeom prst="ellipse">
            <a:avLst/>
          </a:prstGeom>
          <a:noFill/>
          <a:ln w="11684"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F6317A94-FE00-AE20-C970-E9D770FC3FEB}"/>
              </a:ext>
            </a:extLst>
          </p:cNvPr>
          <p:cNvCxnSpPr/>
          <p:nvPr/>
        </p:nvCxnSpPr>
        <p:spPr>
          <a:xfrm>
            <a:off x="2456688" y="3883914"/>
            <a:ext cx="93472"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772EAB58-5016-EFB8-9201-8B1044933CEA}"/>
              </a:ext>
            </a:extLst>
          </p:cNvPr>
          <p:cNvSpPr/>
          <p:nvPr/>
        </p:nvSpPr>
        <p:spPr>
          <a:xfrm>
            <a:off x="2322322" y="3691128"/>
            <a:ext cx="105156" cy="186944"/>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640D35F-D468-85AE-D701-1E51AE8F1B48}"/>
              </a:ext>
            </a:extLst>
          </p:cNvPr>
          <p:cNvSpPr/>
          <p:nvPr/>
        </p:nvSpPr>
        <p:spPr>
          <a:xfrm>
            <a:off x="2357374" y="3726180"/>
            <a:ext cx="35052" cy="35052"/>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20FFA4E1-0CFB-8849-76CF-FDCAB609EAD6}"/>
              </a:ext>
            </a:extLst>
          </p:cNvPr>
          <p:cNvCxnSpPr/>
          <p:nvPr/>
        </p:nvCxnSpPr>
        <p:spPr>
          <a:xfrm flipH="1" flipV="1">
            <a:off x="3691890" y="3961765"/>
            <a:ext cx="181610" cy="140335"/>
          </a:xfrm>
          <a:prstGeom prst="line">
            <a:avLst/>
          </a:prstGeom>
          <a:ln w="41275">
            <a:solidFill>
              <a:srgbClr val="EFF1E9"/>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989E8407-3156-FAEA-31DD-CF1DA1FD128D}"/>
              </a:ext>
            </a:extLst>
          </p:cNvPr>
          <p:cNvSpPr/>
          <p:nvPr/>
        </p:nvSpPr>
        <p:spPr>
          <a:xfrm>
            <a:off x="3592830" y="3862705"/>
            <a:ext cx="198120" cy="198120"/>
          </a:xfrm>
          <a:prstGeom prst="ellipse">
            <a:avLst/>
          </a:prstGeom>
          <a:noFill/>
          <a:ln w="1651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41F010E3-9847-B3DF-2A43-7CF3C4BF9B02}"/>
              </a:ext>
            </a:extLst>
          </p:cNvPr>
          <p:cNvCxnSpPr/>
          <p:nvPr/>
        </p:nvCxnSpPr>
        <p:spPr>
          <a:xfrm>
            <a:off x="3625850" y="3961765"/>
            <a:ext cx="13208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5F282AC-1D23-3E65-214D-13F1A7EA5FDF}"/>
              </a:ext>
            </a:extLst>
          </p:cNvPr>
          <p:cNvCxnSpPr/>
          <p:nvPr/>
        </p:nvCxnSpPr>
        <p:spPr>
          <a:xfrm flipV="1">
            <a:off x="3873500" y="3961765"/>
            <a:ext cx="181610" cy="140335"/>
          </a:xfrm>
          <a:prstGeom prst="line">
            <a:avLst/>
          </a:prstGeom>
          <a:ln w="41275">
            <a:solidFill>
              <a:srgbClr val="EFF1E9"/>
            </a:solidFill>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2A62DF13-B637-BDBF-8683-B42BF7C3F250}"/>
              </a:ext>
            </a:extLst>
          </p:cNvPr>
          <p:cNvSpPr/>
          <p:nvPr/>
        </p:nvSpPr>
        <p:spPr>
          <a:xfrm>
            <a:off x="3956050" y="3862705"/>
            <a:ext cx="198120" cy="198120"/>
          </a:xfrm>
          <a:prstGeom prst="ellipse">
            <a:avLst/>
          </a:prstGeom>
          <a:noFill/>
          <a:ln w="1651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38A5370A-88EB-0F72-3254-A2658E185014}"/>
              </a:ext>
            </a:extLst>
          </p:cNvPr>
          <p:cNvCxnSpPr/>
          <p:nvPr/>
        </p:nvCxnSpPr>
        <p:spPr>
          <a:xfrm>
            <a:off x="3989070" y="3961765"/>
            <a:ext cx="13208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98BBD70-3232-C5A4-83E1-E2CE08B16018}"/>
              </a:ext>
            </a:extLst>
          </p:cNvPr>
          <p:cNvCxnSpPr/>
          <p:nvPr/>
        </p:nvCxnSpPr>
        <p:spPr>
          <a:xfrm flipH="1">
            <a:off x="3691890" y="4102100"/>
            <a:ext cx="181610" cy="140335"/>
          </a:xfrm>
          <a:prstGeom prst="line">
            <a:avLst/>
          </a:prstGeom>
          <a:ln w="41275">
            <a:solidFill>
              <a:srgbClr val="EFF1E9"/>
            </a:solidFill>
          </a:ln>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3765CFD7-7921-C325-1A49-8C34EE83A2D3}"/>
              </a:ext>
            </a:extLst>
          </p:cNvPr>
          <p:cNvSpPr/>
          <p:nvPr/>
        </p:nvSpPr>
        <p:spPr>
          <a:xfrm>
            <a:off x="3592830" y="4143375"/>
            <a:ext cx="198120" cy="198120"/>
          </a:xfrm>
          <a:prstGeom prst="ellipse">
            <a:avLst/>
          </a:prstGeom>
          <a:noFill/>
          <a:ln w="1651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9E0A7354-96A1-3D2C-F9FB-CAD47D857339}"/>
              </a:ext>
            </a:extLst>
          </p:cNvPr>
          <p:cNvCxnSpPr/>
          <p:nvPr/>
        </p:nvCxnSpPr>
        <p:spPr>
          <a:xfrm>
            <a:off x="3625850" y="4242435"/>
            <a:ext cx="13208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5B08D1E7-FF62-5E02-4164-37C4B712BE1A}"/>
              </a:ext>
            </a:extLst>
          </p:cNvPr>
          <p:cNvCxnSpPr/>
          <p:nvPr/>
        </p:nvCxnSpPr>
        <p:spPr>
          <a:xfrm>
            <a:off x="3873500" y="4102100"/>
            <a:ext cx="181610" cy="140335"/>
          </a:xfrm>
          <a:prstGeom prst="line">
            <a:avLst/>
          </a:prstGeom>
          <a:ln w="41275">
            <a:solidFill>
              <a:srgbClr val="EFF1E9"/>
            </a:solidFill>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5F460C23-A497-BD4C-0E19-C37CFA9A2DE4}"/>
              </a:ext>
            </a:extLst>
          </p:cNvPr>
          <p:cNvSpPr/>
          <p:nvPr/>
        </p:nvSpPr>
        <p:spPr>
          <a:xfrm>
            <a:off x="3956050" y="4143375"/>
            <a:ext cx="198120" cy="198120"/>
          </a:xfrm>
          <a:prstGeom prst="ellipse">
            <a:avLst/>
          </a:prstGeom>
          <a:noFill/>
          <a:ln w="1651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B8F627DA-7E3F-7028-84F0-B022EE28FA5C}"/>
              </a:ext>
            </a:extLst>
          </p:cNvPr>
          <p:cNvCxnSpPr/>
          <p:nvPr/>
        </p:nvCxnSpPr>
        <p:spPr>
          <a:xfrm>
            <a:off x="3989070" y="4242435"/>
            <a:ext cx="13208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EF59CFF6-CF7C-C393-83A4-A3AB905CCC0E}"/>
              </a:ext>
            </a:extLst>
          </p:cNvPr>
          <p:cNvSpPr/>
          <p:nvPr/>
        </p:nvSpPr>
        <p:spPr>
          <a:xfrm>
            <a:off x="3799205" y="3970020"/>
            <a:ext cx="148590" cy="264160"/>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321A487-9510-EF20-AD3B-646396FE8017}"/>
              </a:ext>
            </a:extLst>
          </p:cNvPr>
          <p:cNvSpPr/>
          <p:nvPr/>
        </p:nvSpPr>
        <p:spPr>
          <a:xfrm>
            <a:off x="3848735" y="4019550"/>
            <a:ext cx="49530" cy="4953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E6B9A9E0-C83F-9B85-85B7-BC0C65F39009}"/>
              </a:ext>
            </a:extLst>
          </p:cNvPr>
          <p:cNvCxnSpPr/>
          <p:nvPr/>
        </p:nvCxnSpPr>
        <p:spPr>
          <a:xfrm>
            <a:off x="4356100" y="4102100"/>
            <a:ext cx="10668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34C8FFDF-A999-55E8-693C-7FAA916FB24B}"/>
              </a:ext>
            </a:extLst>
          </p:cNvPr>
          <p:cNvCxnSpPr/>
          <p:nvPr/>
        </p:nvCxnSpPr>
        <p:spPr>
          <a:xfrm>
            <a:off x="5334000" y="3784600"/>
            <a:ext cx="0" cy="6350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2A82DB53-122E-9DF8-EDF1-EFCA981D766D}"/>
              </a:ext>
            </a:extLst>
          </p:cNvPr>
          <p:cNvSpPr/>
          <p:nvPr/>
        </p:nvSpPr>
        <p:spPr>
          <a:xfrm>
            <a:off x="8015605" y="4173220"/>
            <a:ext cx="97790" cy="9779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6483B073-28AF-F054-0C4B-EF198505AF8B}"/>
              </a:ext>
            </a:extLst>
          </p:cNvPr>
          <p:cNvSpPr/>
          <p:nvPr/>
        </p:nvSpPr>
        <p:spPr>
          <a:xfrm>
            <a:off x="7994650" y="4298950"/>
            <a:ext cx="139700" cy="223520"/>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90BACA86-A44F-BC2C-F5A9-FA74D0FA840F}"/>
              </a:ext>
            </a:extLst>
          </p:cNvPr>
          <p:cNvCxnSpPr/>
          <p:nvPr/>
        </p:nvCxnSpPr>
        <p:spPr>
          <a:xfrm flipH="1">
            <a:off x="7994650" y="4501515"/>
            <a:ext cx="20955" cy="146685"/>
          </a:xfrm>
          <a:prstGeom prst="line">
            <a:avLst/>
          </a:prstGeom>
          <a:ln w="3492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D0321CBB-E31F-0C4E-1DBE-EDC85976C48A}"/>
              </a:ext>
            </a:extLst>
          </p:cNvPr>
          <p:cNvCxnSpPr/>
          <p:nvPr/>
        </p:nvCxnSpPr>
        <p:spPr>
          <a:xfrm>
            <a:off x="8113395" y="4501515"/>
            <a:ext cx="20955" cy="146685"/>
          </a:xfrm>
          <a:prstGeom prst="line">
            <a:avLst/>
          </a:prstGeom>
          <a:ln w="3492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D120411-3E2B-CF53-8F35-D2CAC40B4B17}"/>
              </a:ext>
            </a:extLst>
          </p:cNvPr>
          <p:cNvCxnSpPr/>
          <p:nvPr/>
        </p:nvCxnSpPr>
        <p:spPr>
          <a:xfrm flipH="1">
            <a:off x="7910830" y="4347845"/>
            <a:ext cx="104775" cy="83820"/>
          </a:xfrm>
          <a:prstGeom prst="line">
            <a:avLst/>
          </a:prstGeom>
          <a:ln w="3492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484D416E-536D-C875-9D5E-C9278CC1AF2E}"/>
              </a:ext>
            </a:extLst>
          </p:cNvPr>
          <p:cNvCxnSpPr/>
          <p:nvPr/>
        </p:nvCxnSpPr>
        <p:spPr>
          <a:xfrm flipV="1">
            <a:off x="8113395" y="4215130"/>
            <a:ext cx="111760" cy="132715"/>
          </a:xfrm>
          <a:prstGeom prst="line">
            <a:avLst/>
          </a:prstGeom>
          <a:ln w="3492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856310A9-AF9F-2F1B-9B26-338314944562}"/>
              </a:ext>
            </a:extLst>
          </p:cNvPr>
          <p:cNvCxnSpPr/>
          <p:nvPr/>
        </p:nvCxnSpPr>
        <p:spPr>
          <a:xfrm flipH="1" flipV="1">
            <a:off x="6640830" y="3627755"/>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E0BE805C-1F67-3F78-3FF8-0727C5389FE1}"/>
              </a:ext>
            </a:extLst>
          </p:cNvPr>
          <p:cNvSpPr/>
          <p:nvPr/>
        </p:nvSpPr>
        <p:spPr>
          <a:xfrm>
            <a:off x="6557010" y="354393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C26BB6DB-26C6-82C9-D44A-8797C2BFEF35}"/>
              </a:ext>
            </a:extLst>
          </p:cNvPr>
          <p:cNvCxnSpPr/>
          <p:nvPr/>
        </p:nvCxnSpPr>
        <p:spPr>
          <a:xfrm>
            <a:off x="6584950" y="362775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82CA9E45-6E17-53EB-A6E8-F64054F234A0}"/>
              </a:ext>
            </a:extLst>
          </p:cNvPr>
          <p:cNvCxnSpPr/>
          <p:nvPr/>
        </p:nvCxnSpPr>
        <p:spPr>
          <a:xfrm flipV="1">
            <a:off x="6794500" y="3627755"/>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461ECF89-5BD9-73B7-55B6-59BC80A918B2}"/>
              </a:ext>
            </a:extLst>
          </p:cNvPr>
          <p:cNvSpPr/>
          <p:nvPr/>
        </p:nvSpPr>
        <p:spPr>
          <a:xfrm>
            <a:off x="6864350" y="354393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7C1F9A38-6557-818C-F473-B6CEDEC617D0}"/>
              </a:ext>
            </a:extLst>
          </p:cNvPr>
          <p:cNvCxnSpPr/>
          <p:nvPr/>
        </p:nvCxnSpPr>
        <p:spPr>
          <a:xfrm>
            <a:off x="6892290" y="362775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D338605F-BC41-0911-067A-19D559354C22}"/>
              </a:ext>
            </a:extLst>
          </p:cNvPr>
          <p:cNvCxnSpPr/>
          <p:nvPr/>
        </p:nvCxnSpPr>
        <p:spPr>
          <a:xfrm flipH="1">
            <a:off x="6640830" y="3746500"/>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689315EC-9BCD-808B-D36A-64BFDC1ACEC2}"/>
              </a:ext>
            </a:extLst>
          </p:cNvPr>
          <p:cNvSpPr/>
          <p:nvPr/>
        </p:nvSpPr>
        <p:spPr>
          <a:xfrm>
            <a:off x="6557010" y="378142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B43D8D3B-9F83-B790-B42C-68FBECEA6D2E}"/>
              </a:ext>
            </a:extLst>
          </p:cNvPr>
          <p:cNvCxnSpPr/>
          <p:nvPr/>
        </p:nvCxnSpPr>
        <p:spPr>
          <a:xfrm>
            <a:off x="6584950" y="386524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EABF8EE3-687F-5A64-024E-05273CD450BB}"/>
              </a:ext>
            </a:extLst>
          </p:cNvPr>
          <p:cNvCxnSpPr/>
          <p:nvPr/>
        </p:nvCxnSpPr>
        <p:spPr>
          <a:xfrm>
            <a:off x="6794500" y="3746500"/>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BB03D12B-2F6C-392F-D7ED-5DD19254BAA6}"/>
              </a:ext>
            </a:extLst>
          </p:cNvPr>
          <p:cNvSpPr/>
          <p:nvPr/>
        </p:nvSpPr>
        <p:spPr>
          <a:xfrm>
            <a:off x="6864350" y="378142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77948465-9E61-FAA8-DDC6-86AFCE0E8972}"/>
              </a:ext>
            </a:extLst>
          </p:cNvPr>
          <p:cNvCxnSpPr/>
          <p:nvPr/>
        </p:nvCxnSpPr>
        <p:spPr>
          <a:xfrm>
            <a:off x="6892290" y="386524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78" name="Rectangle: Rounded Corners 77">
            <a:extLst>
              <a:ext uri="{FF2B5EF4-FFF2-40B4-BE49-F238E27FC236}">
                <a16:creationId xmlns:a16="http://schemas.microsoft.com/office/drawing/2014/main" id="{2D4B4170-CAA0-3332-0B54-2F006BCC76B8}"/>
              </a:ext>
            </a:extLst>
          </p:cNvPr>
          <p:cNvSpPr/>
          <p:nvPr/>
        </p:nvSpPr>
        <p:spPr>
          <a:xfrm>
            <a:off x="6731635" y="3634740"/>
            <a:ext cx="125730" cy="223520"/>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C3B40B8F-6B80-E398-3E93-B3A366259AE4}"/>
              </a:ext>
            </a:extLst>
          </p:cNvPr>
          <p:cNvSpPr/>
          <p:nvPr/>
        </p:nvSpPr>
        <p:spPr>
          <a:xfrm>
            <a:off x="6773545" y="3676650"/>
            <a:ext cx="41910" cy="4191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326249F0-1426-7079-418C-ADB5F58FA8F2}"/>
              </a:ext>
            </a:extLst>
          </p:cNvPr>
          <p:cNvCxnSpPr/>
          <p:nvPr/>
        </p:nvCxnSpPr>
        <p:spPr>
          <a:xfrm>
            <a:off x="7150100" y="3746500"/>
            <a:ext cx="9144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EF88D0FF-1016-45AC-4299-349F3BD0B296}"/>
              </a:ext>
            </a:extLst>
          </p:cNvPr>
          <p:cNvCxnSpPr/>
          <p:nvPr/>
        </p:nvCxnSpPr>
        <p:spPr>
          <a:xfrm>
            <a:off x="8064500" y="3771900"/>
            <a:ext cx="0" cy="330200"/>
          </a:xfrm>
          <a:prstGeom prst="line">
            <a:avLst/>
          </a:prstGeom>
          <a:ln w="25400">
            <a:solidFill>
              <a:srgbClr val="B4EF74"/>
            </a:solidFill>
            <a:prstDash val="dash"/>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8F65AE55-9EFA-3537-B3E5-076033A309F9}"/>
              </a:ext>
            </a:extLst>
          </p:cNvPr>
          <p:cNvSpPr/>
          <p:nvPr/>
        </p:nvSpPr>
        <p:spPr>
          <a:xfrm>
            <a:off x="9740900" y="4075176"/>
            <a:ext cx="426720" cy="455168"/>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50B0AFD0-0FC2-0904-3A2F-73741EE5ED51}"/>
              </a:ext>
            </a:extLst>
          </p:cNvPr>
          <p:cNvCxnSpPr/>
          <p:nvPr/>
        </p:nvCxnSpPr>
        <p:spPr>
          <a:xfrm flipV="1">
            <a:off x="9783572" y="3847592"/>
            <a:ext cx="0" cy="312928"/>
          </a:xfrm>
          <a:prstGeom prst="line">
            <a:avLst/>
          </a:prstGeom>
          <a:ln w="7112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3293F72-B95F-E741-3D3D-C2C317E023B7}"/>
              </a:ext>
            </a:extLst>
          </p:cNvPr>
          <p:cNvCxnSpPr/>
          <p:nvPr/>
        </p:nvCxnSpPr>
        <p:spPr>
          <a:xfrm flipV="1">
            <a:off x="9897364" y="3751839"/>
            <a:ext cx="0" cy="408681"/>
          </a:xfrm>
          <a:prstGeom prst="line">
            <a:avLst/>
          </a:prstGeom>
          <a:ln w="7112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07473B19-7988-D02B-4D1B-C5A2AB4E2B99}"/>
              </a:ext>
            </a:extLst>
          </p:cNvPr>
          <p:cNvCxnSpPr/>
          <p:nvPr/>
        </p:nvCxnSpPr>
        <p:spPr>
          <a:xfrm flipV="1">
            <a:off x="10011156" y="3744121"/>
            <a:ext cx="0" cy="416399"/>
          </a:xfrm>
          <a:prstGeom prst="line">
            <a:avLst/>
          </a:prstGeom>
          <a:ln w="7112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D0F05657-C8EC-DF89-1B61-D860AF622E4B}"/>
              </a:ext>
            </a:extLst>
          </p:cNvPr>
          <p:cNvCxnSpPr/>
          <p:nvPr/>
        </p:nvCxnSpPr>
        <p:spPr>
          <a:xfrm flipV="1">
            <a:off x="10124948" y="3831534"/>
            <a:ext cx="0" cy="328986"/>
          </a:xfrm>
          <a:prstGeom prst="line">
            <a:avLst/>
          </a:prstGeom>
          <a:ln w="7112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47D592AC-F3E1-6674-9D80-14D027908018}"/>
              </a:ext>
            </a:extLst>
          </p:cNvPr>
          <p:cNvCxnSpPr/>
          <p:nvPr/>
        </p:nvCxnSpPr>
        <p:spPr>
          <a:xfrm flipH="1" flipV="1">
            <a:off x="9598660" y="4089400"/>
            <a:ext cx="184912" cy="256032"/>
          </a:xfrm>
          <a:prstGeom prst="line">
            <a:avLst/>
          </a:prstGeom>
          <a:ln w="85344">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DB7C199A-96E2-CB03-C346-E2681D7AE198}"/>
              </a:ext>
            </a:extLst>
          </p:cNvPr>
          <p:cNvCxnSpPr/>
          <p:nvPr/>
        </p:nvCxnSpPr>
        <p:spPr>
          <a:xfrm flipH="1" flipV="1">
            <a:off x="10831830" y="3983355"/>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B1C624C8-EE2C-7531-DD7A-65C848A48857}"/>
              </a:ext>
            </a:extLst>
          </p:cNvPr>
          <p:cNvSpPr/>
          <p:nvPr/>
        </p:nvSpPr>
        <p:spPr>
          <a:xfrm>
            <a:off x="10748010" y="389953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C9E99E3F-BC36-2505-6C09-0D289B9C2C05}"/>
              </a:ext>
            </a:extLst>
          </p:cNvPr>
          <p:cNvCxnSpPr/>
          <p:nvPr/>
        </p:nvCxnSpPr>
        <p:spPr>
          <a:xfrm>
            <a:off x="10775950" y="398335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E44812E-2C18-1BB8-8825-BC49C3E30FBE}"/>
              </a:ext>
            </a:extLst>
          </p:cNvPr>
          <p:cNvCxnSpPr/>
          <p:nvPr/>
        </p:nvCxnSpPr>
        <p:spPr>
          <a:xfrm flipV="1">
            <a:off x="10985500" y="3983355"/>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92" name="Oval 91">
            <a:extLst>
              <a:ext uri="{FF2B5EF4-FFF2-40B4-BE49-F238E27FC236}">
                <a16:creationId xmlns:a16="http://schemas.microsoft.com/office/drawing/2014/main" id="{D91C6457-C68A-0ECB-7423-4CC7F1A89827}"/>
              </a:ext>
            </a:extLst>
          </p:cNvPr>
          <p:cNvSpPr/>
          <p:nvPr/>
        </p:nvSpPr>
        <p:spPr>
          <a:xfrm>
            <a:off x="11055350" y="389953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3D249BF6-ED5F-D3D8-2AFB-2A02001008DC}"/>
              </a:ext>
            </a:extLst>
          </p:cNvPr>
          <p:cNvCxnSpPr/>
          <p:nvPr/>
        </p:nvCxnSpPr>
        <p:spPr>
          <a:xfrm>
            <a:off x="11083290" y="398335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03ECC1F4-AEA5-4CC7-652B-331C8EAB6BD2}"/>
              </a:ext>
            </a:extLst>
          </p:cNvPr>
          <p:cNvCxnSpPr/>
          <p:nvPr/>
        </p:nvCxnSpPr>
        <p:spPr>
          <a:xfrm flipH="1">
            <a:off x="10831830" y="4102100"/>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95" name="Oval 94">
            <a:extLst>
              <a:ext uri="{FF2B5EF4-FFF2-40B4-BE49-F238E27FC236}">
                <a16:creationId xmlns:a16="http://schemas.microsoft.com/office/drawing/2014/main" id="{F6270BCA-7FA9-5EC3-FCF6-D5DAC44495E0}"/>
              </a:ext>
            </a:extLst>
          </p:cNvPr>
          <p:cNvSpPr/>
          <p:nvPr/>
        </p:nvSpPr>
        <p:spPr>
          <a:xfrm>
            <a:off x="10748010" y="413702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05CA05F9-F3C6-BA0B-C6DD-9CFA4BEC21B7}"/>
              </a:ext>
            </a:extLst>
          </p:cNvPr>
          <p:cNvCxnSpPr/>
          <p:nvPr/>
        </p:nvCxnSpPr>
        <p:spPr>
          <a:xfrm>
            <a:off x="10775950" y="422084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B7B10A1A-4B6B-F853-897D-737219DF42D6}"/>
              </a:ext>
            </a:extLst>
          </p:cNvPr>
          <p:cNvCxnSpPr/>
          <p:nvPr/>
        </p:nvCxnSpPr>
        <p:spPr>
          <a:xfrm>
            <a:off x="10985500" y="4102100"/>
            <a:ext cx="153670" cy="118745"/>
          </a:xfrm>
          <a:prstGeom prst="line">
            <a:avLst/>
          </a:prstGeom>
          <a:ln w="34925">
            <a:solidFill>
              <a:srgbClr val="EFF1E9"/>
            </a:solidFill>
          </a:ln>
        </p:spPr>
        <p:style>
          <a:lnRef idx="2">
            <a:schemeClr val="accent1"/>
          </a:lnRef>
          <a:fillRef idx="0">
            <a:schemeClr val="accent1"/>
          </a:fillRef>
          <a:effectRef idx="1">
            <a:schemeClr val="accent1"/>
          </a:effectRef>
          <a:fontRef idx="minor">
            <a:schemeClr val="tx1"/>
          </a:fontRef>
        </p:style>
      </p:cxnSp>
      <p:sp>
        <p:nvSpPr>
          <p:cNvPr id="98" name="Oval 97">
            <a:extLst>
              <a:ext uri="{FF2B5EF4-FFF2-40B4-BE49-F238E27FC236}">
                <a16:creationId xmlns:a16="http://schemas.microsoft.com/office/drawing/2014/main" id="{4AF5D352-1147-C349-8DDF-3B0B6B1657DB}"/>
              </a:ext>
            </a:extLst>
          </p:cNvPr>
          <p:cNvSpPr/>
          <p:nvPr/>
        </p:nvSpPr>
        <p:spPr>
          <a:xfrm>
            <a:off x="11055350" y="4137025"/>
            <a:ext cx="167640" cy="167640"/>
          </a:xfrm>
          <a:prstGeom prst="ellipse">
            <a:avLst/>
          </a:prstGeom>
          <a:noFill/>
          <a:ln w="13970"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922C14CD-8894-9206-B35E-A73B0AC20CE6}"/>
              </a:ext>
            </a:extLst>
          </p:cNvPr>
          <p:cNvCxnSpPr/>
          <p:nvPr/>
        </p:nvCxnSpPr>
        <p:spPr>
          <a:xfrm>
            <a:off x="11083290" y="4220845"/>
            <a:ext cx="111760"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100" name="Rectangle: Rounded Corners 99">
            <a:extLst>
              <a:ext uri="{FF2B5EF4-FFF2-40B4-BE49-F238E27FC236}">
                <a16:creationId xmlns:a16="http://schemas.microsoft.com/office/drawing/2014/main" id="{4019457F-848D-2A89-3B48-240BC2E200AE}"/>
              </a:ext>
            </a:extLst>
          </p:cNvPr>
          <p:cNvSpPr/>
          <p:nvPr/>
        </p:nvSpPr>
        <p:spPr>
          <a:xfrm>
            <a:off x="10922635" y="3990340"/>
            <a:ext cx="125730" cy="223520"/>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74044472-9E94-8C9F-CFCB-2BCB6E4E7631}"/>
              </a:ext>
            </a:extLst>
          </p:cNvPr>
          <p:cNvSpPr/>
          <p:nvPr/>
        </p:nvSpPr>
        <p:spPr>
          <a:xfrm>
            <a:off x="10964545" y="4032250"/>
            <a:ext cx="41910" cy="4191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12E0AE35-2F5C-1FD1-F20E-970303E115A8}"/>
              </a:ext>
            </a:extLst>
          </p:cNvPr>
          <p:cNvCxnSpPr/>
          <p:nvPr/>
        </p:nvCxnSpPr>
        <p:spPr>
          <a:xfrm>
            <a:off x="10541000" y="3771900"/>
            <a:ext cx="0" cy="635000"/>
          </a:xfrm>
          <a:prstGeom prst="line">
            <a:avLst/>
          </a:prstGeom>
          <a:ln w="50800">
            <a:solidFill>
              <a:srgbClr val="B4EF74"/>
            </a:solidFill>
          </a:ln>
        </p:spPr>
        <p:style>
          <a:lnRef idx="2">
            <a:schemeClr val="accent1"/>
          </a:lnRef>
          <a:fillRef idx="0">
            <a:schemeClr val="accent1"/>
          </a:fillRef>
          <a:effectRef idx="1">
            <a:schemeClr val="accent1"/>
          </a:effectRef>
          <a:fontRef idx="minor">
            <a:schemeClr val="tx1"/>
          </a:fontRef>
        </p:style>
      </p:cxnSp>
      <p:sp>
        <p:nvSpPr>
          <p:cNvPr id="103" name="Rectangle: Rounded Corners 102">
            <a:extLst>
              <a:ext uri="{FF2B5EF4-FFF2-40B4-BE49-F238E27FC236}">
                <a16:creationId xmlns:a16="http://schemas.microsoft.com/office/drawing/2014/main" id="{F89EB475-851A-1D6D-7DDD-D6DDA8CBF210}"/>
              </a:ext>
            </a:extLst>
          </p:cNvPr>
          <p:cNvSpPr/>
          <p:nvPr/>
        </p:nvSpPr>
        <p:spPr>
          <a:xfrm>
            <a:off x="508000" y="5727700"/>
            <a:ext cx="1333500" cy="330200"/>
          </a:xfrm>
          <a:prstGeom prst="round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20FD3E52-0054-E3C9-68FF-8EADDF21C38B}"/>
              </a:ext>
            </a:extLst>
          </p:cNvPr>
          <p:cNvSpPr txBox="1"/>
          <p:nvPr/>
        </p:nvSpPr>
        <p:spPr>
          <a:xfrm>
            <a:off x="635000" y="5791200"/>
            <a:ext cx="10795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LIVE SETUP</a:t>
            </a:r>
          </a:p>
        </p:txBody>
      </p:sp>
      <p:sp>
        <p:nvSpPr>
          <p:cNvPr id="105" name="TextBox 104">
            <a:extLst>
              <a:ext uri="{FF2B5EF4-FFF2-40B4-BE49-F238E27FC236}">
                <a16:creationId xmlns:a16="http://schemas.microsoft.com/office/drawing/2014/main" id="{D00BDEE8-29C1-0B2D-6679-9DEDFE1321D1}"/>
              </a:ext>
            </a:extLst>
          </p:cNvPr>
          <p:cNvSpPr txBox="1"/>
          <p:nvPr/>
        </p:nvSpPr>
        <p:spPr>
          <a:xfrm>
            <a:off x="2057400" y="5765800"/>
            <a:ext cx="9575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Phones as operators  →  Main computer  →  Shared 3D simulation</a:t>
            </a:r>
          </a:p>
        </p:txBody>
      </p:sp>
    </p:spTree>
    <p:extLst>
      <p:ext uri="{BB962C8B-B14F-4D97-AF65-F5344CB8AC3E}">
        <p14:creationId xmlns:p14="http://schemas.microsoft.com/office/powerpoint/2010/main" val="202325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633D1C-509D-E1FC-5935-73F2966E1639}"/>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687D6B72-4269-9279-19DB-989421B89FD8}"/>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04 / MISSION PLANNING + LIVE CONTROL</a:t>
            </a:r>
          </a:p>
        </p:txBody>
      </p:sp>
      <p:sp>
        <p:nvSpPr>
          <p:cNvPr id="4" name="TextBox 3">
            <a:extLst>
              <a:ext uri="{FF2B5EF4-FFF2-40B4-BE49-F238E27FC236}">
                <a16:creationId xmlns:a16="http://schemas.microsoft.com/office/drawing/2014/main" id="{A8D17156-AEBE-988F-F422-441399B88605}"/>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Plan the route. Adapt mid-flight.</a:t>
            </a:r>
          </a:p>
        </p:txBody>
      </p:sp>
      <p:cxnSp>
        <p:nvCxnSpPr>
          <p:cNvPr id="5" name="Straight Connector 4">
            <a:extLst>
              <a:ext uri="{FF2B5EF4-FFF2-40B4-BE49-F238E27FC236}">
                <a16:creationId xmlns:a16="http://schemas.microsoft.com/office/drawing/2014/main" id="{50278A36-AE06-0A29-D974-16DE4312180D}"/>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039BBF6-3719-B0A6-AD06-E4D3F81BF993}"/>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407B224D-8C23-9A12-EC3C-74421A503C47}"/>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05</a:t>
            </a:r>
          </a:p>
        </p:txBody>
      </p:sp>
      <p:sp>
        <p:nvSpPr>
          <p:cNvPr id="8" name="TextBox 7">
            <a:extLst>
              <a:ext uri="{FF2B5EF4-FFF2-40B4-BE49-F238E27FC236}">
                <a16:creationId xmlns:a16="http://schemas.microsoft.com/office/drawing/2014/main" id="{20490B72-1BF8-1348-6A1F-6A805E06C871}"/>
              </a:ext>
            </a:extLst>
          </p:cNvPr>
          <p:cNvSpPr txBox="1"/>
          <p:nvPr/>
        </p:nvSpPr>
        <p:spPr>
          <a:xfrm>
            <a:off x="508000" y="1968500"/>
            <a:ext cx="11137900" cy="369332"/>
          </a:xfrm>
          <a:prstGeom prst="rect">
            <a:avLst/>
          </a:prstGeom>
          <a:noFill/>
        </p:spPr>
        <p:txBody>
          <a:bodyPr vert="horz" wrap="square" lIns="0" tIns="0" rIns="0" bIns="0" rtlCol="0">
            <a:spAutoFit/>
          </a:bodyPr>
          <a:lstStyle/>
          <a:p>
            <a:r>
              <a:rPr lang="en-US" sz="2400">
                <a:solidFill>
                  <a:srgbClr val="9CA593"/>
                </a:solidFill>
                <a:latin typeface="Aptos" panose="020B0004020202020204" pitchFamily="34" charset="0"/>
              </a:rPr>
              <a:t>A planned mission stays responsive to the operator.</a:t>
            </a:r>
          </a:p>
        </p:txBody>
      </p:sp>
      <p:sp>
        <p:nvSpPr>
          <p:cNvPr id="9" name="Rectangle 8">
            <a:extLst>
              <a:ext uri="{FF2B5EF4-FFF2-40B4-BE49-F238E27FC236}">
                <a16:creationId xmlns:a16="http://schemas.microsoft.com/office/drawing/2014/main" id="{8A33BFB7-D8F4-B174-A6CC-7E676BB94220}"/>
              </a:ext>
            </a:extLst>
          </p:cNvPr>
          <p:cNvSpPr/>
          <p:nvPr/>
        </p:nvSpPr>
        <p:spPr>
          <a:xfrm>
            <a:off x="508000" y="2603500"/>
            <a:ext cx="3111500" cy="18796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CD043B20-CCCA-35A2-B137-EA09155D03CE}"/>
              </a:ext>
            </a:extLst>
          </p:cNvPr>
          <p:cNvCxnSpPr/>
          <p:nvPr/>
        </p:nvCxnSpPr>
        <p:spPr>
          <a:xfrm>
            <a:off x="6985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ADF3567-2B74-E9F3-A2B3-CB877C0A7FAE}"/>
              </a:ext>
            </a:extLst>
          </p:cNvPr>
          <p:cNvCxnSpPr/>
          <p:nvPr/>
        </p:nvCxnSpPr>
        <p:spPr>
          <a:xfrm>
            <a:off x="11049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989E5BC-B48E-2FA6-B78E-2D93840B717C}"/>
              </a:ext>
            </a:extLst>
          </p:cNvPr>
          <p:cNvCxnSpPr/>
          <p:nvPr/>
        </p:nvCxnSpPr>
        <p:spPr>
          <a:xfrm>
            <a:off x="15113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F0081EA-4236-6F51-53B6-9BB8C6C0340C}"/>
              </a:ext>
            </a:extLst>
          </p:cNvPr>
          <p:cNvCxnSpPr/>
          <p:nvPr/>
        </p:nvCxnSpPr>
        <p:spPr>
          <a:xfrm>
            <a:off x="19177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DCEC50C-B167-947A-F2F1-3A16E529432C}"/>
              </a:ext>
            </a:extLst>
          </p:cNvPr>
          <p:cNvCxnSpPr/>
          <p:nvPr/>
        </p:nvCxnSpPr>
        <p:spPr>
          <a:xfrm>
            <a:off x="23241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3ADB265-7690-244C-29C2-04634675B6CF}"/>
              </a:ext>
            </a:extLst>
          </p:cNvPr>
          <p:cNvCxnSpPr/>
          <p:nvPr/>
        </p:nvCxnSpPr>
        <p:spPr>
          <a:xfrm>
            <a:off x="27305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319683D-8861-DC6D-EF9A-3EF0CF613FDE}"/>
              </a:ext>
            </a:extLst>
          </p:cNvPr>
          <p:cNvCxnSpPr/>
          <p:nvPr/>
        </p:nvCxnSpPr>
        <p:spPr>
          <a:xfrm>
            <a:off x="3136900" y="2755900"/>
            <a:ext cx="0" cy="152400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FDBEDAD-0375-BD14-815D-4E84ED3CDB04}"/>
              </a:ext>
            </a:extLst>
          </p:cNvPr>
          <p:cNvCxnSpPr/>
          <p:nvPr/>
        </p:nvCxnSpPr>
        <p:spPr>
          <a:xfrm>
            <a:off x="698500" y="2755900"/>
            <a:ext cx="27305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C6880F76-4B62-55AB-8D65-E533B3AC2984}"/>
              </a:ext>
            </a:extLst>
          </p:cNvPr>
          <p:cNvCxnSpPr/>
          <p:nvPr/>
        </p:nvCxnSpPr>
        <p:spPr>
          <a:xfrm>
            <a:off x="698500" y="3162300"/>
            <a:ext cx="27305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5C6B99-BDD1-9469-1D85-7C878D7811AA}"/>
              </a:ext>
            </a:extLst>
          </p:cNvPr>
          <p:cNvCxnSpPr/>
          <p:nvPr/>
        </p:nvCxnSpPr>
        <p:spPr>
          <a:xfrm>
            <a:off x="698500" y="3568700"/>
            <a:ext cx="27305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77276C5-DBDB-FDA5-ECCC-D8A43A47B95C}"/>
              </a:ext>
            </a:extLst>
          </p:cNvPr>
          <p:cNvCxnSpPr/>
          <p:nvPr/>
        </p:nvCxnSpPr>
        <p:spPr>
          <a:xfrm>
            <a:off x="698500" y="3975100"/>
            <a:ext cx="2730500" cy="0"/>
          </a:xfrm>
          <a:prstGeom prst="line">
            <a:avLst/>
          </a:prstGeom>
          <a:ln w="508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3D755E8-999B-4A3C-5CC2-C41E73778818}"/>
              </a:ext>
            </a:extLst>
          </p:cNvPr>
          <p:cNvCxnSpPr/>
          <p:nvPr/>
        </p:nvCxnSpPr>
        <p:spPr>
          <a:xfrm flipV="1">
            <a:off x="952500" y="3276600"/>
            <a:ext cx="444500" cy="7874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9C51CF4-4552-19FC-31DB-3471017654D9}"/>
              </a:ext>
            </a:extLst>
          </p:cNvPr>
          <p:cNvCxnSpPr/>
          <p:nvPr/>
        </p:nvCxnSpPr>
        <p:spPr>
          <a:xfrm>
            <a:off x="1397000" y="3276600"/>
            <a:ext cx="723900" cy="4318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F5A2E33-44AF-B276-3385-1CC5C65BDAEE}"/>
              </a:ext>
            </a:extLst>
          </p:cNvPr>
          <p:cNvCxnSpPr/>
          <p:nvPr/>
        </p:nvCxnSpPr>
        <p:spPr>
          <a:xfrm flipV="1">
            <a:off x="2120900" y="2984500"/>
            <a:ext cx="952500" cy="7239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AA916940-B69A-341F-BE2F-379C280A5A31}"/>
              </a:ext>
            </a:extLst>
          </p:cNvPr>
          <p:cNvSpPr/>
          <p:nvPr/>
        </p:nvSpPr>
        <p:spPr>
          <a:xfrm>
            <a:off x="889000" y="4000500"/>
            <a:ext cx="127000" cy="1270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DECE298-BA83-CDD5-E326-D99A05860BD4}"/>
              </a:ext>
            </a:extLst>
          </p:cNvPr>
          <p:cNvSpPr/>
          <p:nvPr/>
        </p:nvSpPr>
        <p:spPr>
          <a:xfrm>
            <a:off x="1333500" y="3213100"/>
            <a:ext cx="127000" cy="1270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263381A-E897-5F83-8E59-F4EEAB485A30}"/>
              </a:ext>
            </a:extLst>
          </p:cNvPr>
          <p:cNvSpPr/>
          <p:nvPr/>
        </p:nvSpPr>
        <p:spPr>
          <a:xfrm>
            <a:off x="2057400" y="3644900"/>
            <a:ext cx="127000" cy="1270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D4AAAAB-DD9E-7DF7-F99F-FD5C3584D8E9}"/>
              </a:ext>
            </a:extLst>
          </p:cNvPr>
          <p:cNvSpPr/>
          <p:nvPr/>
        </p:nvSpPr>
        <p:spPr>
          <a:xfrm>
            <a:off x="3009900" y="2921000"/>
            <a:ext cx="127000" cy="1270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49C5661-2898-CDA0-E409-71F10DE021FD}"/>
              </a:ext>
            </a:extLst>
          </p:cNvPr>
          <p:cNvSpPr txBox="1"/>
          <p:nvPr/>
        </p:nvSpPr>
        <p:spPr>
          <a:xfrm>
            <a:off x="508000" y="4648200"/>
            <a:ext cx="3238500" cy="292388"/>
          </a:xfrm>
          <a:prstGeom prst="rect">
            <a:avLst/>
          </a:prstGeom>
          <a:noFill/>
        </p:spPr>
        <p:txBody>
          <a:bodyPr vert="horz" wrap="square" lIns="0" tIns="0" rIns="0" bIns="0" rtlCol="0">
            <a:spAutoFit/>
          </a:bodyPr>
          <a:lstStyle/>
          <a:p>
            <a:r>
              <a:rPr lang="en-US" sz="1900" b="1">
                <a:solidFill>
                  <a:srgbClr val="EFF1E9"/>
                </a:solidFill>
                <a:latin typeface="Aptos" panose="020B0004020202020204" pitchFamily="34" charset="0"/>
              </a:rPr>
              <a:t>01  PLAN IN 2D</a:t>
            </a:r>
          </a:p>
        </p:txBody>
      </p:sp>
      <p:sp>
        <p:nvSpPr>
          <p:cNvPr id="29" name="TextBox 28">
            <a:extLst>
              <a:ext uri="{FF2B5EF4-FFF2-40B4-BE49-F238E27FC236}">
                <a16:creationId xmlns:a16="http://schemas.microsoft.com/office/drawing/2014/main" id="{33755038-02DB-9431-965C-8019499B2E1F}"/>
              </a:ext>
            </a:extLst>
          </p:cNvPr>
          <p:cNvSpPr txBox="1"/>
          <p:nvPr/>
        </p:nvSpPr>
        <p:spPr>
          <a:xfrm>
            <a:off x="508000" y="5016500"/>
            <a:ext cx="33020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Build the mission in a flight planner.</a:t>
            </a:r>
          </a:p>
        </p:txBody>
      </p:sp>
      <p:cxnSp>
        <p:nvCxnSpPr>
          <p:cNvPr id="30" name="Straight Connector 29">
            <a:extLst>
              <a:ext uri="{FF2B5EF4-FFF2-40B4-BE49-F238E27FC236}">
                <a16:creationId xmlns:a16="http://schemas.microsoft.com/office/drawing/2014/main" id="{299054BD-29B7-36FA-DF79-4FD5CBF851EB}"/>
              </a:ext>
            </a:extLst>
          </p:cNvPr>
          <p:cNvCxnSpPr/>
          <p:nvPr/>
        </p:nvCxnSpPr>
        <p:spPr>
          <a:xfrm>
            <a:off x="3721100" y="3543300"/>
            <a:ext cx="3810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A238AEC0-7D78-0084-5A64-593500D94F26}"/>
              </a:ext>
            </a:extLst>
          </p:cNvPr>
          <p:cNvSpPr/>
          <p:nvPr/>
        </p:nvSpPr>
        <p:spPr>
          <a:xfrm>
            <a:off x="4241800" y="2603500"/>
            <a:ext cx="3492500" cy="18796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8FF8B599-A089-0C47-96B1-F0367B1710CC}"/>
              </a:ext>
            </a:extLst>
          </p:cNvPr>
          <p:cNvCxnSpPr/>
          <p:nvPr/>
        </p:nvCxnSpPr>
        <p:spPr>
          <a:xfrm flipV="1">
            <a:off x="4432300" y="2895600"/>
            <a:ext cx="558800" cy="12954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B95F287-8632-EA6D-0B09-BD12752BF370}"/>
              </a:ext>
            </a:extLst>
          </p:cNvPr>
          <p:cNvCxnSpPr/>
          <p:nvPr/>
        </p:nvCxnSpPr>
        <p:spPr>
          <a:xfrm flipV="1">
            <a:off x="4800600" y="2895600"/>
            <a:ext cx="622300" cy="12954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FD23C78-6A82-51C8-E5C2-12E1A071E758}"/>
              </a:ext>
            </a:extLst>
          </p:cNvPr>
          <p:cNvCxnSpPr/>
          <p:nvPr/>
        </p:nvCxnSpPr>
        <p:spPr>
          <a:xfrm flipV="1">
            <a:off x="5168900" y="2895600"/>
            <a:ext cx="685800" cy="12954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96967EF-ADEE-A063-F109-FF01A7747238}"/>
              </a:ext>
            </a:extLst>
          </p:cNvPr>
          <p:cNvCxnSpPr/>
          <p:nvPr/>
        </p:nvCxnSpPr>
        <p:spPr>
          <a:xfrm flipV="1">
            <a:off x="5537200" y="2895600"/>
            <a:ext cx="749300" cy="12954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B9B98B5-5A33-4E92-09EB-68D7B63CD3FD}"/>
              </a:ext>
            </a:extLst>
          </p:cNvPr>
          <p:cNvCxnSpPr/>
          <p:nvPr/>
        </p:nvCxnSpPr>
        <p:spPr>
          <a:xfrm flipV="1">
            <a:off x="5905500" y="2895600"/>
            <a:ext cx="812800" cy="12954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D42083F-BEAB-BACC-3370-CD75ED15DBEA}"/>
              </a:ext>
            </a:extLst>
          </p:cNvPr>
          <p:cNvCxnSpPr/>
          <p:nvPr/>
        </p:nvCxnSpPr>
        <p:spPr>
          <a:xfrm flipV="1">
            <a:off x="6273800" y="2895600"/>
            <a:ext cx="876300" cy="12954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1261764-B1F1-E0B7-776C-75722C4C6AD9}"/>
              </a:ext>
            </a:extLst>
          </p:cNvPr>
          <p:cNvCxnSpPr/>
          <p:nvPr/>
        </p:nvCxnSpPr>
        <p:spPr>
          <a:xfrm>
            <a:off x="4432300" y="4191000"/>
            <a:ext cx="1841500" cy="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3A6433CA-1920-ACC7-30D4-465CFC4A8B02}"/>
              </a:ext>
            </a:extLst>
          </p:cNvPr>
          <p:cNvCxnSpPr/>
          <p:nvPr/>
        </p:nvCxnSpPr>
        <p:spPr>
          <a:xfrm>
            <a:off x="4572000" y="3867150"/>
            <a:ext cx="1905000" cy="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CCEB511-5B0F-36F3-4CEC-C645201F96D8}"/>
              </a:ext>
            </a:extLst>
          </p:cNvPr>
          <p:cNvCxnSpPr/>
          <p:nvPr/>
        </p:nvCxnSpPr>
        <p:spPr>
          <a:xfrm>
            <a:off x="4711700" y="3543300"/>
            <a:ext cx="1968500" cy="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E42D17EB-2A5E-E7DD-49AC-6DE6DBA62603}"/>
              </a:ext>
            </a:extLst>
          </p:cNvPr>
          <p:cNvCxnSpPr/>
          <p:nvPr/>
        </p:nvCxnSpPr>
        <p:spPr>
          <a:xfrm>
            <a:off x="4851400" y="3219450"/>
            <a:ext cx="2032000" cy="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67534BB-5427-4FFE-60DC-24F36DAF21E8}"/>
              </a:ext>
            </a:extLst>
          </p:cNvPr>
          <p:cNvCxnSpPr/>
          <p:nvPr/>
        </p:nvCxnSpPr>
        <p:spPr>
          <a:xfrm>
            <a:off x="4991100" y="2895600"/>
            <a:ext cx="2095500" cy="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12CD8EF-64BC-1E04-36A8-154426356BA2}"/>
              </a:ext>
            </a:extLst>
          </p:cNvPr>
          <p:cNvCxnSpPr/>
          <p:nvPr/>
        </p:nvCxnSpPr>
        <p:spPr>
          <a:xfrm flipV="1">
            <a:off x="4686300" y="3479800"/>
            <a:ext cx="736600" cy="457200"/>
          </a:xfrm>
          <a:prstGeom prst="line">
            <a:avLst/>
          </a:prstGeom>
          <a:ln w="254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DF50A3B3-0DC3-D172-051A-B8FA6D8F87AC}"/>
              </a:ext>
            </a:extLst>
          </p:cNvPr>
          <p:cNvCxnSpPr/>
          <p:nvPr/>
        </p:nvCxnSpPr>
        <p:spPr>
          <a:xfrm>
            <a:off x="5422900" y="3479800"/>
            <a:ext cx="635000" cy="317500"/>
          </a:xfrm>
          <a:prstGeom prst="line">
            <a:avLst/>
          </a:prstGeom>
          <a:ln w="2540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D8FBC5F-41F3-CC69-54BF-E7F7D666EB22}"/>
              </a:ext>
            </a:extLst>
          </p:cNvPr>
          <p:cNvCxnSpPr/>
          <p:nvPr/>
        </p:nvCxnSpPr>
        <p:spPr>
          <a:xfrm flipV="1">
            <a:off x="6057900" y="3175000"/>
            <a:ext cx="1104900" cy="6223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FA1A3949-867D-5E4B-2756-869BC38DB68E}"/>
              </a:ext>
            </a:extLst>
          </p:cNvPr>
          <p:cNvSpPr/>
          <p:nvPr/>
        </p:nvSpPr>
        <p:spPr>
          <a:xfrm>
            <a:off x="4635500" y="3886200"/>
            <a:ext cx="101600" cy="1016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89654C-5595-B9B7-1D56-DFA35DBBDB4B}"/>
              </a:ext>
            </a:extLst>
          </p:cNvPr>
          <p:cNvSpPr/>
          <p:nvPr/>
        </p:nvSpPr>
        <p:spPr>
          <a:xfrm>
            <a:off x="5372100" y="3429000"/>
            <a:ext cx="101600" cy="1016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53A72DD8-1C76-49DF-5BFA-EF83933CE3CA}"/>
              </a:ext>
            </a:extLst>
          </p:cNvPr>
          <p:cNvSpPr/>
          <p:nvPr/>
        </p:nvSpPr>
        <p:spPr>
          <a:xfrm>
            <a:off x="6007100" y="3746500"/>
            <a:ext cx="101600" cy="1016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5FC1AD2E-2941-D357-80BC-B7F9477C571B}"/>
              </a:ext>
            </a:extLst>
          </p:cNvPr>
          <p:cNvSpPr/>
          <p:nvPr/>
        </p:nvSpPr>
        <p:spPr>
          <a:xfrm>
            <a:off x="7112000" y="3124200"/>
            <a:ext cx="101600" cy="1016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CD2A7F36-26B9-B9A6-CFBD-AA2CBF4BC0DE}"/>
              </a:ext>
            </a:extLst>
          </p:cNvPr>
          <p:cNvCxnSpPr/>
          <p:nvPr/>
        </p:nvCxnSpPr>
        <p:spPr>
          <a:xfrm flipV="1">
            <a:off x="6261100" y="3162300"/>
            <a:ext cx="0" cy="571500"/>
          </a:xfrm>
          <a:prstGeom prst="line">
            <a:avLst/>
          </a:prstGeom>
          <a:ln w="25400">
            <a:solidFill>
              <a:srgbClr val="9CA593"/>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A3D50FF-63C1-9CA4-D7DF-1CDC250C1FB7}"/>
              </a:ext>
            </a:extLst>
          </p:cNvPr>
          <p:cNvCxnSpPr/>
          <p:nvPr/>
        </p:nvCxnSpPr>
        <p:spPr>
          <a:xfrm flipH="1" flipV="1">
            <a:off x="6115812" y="2910332"/>
            <a:ext cx="145288" cy="112268"/>
          </a:xfrm>
          <a:prstGeom prst="line">
            <a:avLst/>
          </a:prstGeom>
          <a:ln w="33020">
            <a:solidFill>
              <a:srgbClr val="EFF1E9"/>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017488E4-5946-4577-7A1B-3DC2338ACFAB}"/>
              </a:ext>
            </a:extLst>
          </p:cNvPr>
          <p:cNvSpPr/>
          <p:nvPr/>
        </p:nvSpPr>
        <p:spPr>
          <a:xfrm>
            <a:off x="6036564" y="2831084"/>
            <a:ext cx="158496" cy="158496"/>
          </a:xfrm>
          <a:prstGeom prst="ellipse">
            <a:avLst/>
          </a:prstGeom>
          <a:noFill/>
          <a:ln w="13208"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D9D66BEE-D395-31DB-ECA6-D93254AED5F3}"/>
              </a:ext>
            </a:extLst>
          </p:cNvPr>
          <p:cNvCxnSpPr/>
          <p:nvPr/>
        </p:nvCxnSpPr>
        <p:spPr>
          <a:xfrm>
            <a:off x="6062980" y="2910332"/>
            <a:ext cx="105664"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9F9A09E-0CC2-0E17-94AC-34374B43A8CC}"/>
              </a:ext>
            </a:extLst>
          </p:cNvPr>
          <p:cNvCxnSpPr/>
          <p:nvPr/>
        </p:nvCxnSpPr>
        <p:spPr>
          <a:xfrm flipV="1">
            <a:off x="6261100" y="2910332"/>
            <a:ext cx="145288" cy="112268"/>
          </a:xfrm>
          <a:prstGeom prst="line">
            <a:avLst/>
          </a:prstGeom>
          <a:ln w="33020">
            <a:solidFill>
              <a:srgbClr val="EFF1E9"/>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9E336EC1-E497-9EE0-C413-38BC53BAE106}"/>
              </a:ext>
            </a:extLst>
          </p:cNvPr>
          <p:cNvSpPr/>
          <p:nvPr/>
        </p:nvSpPr>
        <p:spPr>
          <a:xfrm>
            <a:off x="6327140" y="2831084"/>
            <a:ext cx="158496" cy="158496"/>
          </a:xfrm>
          <a:prstGeom prst="ellipse">
            <a:avLst/>
          </a:prstGeom>
          <a:noFill/>
          <a:ln w="13208"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EEDB5652-A104-A65D-47FA-2782CAE9581A}"/>
              </a:ext>
            </a:extLst>
          </p:cNvPr>
          <p:cNvCxnSpPr/>
          <p:nvPr/>
        </p:nvCxnSpPr>
        <p:spPr>
          <a:xfrm>
            <a:off x="6353556" y="2910332"/>
            <a:ext cx="105664"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1BFC348-2D53-0BFB-E0EA-4815EE97B6C8}"/>
              </a:ext>
            </a:extLst>
          </p:cNvPr>
          <p:cNvCxnSpPr/>
          <p:nvPr/>
        </p:nvCxnSpPr>
        <p:spPr>
          <a:xfrm flipH="1">
            <a:off x="6115812" y="3022600"/>
            <a:ext cx="145288" cy="112268"/>
          </a:xfrm>
          <a:prstGeom prst="line">
            <a:avLst/>
          </a:prstGeom>
          <a:ln w="33020">
            <a:solidFill>
              <a:srgbClr val="EFF1E9"/>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048BBBE1-4539-7EC8-478D-A97A2386081C}"/>
              </a:ext>
            </a:extLst>
          </p:cNvPr>
          <p:cNvSpPr/>
          <p:nvPr/>
        </p:nvSpPr>
        <p:spPr>
          <a:xfrm>
            <a:off x="6036564" y="3055620"/>
            <a:ext cx="158496" cy="158496"/>
          </a:xfrm>
          <a:prstGeom prst="ellipse">
            <a:avLst/>
          </a:prstGeom>
          <a:noFill/>
          <a:ln w="13208"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A52E6066-CA05-1F62-D976-415F0F589995}"/>
              </a:ext>
            </a:extLst>
          </p:cNvPr>
          <p:cNvCxnSpPr/>
          <p:nvPr/>
        </p:nvCxnSpPr>
        <p:spPr>
          <a:xfrm>
            <a:off x="6062980" y="3134868"/>
            <a:ext cx="105664"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1B7F71C-86FD-3F94-7356-2D3F495B6FB4}"/>
              </a:ext>
            </a:extLst>
          </p:cNvPr>
          <p:cNvCxnSpPr/>
          <p:nvPr/>
        </p:nvCxnSpPr>
        <p:spPr>
          <a:xfrm>
            <a:off x="6261100" y="3022600"/>
            <a:ext cx="145288" cy="112268"/>
          </a:xfrm>
          <a:prstGeom prst="line">
            <a:avLst/>
          </a:prstGeom>
          <a:ln w="33020">
            <a:solidFill>
              <a:srgbClr val="EFF1E9"/>
            </a:solidFill>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69163C09-2E15-08E5-A991-C8E012970403}"/>
              </a:ext>
            </a:extLst>
          </p:cNvPr>
          <p:cNvSpPr/>
          <p:nvPr/>
        </p:nvSpPr>
        <p:spPr>
          <a:xfrm>
            <a:off x="6327140" y="3055620"/>
            <a:ext cx="158496" cy="158496"/>
          </a:xfrm>
          <a:prstGeom prst="ellipse">
            <a:avLst/>
          </a:prstGeom>
          <a:noFill/>
          <a:ln w="13208"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07E57F4E-AC47-B669-675D-4FE75694E8B2}"/>
              </a:ext>
            </a:extLst>
          </p:cNvPr>
          <p:cNvCxnSpPr/>
          <p:nvPr/>
        </p:nvCxnSpPr>
        <p:spPr>
          <a:xfrm>
            <a:off x="6353556" y="3134868"/>
            <a:ext cx="105664"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63" name="Rectangle: Rounded Corners 62">
            <a:extLst>
              <a:ext uri="{FF2B5EF4-FFF2-40B4-BE49-F238E27FC236}">
                <a16:creationId xmlns:a16="http://schemas.microsoft.com/office/drawing/2014/main" id="{B944F59D-83E0-DC0F-99F8-2B698CFD8496}"/>
              </a:ext>
            </a:extLst>
          </p:cNvPr>
          <p:cNvSpPr/>
          <p:nvPr/>
        </p:nvSpPr>
        <p:spPr>
          <a:xfrm>
            <a:off x="6201664" y="2916936"/>
            <a:ext cx="118872" cy="211328"/>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3B8D17D5-C6FF-BCD2-89F7-22D53958F337}"/>
              </a:ext>
            </a:extLst>
          </p:cNvPr>
          <p:cNvSpPr/>
          <p:nvPr/>
        </p:nvSpPr>
        <p:spPr>
          <a:xfrm>
            <a:off x="6241288" y="2956560"/>
            <a:ext cx="39624" cy="39624"/>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4155188D-0DDB-A49C-5195-113D462AC942}"/>
              </a:ext>
            </a:extLst>
          </p:cNvPr>
          <p:cNvSpPr txBox="1"/>
          <p:nvPr/>
        </p:nvSpPr>
        <p:spPr>
          <a:xfrm>
            <a:off x="4241800" y="4648200"/>
            <a:ext cx="3594100" cy="292388"/>
          </a:xfrm>
          <a:prstGeom prst="rect">
            <a:avLst/>
          </a:prstGeom>
          <a:noFill/>
        </p:spPr>
        <p:txBody>
          <a:bodyPr vert="horz" wrap="square" lIns="0" tIns="0" rIns="0" bIns="0" rtlCol="0">
            <a:spAutoFit/>
          </a:bodyPr>
          <a:lstStyle/>
          <a:p>
            <a:r>
              <a:rPr lang="en-US" sz="1900" b="1">
                <a:solidFill>
                  <a:srgbClr val="EFF1E9"/>
                </a:solidFill>
                <a:latin typeface="Aptos" panose="020B0004020202020204" pitchFamily="34" charset="0"/>
              </a:rPr>
              <a:t>02  VISUALIZE IN 3D</a:t>
            </a:r>
          </a:p>
        </p:txBody>
      </p:sp>
      <p:sp>
        <p:nvSpPr>
          <p:cNvPr id="66" name="TextBox 65">
            <a:extLst>
              <a:ext uri="{FF2B5EF4-FFF2-40B4-BE49-F238E27FC236}">
                <a16:creationId xmlns:a16="http://schemas.microsoft.com/office/drawing/2014/main" id="{B49CD456-E55B-0AB0-1D8E-E25B7469803B}"/>
              </a:ext>
            </a:extLst>
          </p:cNvPr>
          <p:cNvSpPr txBox="1"/>
          <p:nvPr/>
        </p:nvSpPr>
        <p:spPr>
          <a:xfrm>
            <a:off x="4241800" y="5016500"/>
            <a:ext cx="3606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See the mission in a virtual world.</a:t>
            </a:r>
          </a:p>
        </p:txBody>
      </p:sp>
      <p:sp>
        <p:nvSpPr>
          <p:cNvPr id="67" name="Rectangle 66">
            <a:extLst>
              <a:ext uri="{FF2B5EF4-FFF2-40B4-BE49-F238E27FC236}">
                <a16:creationId xmlns:a16="http://schemas.microsoft.com/office/drawing/2014/main" id="{F802A8B1-0976-0329-22F3-39A7EB8917C0}"/>
              </a:ext>
            </a:extLst>
          </p:cNvPr>
          <p:cNvSpPr/>
          <p:nvPr/>
        </p:nvSpPr>
        <p:spPr>
          <a:xfrm>
            <a:off x="8445500" y="2603500"/>
            <a:ext cx="3175000" cy="1879600"/>
          </a:xfrm>
          <a:prstGeom prst="rect">
            <a:avLst/>
          </a:prstGeom>
          <a:solidFill>
            <a:srgbClr val="1820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2EFF3B23-5069-0977-E11C-F9EA8872E395}"/>
              </a:ext>
            </a:extLst>
          </p:cNvPr>
          <p:cNvSpPr/>
          <p:nvPr/>
        </p:nvSpPr>
        <p:spPr>
          <a:xfrm>
            <a:off x="8864600" y="3513328"/>
            <a:ext cx="327660" cy="349504"/>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23146B87-E2C4-643D-56A9-C4B18586B3D6}"/>
              </a:ext>
            </a:extLst>
          </p:cNvPr>
          <p:cNvCxnSpPr/>
          <p:nvPr/>
        </p:nvCxnSpPr>
        <p:spPr>
          <a:xfrm flipV="1">
            <a:off x="8897366" y="3338576"/>
            <a:ext cx="0" cy="240284"/>
          </a:xfrm>
          <a:prstGeom prst="line">
            <a:avLst/>
          </a:prstGeom>
          <a:ln w="546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ECAE2A96-AF7A-90EF-AE00-0F160D0372E0}"/>
              </a:ext>
            </a:extLst>
          </p:cNvPr>
          <p:cNvCxnSpPr/>
          <p:nvPr/>
        </p:nvCxnSpPr>
        <p:spPr>
          <a:xfrm flipV="1">
            <a:off x="8984742" y="3265051"/>
            <a:ext cx="0" cy="313809"/>
          </a:xfrm>
          <a:prstGeom prst="line">
            <a:avLst/>
          </a:prstGeom>
          <a:ln w="546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D29A6FB0-F1F6-35CE-A3D7-555F405AC312}"/>
              </a:ext>
            </a:extLst>
          </p:cNvPr>
          <p:cNvCxnSpPr/>
          <p:nvPr/>
        </p:nvCxnSpPr>
        <p:spPr>
          <a:xfrm flipV="1">
            <a:off x="9072118" y="3259125"/>
            <a:ext cx="0" cy="319735"/>
          </a:xfrm>
          <a:prstGeom prst="line">
            <a:avLst/>
          </a:prstGeom>
          <a:ln w="546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5FF6D771-CA9B-1795-CCA8-B731D5AA2316}"/>
              </a:ext>
            </a:extLst>
          </p:cNvPr>
          <p:cNvCxnSpPr/>
          <p:nvPr/>
        </p:nvCxnSpPr>
        <p:spPr>
          <a:xfrm flipV="1">
            <a:off x="9159494" y="3326245"/>
            <a:ext cx="0" cy="252615"/>
          </a:xfrm>
          <a:prstGeom prst="line">
            <a:avLst/>
          </a:prstGeom>
          <a:ln w="54610">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6F1A5326-3786-FDC1-D48B-AAA9C4A23911}"/>
              </a:ext>
            </a:extLst>
          </p:cNvPr>
          <p:cNvCxnSpPr/>
          <p:nvPr/>
        </p:nvCxnSpPr>
        <p:spPr>
          <a:xfrm flipH="1" flipV="1">
            <a:off x="8755380" y="3524250"/>
            <a:ext cx="141986" cy="196596"/>
          </a:xfrm>
          <a:prstGeom prst="line">
            <a:avLst/>
          </a:prstGeom>
          <a:ln w="65532">
            <a:solidFill>
              <a:srgbClr val="B4EF74"/>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DAC15B4D-C944-67E0-3F7A-FA15050C261D}"/>
              </a:ext>
            </a:extLst>
          </p:cNvPr>
          <p:cNvSpPr/>
          <p:nvPr/>
        </p:nvSpPr>
        <p:spPr>
          <a:xfrm>
            <a:off x="10838561" y="3514344"/>
            <a:ext cx="90678" cy="90678"/>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728C88F9-6F1A-8111-CA89-1D7D60169F56}"/>
              </a:ext>
            </a:extLst>
          </p:cNvPr>
          <p:cNvSpPr/>
          <p:nvPr/>
        </p:nvSpPr>
        <p:spPr>
          <a:xfrm>
            <a:off x="10819130" y="3630930"/>
            <a:ext cx="129540" cy="207264"/>
          </a:xfrm>
          <a:prstGeom prst="roundRect">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a:extLst>
              <a:ext uri="{FF2B5EF4-FFF2-40B4-BE49-F238E27FC236}">
                <a16:creationId xmlns:a16="http://schemas.microsoft.com/office/drawing/2014/main" id="{EECB8466-07F9-5D5A-6491-D99F5E242C18}"/>
              </a:ext>
            </a:extLst>
          </p:cNvPr>
          <p:cNvCxnSpPr/>
          <p:nvPr/>
        </p:nvCxnSpPr>
        <p:spPr>
          <a:xfrm flipH="1">
            <a:off x="10819130" y="3818763"/>
            <a:ext cx="19431" cy="136017"/>
          </a:xfrm>
          <a:prstGeom prst="line">
            <a:avLst/>
          </a:prstGeom>
          <a:ln w="3238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4458761E-32E3-7171-ACCA-206E6E2CDC46}"/>
              </a:ext>
            </a:extLst>
          </p:cNvPr>
          <p:cNvCxnSpPr/>
          <p:nvPr/>
        </p:nvCxnSpPr>
        <p:spPr>
          <a:xfrm>
            <a:off x="10929239" y="3818763"/>
            <a:ext cx="19431" cy="136017"/>
          </a:xfrm>
          <a:prstGeom prst="line">
            <a:avLst/>
          </a:prstGeom>
          <a:ln w="3238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5B7B609A-9067-1A5C-585A-629F3812CED6}"/>
              </a:ext>
            </a:extLst>
          </p:cNvPr>
          <p:cNvCxnSpPr/>
          <p:nvPr/>
        </p:nvCxnSpPr>
        <p:spPr>
          <a:xfrm flipH="1">
            <a:off x="10741406" y="3676269"/>
            <a:ext cx="97155" cy="77724"/>
          </a:xfrm>
          <a:prstGeom prst="line">
            <a:avLst/>
          </a:prstGeom>
          <a:ln w="3238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C9878893-5DCE-E9C1-3BD2-D8AE7D66CCB5}"/>
              </a:ext>
            </a:extLst>
          </p:cNvPr>
          <p:cNvCxnSpPr/>
          <p:nvPr/>
        </p:nvCxnSpPr>
        <p:spPr>
          <a:xfrm flipV="1">
            <a:off x="10929239" y="3553206"/>
            <a:ext cx="103632" cy="123063"/>
          </a:xfrm>
          <a:prstGeom prst="line">
            <a:avLst/>
          </a:prstGeom>
          <a:ln w="32385">
            <a:solidFill>
              <a:srgbClr val="B4EF74"/>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A2F7B4EF-C01A-5427-033A-5A986646A49C}"/>
              </a:ext>
            </a:extLst>
          </p:cNvPr>
          <p:cNvCxnSpPr/>
          <p:nvPr/>
        </p:nvCxnSpPr>
        <p:spPr>
          <a:xfrm flipH="1" flipV="1">
            <a:off x="10519664" y="2914904"/>
            <a:ext cx="122936" cy="94996"/>
          </a:xfrm>
          <a:prstGeom prst="line">
            <a:avLst/>
          </a:prstGeom>
          <a:ln w="27940">
            <a:solidFill>
              <a:srgbClr val="EFF1E9"/>
            </a:solidFill>
          </a:ln>
        </p:spPr>
        <p:style>
          <a:lnRef idx="2">
            <a:schemeClr val="accent1"/>
          </a:lnRef>
          <a:fillRef idx="0">
            <a:schemeClr val="accent1"/>
          </a:fillRef>
          <a:effectRef idx="1">
            <a:schemeClr val="accent1"/>
          </a:effectRef>
          <a:fontRef idx="minor">
            <a:schemeClr val="tx1"/>
          </a:fontRef>
        </p:style>
      </p:cxnSp>
      <p:sp>
        <p:nvSpPr>
          <p:cNvPr id="81" name="Oval 80">
            <a:extLst>
              <a:ext uri="{FF2B5EF4-FFF2-40B4-BE49-F238E27FC236}">
                <a16:creationId xmlns:a16="http://schemas.microsoft.com/office/drawing/2014/main" id="{633B241C-C5CA-D214-DB8D-109534480638}"/>
              </a:ext>
            </a:extLst>
          </p:cNvPr>
          <p:cNvSpPr/>
          <p:nvPr/>
        </p:nvSpPr>
        <p:spPr>
          <a:xfrm>
            <a:off x="10452608" y="2847848"/>
            <a:ext cx="134112" cy="134112"/>
          </a:xfrm>
          <a:prstGeom prst="ellipse">
            <a:avLst/>
          </a:prstGeom>
          <a:noFill/>
          <a:ln w="1117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4297A27C-0900-92FB-31C9-5E0C39AFE274}"/>
              </a:ext>
            </a:extLst>
          </p:cNvPr>
          <p:cNvCxnSpPr/>
          <p:nvPr/>
        </p:nvCxnSpPr>
        <p:spPr>
          <a:xfrm>
            <a:off x="10474960" y="2914904"/>
            <a:ext cx="8940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93154FF9-9EF3-4CE1-7327-2C29FDEE9695}"/>
              </a:ext>
            </a:extLst>
          </p:cNvPr>
          <p:cNvCxnSpPr/>
          <p:nvPr/>
        </p:nvCxnSpPr>
        <p:spPr>
          <a:xfrm flipV="1">
            <a:off x="10642600" y="2914904"/>
            <a:ext cx="122936" cy="94996"/>
          </a:xfrm>
          <a:prstGeom prst="line">
            <a:avLst/>
          </a:prstGeom>
          <a:ln w="27940">
            <a:solidFill>
              <a:srgbClr val="EFF1E9"/>
            </a:solidFill>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AC1D7190-A374-6B1B-E4EB-A783ADAF83CB}"/>
              </a:ext>
            </a:extLst>
          </p:cNvPr>
          <p:cNvSpPr/>
          <p:nvPr/>
        </p:nvSpPr>
        <p:spPr>
          <a:xfrm>
            <a:off x="10698480" y="2847848"/>
            <a:ext cx="134112" cy="134112"/>
          </a:xfrm>
          <a:prstGeom prst="ellipse">
            <a:avLst/>
          </a:prstGeom>
          <a:noFill/>
          <a:ln w="1117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CE82CAAB-061B-581D-4F95-F2C36C9FE17C}"/>
              </a:ext>
            </a:extLst>
          </p:cNvPr>
          <p:cNvCxnSpPr/>
          <p:nvPr/>
        </p:nvCxnSpPr>
        <p:spPr>
          <a:xfrm>
            <a:off x="10720832" y="2914904"/>
            <a:ext cx="8940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527DC4C-84FB-9154-155A-25CE56B5062D}"/>
              </a:ext>
            </a:extLst>
          </p:cNvPr>
          <p:cNvCxnSpPr/>
          <p:nvPr/>
        </p:nvCxnSpPr>
        <p:spPr>
          <a:xfrm flipH="1">
            <a:off x="10519664" y="3009900"/>
            <a:ext cx="122936" cy="94996"/>
          </a:xfrm>
          <a:prstGeom prst="line">
            <a:avLst/>
          </a:prstGeom>
          <a:ln w="27940">
            <a:solidFill>
              <a:srgbClr val="EFF1E9"/>
            </a:solidFill>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7702B6C6-F3C3-D83C-BB82-35007F2CE35F}"/>
              </a:ext>
            </a:extLst>
          </p:cNvPr>
          <p:cNvSpPr/>
          <p:nvPr/>
        </p:nvSpPr>
        <p:spPr>
          <a:xfrm>
            <a:off x="10452608" y="3037840"/>
            <a:ext cx="134112" cy="134112"/>
          </a:xfrm>
          <a:prstGeom prst="ellipse">
            <a:avLst/>
          </a:prstGeom>
          <a:noFill/>
          <a:ln w="1117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28ABE672-E313-2B84-E021-C69F29BFE7C8}"/>
              </a:ext>
            </a:extLst>
          </p:cNvPr>
          <p:cNvCxnSpPr/>
          <p:nvPr/>
        </p:nvCxnSpPr>
        <p:spPr>
          <a:xfrm>
            <a:off x="10474960" y="3104896"/>
            <a:ext cx="8940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DD8B3265-CD95-2DED-A61D-6B11AC56BE9E}"/>
              </a:ext>
            </a:extLst>
          </p:cNvPr>
          <p:cNvCxnSpPr/>
          <p:nvPr/>
        </p:nvCxnSpPr>
        <p:spPr>
          <a:xfrm>
            <a:off x="10642600" y="3009900"/>
            <a:ext cx="122936" cy="94996"/>
          </a:xfrm>
          <a:prstGeom prst="line">
            <a:avLst/>
          </a:prstGeom>
          <a:ln w="27940">
            <a:solidFill>
              <a:srgbClr val="EFF1E9"/>
            </a:solidFill>
          </a:ln>
        </p:spPr>
        <p:style>
          <a:lnRef idx="2">
            <a:schemeClr val="accent1"/>
          </a:lnRef>
          <a:fillRef idx="0">
            <a:schemeClr val="accent1"/>
          </a:fillRef>
          <a:effectRef idx="1">
            <a:schemeClr val="accent1"/>
          </a:effectRef>
          <a:fontRef idx="minor">
            <a:schemeClr val="tx1"/>
          </a:fontRef>
        </p:style>
      </p:cxnSp>
      <p:sp>
        <p:nvSpPr>
          <p:cNvPr id="90" name="Oval 89">
            <a:extLst>
              <a:ext uri="{FF2B5EF4-FFF2-40B4-BE49-F238E27FC236}">
                <a16:creationId xmlns:a16="http://schemas.microsoft.com/office/drawing/2014/main" id="{A4541F37-6839-89DA-7638-66E072AEC6A8}"/>
              </a:ext>
            </a:extLst>
          </p:cNvPr>
          <p:cNvSpPr/>
          <p:nvPr/>
        </p:nvSpPr>
        <p:spPr>
          <a:xfrm>
            <a:off x="10698480" y="3037840"/>
            <a:ext cx="134112" cy="134112"/>
          </a:xfrm>
          <a:prstGeom prst="ellipse">
            <a:avLst/>
          </a:prstGeom>
          <a:noFill/>
          <a:ln w="11176" cap="flat" cmpd="sng" algn="ctr">
            <a:solidFill>
              <a:srgbClr val="EFF1E9"/>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5E0ADBC8-4918-B532-D9D1-6104AFF9CE4C}"/>
              </a:ext>
            </a:extLst>
          </p:cNvPr>
          <p:cNvCxnSpPr/>
          <p:nvPr/>
        </p:nvCxnSpPr>
        <p:spPr>
          <a:xfrm>
            <a:off x="10720832" y="3104896"/>
            <a:ext cx="89408" cy="0"/>
          </a:xfrm>
          <a:prstGeom prst="line">
            <a:avLst/>
          </a:prstGeom>
          <a:ln w="25400">
            <a:solidFill>
              <a:srgbClr val="EFF1E9"/>
            </a:solidFill>
          </a:ln>
        </p:spPr>
        <p:style>
          <a:lnRef idx="2">
            <a:schemeClr val="accent1"/>
          </a:lnRef>
          <a:fillRef idx="0">
            <a:schemeClr val="accent1"/>
          </a:fillRef>
          <a:effectRef idx="1">
            <a:schemeClr val="accent1"/>
          </a:effectRef>
          <a:fontRef idx="minor">
            <a:schemeClr val="tx1"/>
          </a:fontRef>
        </p:style>
      </p:cxnSp>
      <p:sp>
        <p:nvSpPr>
          <p:cNvPr id="92" name="Rectangle: Rounded Corners 91">
            <a:extLst>
              <a:ext uri="{FF2B5EF4-FFF2-40B4-BE49-F238E27FC236}">
                <a16:creationId xmlns:a16="http://schemas.microsoft.com/office/drawing/2014/main" id="{8BFC9342-70F8-E0CD-D6C2-C0C6E188B01C}"/>
              </a:ext>
            </a:extLst>
          </p:cNvPr>
          <p:cNvSpPr/>
          <p:nvPr/>
        </p:nvSpPr>
        <p:spPr>
          <a:xfrm>
            <a:off x="10592308" y="2920492"/>
            <a:ext cx="100584" cy="178816"/>
          </a:xfrm>
          <a:prstGeom prst="roundRect">
            <a:avLst/>
          </a:prstGeom>
          <a:solidFill>
            <a:srgbClr val="EFF1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6711B4A9-A04F-7A1C-74E9-977EFD143A3E}"/>
              </a:ext>
            </a:extLst>
          </p:cNvPr>
          <p:cNvSpPr/>
          <p:nvPr/>
        </p:nvSpPr>
        <p:spPr>
          <a:xfrm>
            <a:off x="10625836" y="2954020"/>
            <a:ext cx="33528" cy="33528"/>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98624649-78C0-C346-54CC-266D6B7F0579}"/>
              </a:ext>
            </a:extLst>
          </p:cNvPr>
          <p:cNvCxnSpPr/>
          <p:nvPr/>
        </p:nvCxnSpPr>
        <p:spPr>
          <a:xfrm flipV="1">
            <a:off x="9499600" y="3162300"/>
            <a:ext cx="711200" cy="31750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AC43F351-F3EF-3179-D8A2-30F6057ECFFA}"/>
              </a:ext>
            </a:extLst>
          </p:cNvPr>
          <p:cNvCxnSpPr/>
          <p:nvPr/>
        </p:nvCxnSpPr>
        <p:spPr>
          <a:xfrm flipH="1">
            <a:off x="7810500" y="3543300"/>
            <a:ext cx="5715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B80273C6-6DBD-8BD3-33B1-2E8D5773B242}"/>
              </a:ext>
            </a:extLst>
          </p:cNvPr>
          <p:cNvSpPr txBox="1"/>
          <p:nvPr/>
        </p:nvSpPr>
        <p:spPr>
          <a:xfrm>
            <a:off x="8445500" y="4648200"/>
            <a:ext cx="3365500" cy="261610"/>
          </a:xfrm>
          <a:prstGeom prst="rect">
            <a:avLst/>
          </a:prstGeom>
          <a:noFill/>
        </p:spPr>
        <p:txBody>
          <a:bodyPr vert="horz" wrap="square" lIns="0" tIns="0" rIns="0" bIns="0" rtlCol="0">
            <a:spAutoFit/>
          </a:bodyPr>
          <a:lstStyle/>
          <a:p>
            <a:r>
              <a:rPr lang="en-US" sz="1700" b="1">
                <a:solidFill>
                  <a:srgbClr val="B4EF74"/>
                </a:solidFill>
                <a:latin typeface="Aptos" panose="020B0004020202020204" pitchFamily="34" charset="0"/>
              </a:rPr>
              <a:t>03  INTERRUPT BY GESTURE</a:t>
            </a:r>
          </a:p>
        </p:txBody>
      </p:sp>
      <p:sp>
        <p:nvSpPr>
          <p:cNvPr id="97" name="TextBox 96">
            <a:extLst>
              <a:ext uri="{FF2B5EF4-FFF2-40B4-BE49-F238E27FC236}">
                <a16:creationId xmlns:a16="http://schemas.microsoft.com/office/drawing/2014/main" id="{92AF69FA-CD33-7EE2-20ED-D5E8CA8AE671}"/>
              </a:ext>
            </a:extLst>
          </p:cNvPr>
          <p:cNvSpPr txBox="1"/>
          <p:nvPr/>
        </p:nvSpPr>
        <p:spPr>
          <a:xfrm>
            <a:off x="8445500" y="5016500"/>
            <a:ext cx="33655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Change drone behavior mid-flight.</a:t>
            </a:r>
          </a:p>
        </p:txBody>
      </p:sp>
      <p:sp>
        <p:nvSpPr>
          <p:cNvPr id="98" name="Rectangle 97">
            <a:extLst>
              <a:ext uri="{FF2B5EF4-FFF2-40B4-BE49-F238E27FC236}">
                <a16:creationId xmlns:a16="http://schemas.microsoft.com/office/drawing/2014/main" id="{CD2DCB1F-5137-8AAB-545B-06138087CD0E}"/>
              </a:ext>
            </a:extLst>
          </p:cNvPr>
          <p:cNvSpPr/>
          <p:nvPr/>
        </p:nvSpPr>
        <p:spPr>
          <a:xfrm>
            <a:off x="508000" y="5575300"/>
            <a:ext cx="11112500" cy="571500"/>
          </a:xfrm>
          <a:prstGeom prst="rect">
            <a:avLst/>
          </a:prstGeom>
          <a:solidFill>
            <a:srgbClr val="18201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A5C991AB-C4BD-0982-34C5-825595B78108}"/>
              </a:ext>
            </a:extLst>
          </p:cNvPr>
          <p:cNvSpPr txBox="1"/>
          <p:nvPr/>
        </p:nvSpPr>
        <p:spPr>
          <a:xfrm>
            <a:off x="698500" y="5689600"/>
            <a:ext cx="2451100" cy="169277"/>
          </a:xfrm>
          <a:prstGeom prst="rect">
            <a:avLst/>
          </a:prstGeom>
          <a:noFill/>
        </p:spPr>
        <p:txBody>
          <a:bodyPr vert="horz" wrap="square" lIns="0" tIns="0" rIns="0" bIns="0" rtlCol="0">
            <a:spAutoFit/>
          </a:bodyPr>
          <a:lstStyle/>
          <a:p>
            <a:r>
              <a:rPr lang="en-US" sz="1100" b="1">
                <a:solidFill>
                  <a:srgbClr val="B4EF74"/>
                </a:solidFill>
                <a:latin typeface="Aptos" panose="020B0004020202020204" pitchFamily="34" charset="0"/>
              </a:rPr>
              <a:t>POSSIBLE USE CASE</a:t>
            </a:r>
          </a:p>
        </p:txBody>
      </p:sp>
      <p:sp>
        <p:nvSpPr>
          <p:cNvPr id="100" name="TextBox 99">
            <a:extLst>
              <a:ext uri="{FF2B5EF4-FFF2-40B4-BE49-F238E27FC236}">
                <a16:creationId xmlns:a16="http://schemas.microsoft.com/office/drawing/2014/main" id="{E59650F8-48C7-7F71-5051-8E4719265E3D}"/>
              </a:ext>
            </a:extLst>
          </p:cNvPr>
          <p:cNvSpPr txBox="1"/>
          <p:nvPr/>
        </p:nvSpPr>
        <p:spPr>
          <a:xfrm>
            <a:off x="3048000" y="5715000"/>
            <a:ext cx="8382000" cy="276999"/>
          </a:xfrm>
          <a:prstGeom prst="rect">
            <a:avLst/>
          </a:prstGeom>
          <a:noFill/>
        </p:spPr>
        <p:txBody>
          <a:bodyPr vert="horz" wrap="square" lIns="0" tIns="0" rIns="0" bIns="0" rtlCol="0">
            <a:spAutoFit/>
          </a:bodyPr>
          <a:lstStyle/>
          <a:p>
            <a:r>
              <a:rPr lang="en-US" b="1">
                <a:solidFill>
                  <a:srgbClr val="EFF1E9"/>
                </a:solidFill>
                <a:latin typeface="Aptos" panose="020B0004020202020204" pitchFamily="34" charset="0"/>
              </a:rPr>
              <a:t>Send a drone between operators to provide overwatch.</a:t>
            </a:r>
          </a:p>
        </p:txBody>
      </p:sp>
    </p:spTree>
    <p:extLst>
      <p:ext uri="{BB962C8B-B14F-4D97-AF65-F5344CB8AC3E}">
        <p14:creationId xmlns:p14="http://schemas.microsoft.com/office/powerpoint/2010/main" val="1350387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9D7297-C6B3-B003-C2DB-06168B04A41B}"/>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C4648E99-6176-C2CD-1066-58EF2AAFDD0C}"/>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05 / VALIDATION &amp; DEPLOYMENT</a:t>
            </a:r>
          </a:p>
        </p:txBody>
      </p:sp>
      <p:sp>
        <p:nvSpPr>
          <p:cNvPr id="4" name="TextBox 3">
            <a:extLst>
              <a:ext uri="{FF2B5EF4-FFF2-40B4-BE49-F238E27FC236}">
                <a16:creationId xmlns:a16="http://schemas.microsoft.com/office/drawing/2014/main" id="{EF48882D-47DC-A330-5917-BC49D948FA1E}"/>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A working prototype. A testable path.</a:t>
            </a:r>
          </a:p>
        </p:txBody>
      </p:sp>
      <p:cxnSp>
        <p:nvCxnSpPr>
          <p:cNvPr id="5" name="Straight Connector 4">
            <a:extLst>
              <a:ext uri="{FF2B5EF4-FFF2-40B4-BE49-F238E27FC236}">
                <a16:creationId xmlns:a16="http://schemas.microsoft.com/office/drawing/2014/main" id="{A9B0131B-0046-22CE-A74F-6A221C398D20}"/>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59F5F7B-FD91-5753-5C92-1D126ECA6B10}"/>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DBE7C2FC-032C-7EA4-6769-236B938B953D}"/>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06</a:t>
            </a:r>
          </a:p>
        </p:txBody>
      </p:sp>
      <p:sp>
        <p:nvSpPr>
          <p:cNvPr id="8" name="TextBox 7">
            <a:extLst>
              <a:ext uri="{FF2B5EF4-FFF2-40B4-BE49-F238E27FC236}">
                <a16:creationId xmlns:a16="http://schemas.microsoft.com/office/drawing/2014/main" id="{47ED3005-5CE7-4692-1558-3FA590AEE534}"/>
              </a:ext>
            </a:extLst>
          </p:cNvPr>
          <p:cNvSpPr txBox="1"/>
          <p:nvPr/>
        </p:nvSpPr>
        <p:spPr>
          <a:xfrm>
            <a:off x="508000" y="2413000"/>
            <a:ext cx="4368800" cy="200055"/>
          </a:xfrm>
          <a:prstGeom prst="rect">
            <a:avLst/>
          </a:prstGeom>
          <a:noFill/>
        </p:spPr>
        <p:txBody>
          <a:bodyPr vert="horz" wrap="square" lIns="0" tIns="0" rIns="0" bIns="0" rtlCol="0">
            <a:spAutoFit/>
          </a:bodyPr>
          <a:lstStyle/>
          <a:p>
            <a:r>
              <a:rPr lang="en-US" sz="1300" b="1">
                <a:solidFill>
                  <a:srgbClr val="B4EF74"/>
                </a:solidFill>
                <a:latin typeface="Aptos" panose="020B0004020202020204" pitchFamily="34" charset="0"/>
              </a:rPr>
              <a:t>WORKS IN SIMULATION</a:t>
            </a:r>
          </a:p>
        </p:txBody>
      </p:sp>
      <p:sp>
        <p:nvSpPr>
          <p:cNvPr id="9" name="Oval 8">
            <a:extLst>
              <a:ext uri="{FF2B5EF4-FFF2-40B4-BE49-F238E27FC236}">
                <a16:creationId xmlns:a16="http://schemas.microsoft.com/office/drawing/2014/main" id="{FEC89631-06B9-C8ED-7D4F-A1BEE0C21537}"/>
              </a:ext>
            </a:extLst>
          </p:cNvPr>
          <p:cNvSpPr/>
          <p:nvPr/>
        </p:nvSpPr>
        <p:spPr>
          <a:xfrm>
            <a:off x="508000" y="3086100"/>
            <a:ext cx="114300" cy="1143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BE2FB7C-719D-1EE5-16FF-25F1766DCADC}"/>
              </a:ext>
            </a:extLst>
          </p:cNvPr>
          <p:cNvSpPr txBox="1"/>
          <p:nvPr/>
        </p:nvSpPr>
        <p:spPr>
          <a:xfrm>
            <a:off x="800100" y="3022600"/>
            <a:ext cx="1689100" cy="323165"/>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Stop</a:t>
            </a:r>
          </a:p>
        </p:txBody>
      </p:sp>
      <p:sp>
        <p:nvSpPr>
          <p:cNvPr id="11" name="TextBox 10">
            <a:extLst>
              <a:ext uri="{FF2B5EF4-FFF2-40B4-BE49-F238E27FC236}">
                <a16:creationId xmlns:a16="http://schemas.microsoft.com/office/drawing/2014/main" id="{F6C8B188-CDB6-08EB-D58E-702DBD7EC305}"/>
              </a:ext>
            </a:extLst>
          </p:cNvPr>
          <p:cNvSpPr txBox="1"/>
          <p:nvPr/>
        </p:nvSpPr>
        <p:spPr>
          <a:xfrm>
            <a:off x="800100" y="3390900"/>
            <a:ext cx="4495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Open-palm intervention</a:t>
            </a:r>
          </a:p>
        </p:txBody>
      </p:sp>
      <p:sp>
        <p:nvSpPr>
          <p:cNvPr id="12" name="Oval 11">
            <a:extLst>
              <a:ext uri="{FF2B5EF4-FFF2-40B4-BE49-F238E27FC236}">
                <a16:creationId xmlns:a16="http://schemas.microsoft.com/office/drawing/2014/main" id="{D1E77040-06C1-C39D-AF76-795941512899}"/>
              </a:ext>
            </a:extLst>
          </p:cNvPr>
          <p:cNvSpPr/>
          <p:nvPr/>
        </p:nvSpPr>
        <p:spPr>
          <a:xfrm>
            <a:off x="508000" y="3924300"/>
            <a:ext cx="114300" cy="1143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54D30A0-3566-466B-66A4-0E4E2734B434}"/>
              </a:ext>
            </a:extLst>
          </p:cNvPr>
          <p:cNvSpPr txBox="1"/>
          <p:nvPr/>
        </p:nvSpPr>
        <p:spPr>
          <a:xfrm>
            <a:off x="800100" y="3860800"/>
            <a:ext cx="1689100" cy="323165"/>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Continue</a:t>
            </a:r>
          </a:p>
        </p:txBody>
      </p:sp>
      <p:sp>
        <p:nvSpPr>
          <p:cNvPr id="14" name="TextBox 13">
            <a:extLst>
              <a:ext uri="{FF2B5EF4-FFF2-40B4-BE49-F238E27FC236}">
                <a16:creationId xmlns:a16="http://schemas.microsoft.com/office/drawing/2014/main" id="{3AF8AF1C-E3EF-178A-504D-4AB71263316B}"/>
              </a:ext>
            </a:extLst>
          </p:cNvPr>
          <p:cNvSpPr txBox="1"/>
          <p:nvPr/>
        </p:nvSpPr>
        <p:spPr>
          <a:xfrm>
            <a:off x="800100" y="4229100"/>
            <a:ext cx="4495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Assigned path or idle without a hand</a:t>
            </a:r>
          </a:p>
        </p:txBody>
      </p:sp>
      <p:sp>
        <p:nvSpPr>
          <p:cNvPr id="15" name="Oval 14">
            <a:extLst>
              <a:ext uri="{FF2B5EF4-FFF2-40B4-BE49-F238E27FC236}">
                <a16:creationId xmlns:a16="http://schemas.microsoft.com/office/drawing/2014/main" id="{7E93D0AB-B750-F5D2-86B6-872CC8280FF7}"/>
              </a:ext>
            </a:extLst>
          </p:cNvPr>
          <p:cNvSpPr/>
          <p:nvPr/>
        </p:nvSpPr>
        <p:spPr>
          <a:xfrm>
            <a:off x="508000" y="4762500"/>
            <a:ext cx="114300" cy="1143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F6EFE25-B82B-5E87-CEA3-0D932328A023}"/>
              </a:ext>
            </a:extLst>
          </p:cNvPr>
          <p:cNvSpPr txBox="1"/>
          <p:nvPr/>
        </p:nvSpPr>
        <p:spPr>
          <a:xfrm>
            <a:off x="800100" y="4699000"/>
            <a:ext cx="1689100" cy="323165"/>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Select</a:t>
            </a:r>
          </a:p>
        </p:txBody>
      </p:sp>
      <p:sp>
        <p:nvSpPr>
          <p:cNvPr id="17" name="TextBox 16">
            <a:extLst>
              <a:ext uri="{FF2B5EF4-FFF2-40B4-BE49-F238E27FC236}">
                <a16:creationId xmlns:a16="http://schemas.microsoft.com/office/drawing/2014/main" id="{AB7BAFF0-70E9-942E-4B77-1243DE9583E9}"/>
              </a:ext>
            </a:extLst>
          </p:cNvPr>
          <p:cNvSpPr txBox="1"/>
          <p:nvPr/>
        </p:nvSpPr>
        <p:spPr>
          <a:xfrm>
            <a:off x="800100" y="5067300"/>
            <a:ext cx="4495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Preference for the nearest operator</a:t>
            </a:r>
          </a:p>
        </p:txBody>
      </p:sp>
      <p:cxnSp>
        <p:nvCxnSpPr>
          <p:cNvPr id="18" name="Straight Connector 17">
            <a:extLst>
              <a:ext uri="{FF2B5EF4-FFF2-40B4-BE49-F238E27FC236}">
                <a16:creationId xmlns:a16="http://schemas.microsoft.com/office/drawing/2014/main" id="{395ACD94-40B2-D80B-16BA-78D0DC82A4AB}"/>
              </a:ext>
            </a:extLst>
          </p:cNvPr>
          <p:cNvCxnSpPr/>
          <p:nvPr/>
        </p:nvCxnSpPr>
        <p:spPr>
          <a:xfrm>
            <a:off x="5638800" y="2400300"/>
            <a:ext cx="0" cy="31750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DE98374-2F71-A093-8E24-5BCA3332EC17}"/>
              </a:ext>
            </a:extLst>
          </p:cNvPr>
          <p:cNvSpPr txBox="1"/>
          <p:nvPr/>
        </p:nvSpPr>
        <p:spPr>
          <a:xfrm>
            <a:off x="6172200" y="2413000"/>
            <a:ext cx="5422900" cy="200055"/>
          </a:xfrm>
          <a:prstGeom prst="rect">
            <a:avLst/>
          </a:prstGeom>
          <a:noFill/>
        </p:spPr>
        <p:txBody>
          <a:bodyPr vert="horz" wrap="square" lIns="0" tIns="0" rIns="0" bIns="0" rtlCol="0">
            <a:spAutoFit/>
          </a:bodyPr>
          <a:lstStyle/>
          <a:p>
            <a:r>
              <a:rPr lang="en-US" sz="1300" b="1">
                <a:solidFill>
                  <a:srgbClr val="B4EF74"/>
                </a:solidFill>
                <a:latin typeface="Aptos" panose="020B0004020202020204" pitchFamily="34" charset="0"/>
              </a:rPr>
              <a:t>NEXT VALIDATION GATES</a:t>
            </a:r>
          </a:p>
        </p:txBody>
      </p:sp>
      <p:cxnSp>
        <p:nvCxnSpPr>
          <p:cNvPr id="20" name="Straight Connector 19">
            <a:extLst>
              <a:ext uri="{FF2B5EF4-FFF2-40B4-BE49-F238E27FC236}">
                <a16:creationId xmlns:a16="http://schemas.microsoft.com/office/drawing/2014/main" id="{B5442394-CA21-1A0A-8420-7CE421BCF5E8}"/>
              </a:ext>
            </a:extLst>
          </p:cNvPr>
          <p:cNvCxnSpPr/>
          <p:nvPr/>
        </p:nvCxnSpPr>
        <p:spPr>
          <a:xfrm>
            <a:off x="6375400" y="3213100"/>
            <a:ext cx="0" cy="1778000"/>
          </a:xfrm>
          <a:prstGeom prst="line">
            <a:avLst/>
          </a:prstGeom>
          <a:ln w="25400">
            <a:solidFill>
              <a:srgbClr val="2C3427"/>
            </a:solidFill>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CA4BDBD5-0ED1-A9BB-FC7E-F5A3A8A8B3B2}"/>
              </a:ext>
            </a:extLst>
          </p:cNvPr>
          <p:cNvSpPr/>
          <p:nvPr/>
        </p:nvSpPr>
        <p:spPr>
          <a:xfrm>
            <a:off x="6210300" y="3035300"/>
            <a:ext cx="330200" cy="3302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36EE98E-B134-1CA8-FAD7-6CDB2FA395A0}"/>
              </a:ext>
            </a:extLst>
          </p:cNvPr>
          <p:cNvSpPr txBox="1"/>
          <p:nvPr/>
        </p:nvSpPr>
        <p:spPr>
          <a:xfrm>
            <a:off x="6261100" y="3098800"/>
            <a:ext cx="292100" cy="153888"/>
          </a:xfrm>
          <a:prstGeom prst="rect">
            <a:avLst/>
          </a:prstGeom>
          <a:noFill/>
        </p:spPr>
        <p:txBody>
          <a:bodyPr vert="horz" wrap="square" lIns="0" tIns="0" rIns="0" bIns="0" rtlCol="0">
            <a:spAutoFit/>
          </a:bodyPr>
          <a:lstStyle/>
          <a:p>
            <a:r>
              <a:rPr lang="en-US" sz="1000" b="1">
                <a:solidFill>
                  <a:srgbClr val="0C100B"/>
                </a:solidFill>
                <a:latin typeface="Aptos" panose="020B0004020202020204" pitchFamily="34" charset="0"/>
              </a:rPr>
              <a:t>01</a:t>
            </a:r>
          </a:p>
        </p:txBody>
      </p:sp>
      <p:sp>
        <p:nvSpPr>
          <p:cNvPr id="23" name="TextBox 22">
            <a:extLst>
              <a:ext uri="{FF2B5EF4-FFF2-40B4-BE49-F238E27FC236}">
                <a16:creationId xmlns:a16="http://schemas.microsoft.com/office/drawing/2014/main" id="{AB48BC47-B99A-53E4-1BCA-F0439758AEF5}"/>
              </a:ext>
            </a:extLst>
          </p:cNvPr>
          <p:cNvSpPr txBox="1"/>
          <p:nvPr/>
        </p:nvSpPr>
        <p:spPr>
          <a:xfrm>
            <a:off x="6794500" y="2997200"/>
            <a:ext cx="4711700" cy="323165"/>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Measure</a:t>
            </a:r>
          </a:p>
        </p:txBody>
      </p:sp>
      <p:sp>
        <p:nvSpPr>
          <p:cNvPr id="24" name="TextBox 23">
            <a:extLst>
              <a:ext uri="{FF2B5EF4-FFF2-40B4-BE49-F238E27FC236}">
                <a16:creationId xmlns:a16="http://schemas.microsoft.com/office/drawing/2014/main" id="{4EECF512-6871-4C55-45E7-86BE42B319DE}"/>
              </a:ext>
            </a:extLst>
          </p:cNvPr>
          <p:cNvSpPr txBox="1"/>
          <p:nvPr/>
        </p:nvSpPr>
        <p:spPr>
          <a:xfrm>
            <a:off x="6794500" y="3365500"/>
            <a:ext cx="4749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Errors, latency, unintended commands</a:t>
            </a:r>
          </a:p>
        </p:txBody>
      </p:sp>
      <p:sp>
        <p:nvSpPr>
          <p:cNvPr id="25" name="Oval 24">
            <a:extLst>
              <a:ext uri="{FF2B5EF4-FFF2-40B4-BE49-F238E27FC236}">
                <a16:creationId xmlns:a16="http://schemas.microsoft.com/office/drawing/2014/main" id="{1D5B1C54-8D4A-E100-1D2E-9C9800B91374}"/>
              </a:ext>
            </a:extLst>
          </p:cNvPr>
          <p:cNvSpPr/>
          <p:nvPr/>
        </p:nvSpPr>
        <p:spPr>
          <a:xfrm>
            <a:off x="6210300" y="3873500"/>
            <a:ext cx="330200" cy="3302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2029092-2BE0-7DD2-3117-A1AEF7DD7672}"/>
              </a:ext>
            </a:extLst>
          </p:cNvPr>
          <p:cNvSpPr txBox="1"/>
          <p:nvPr/>
        </p:nvSpPr>
        <p:spPr>
          <a:xfrm>
            <a:off x="6261100" y="3937000"/>
            <a:ext cx="292100" cy="153888"/>
          </a:xfrm>
          <a:prstGeom prst="rect">
            <a:avLst/>
          </a:prstGeom>
          <a:noFill/>
        </p:spPr>
        <p:txBody>
          <a:bodyPr vert="horz" wrap="square" lIns="0" tIns="0" rIns="0" bIns="0" rtlCol="0">
            <a:spAutoFit/>
          </a:bodyPr>
          <a:lstStyle/>
          <a:p>
            <a:r>
              <a:rPr lang="en-US" sz="1000" b="1">
                <a:solidFill>
                  <a:srgbClr val="0C100B"/>
                </a:solidFill>
                <a:latin typeface="Aptos" panose="020B0004020202020204" pitchFamily="34" charset="0"/>
              </a:rPr>
              <a:t>02</a:t>
            </a:r>
          </a:p>
        </p:txBody>
      </p:sp>
      <p:sp>
        <p:nvSpPr>
          <p:cNvPr id="27" name="TextBox 26">
            <a:extLst>
              <a:ext uri="{FF2B5EF4-FFF2-40B4-BE49-F238E27FC236}">
                <a16:creationId xmlns:a16="http://schemas.microsoft.com/office/drawing/2014/main" id="{C7B09FF0-2BFC-7178-E5F0-B0D985A9A973}"/>
              </a:ext>
            </a:extLst>
          </p:cNvPr>
          <p:cNvSpPr txBox="1"/>
          <p:nvPr/>
        </p:nvSpPr>
        <p:spPr>
          <a:xfrm>
            <a:off x="6794500" y="3835400"/>
            <a:ext cx="4711700" cy="323165"/>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Stress-test</a:t>
            </a:r>
          </a:p>
        </p:txBody>
      </p:sp>
      <p:sp>
        <p:nvSpPr>
          <p:cNvPr id="28" name="TextBox 27">
            <a:extLst>
              <a:ext uri="{FF2B5EF4-FFF2-40B4-BE49-F238E27FC236}">
                <a16:creationId xmlns:a16="http://schemas.microsoft.com/office/drawing/2014/main" id="{9AB022B8-C313-8453-EBA3-51F9F137A177}"/>
              </a:ext>
            </a:extLst>
          </p:cNvPr>
          <p:cNvSpPr txBox="1"/>
          <p:nvPr/>
        </p:nvSpPr>
        <p:spPr>
          <a:xfrm>
            <a:off x="6794500" y="4203700"/>
            <a:ext cx="4749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Visibility and competing operators</a:t>
            </a:r>
          </a:p>
        </p:txBody>
      </p:sp>
      <p:sp>
        <p:nvSpPr>
          <p:cNvPr id="29" name="Oval 28">
            <a:extLst>
              <a:ext uri="{FF2B5EF4-FFF2-40B4-BE49-F238E27FC236}">
                <a16:creationId xmlns:a16="http://schemas.microsoft.com/office/drawing/2014/main" id="{0B873FB4-F739-4994-82E3-1FAE748D87C3}"/>
              </a:ext>
            </a:extLst>
          </p:cNvPr>
          <p:cNvSpPr/>
          <p:nvPr/>
        </p:nvSpPr>
        <p:spPr>
          <a:xfrm>
            <a:off x="6210300" y="4711700"/>
            <a:ext cx="330200" cy="330200"/>
          </a:xfrm>
          <a:prstGeom prst="ellipse">
            <a:avLst/>
          </a:prstGeom>
          <a:solidFill>
            <a:srgbClr val="B4EF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A061023-D788-20DC-4E10-290B7088B15B}"/>
              </a:ext>
            </a:extLst>
          </p:cNvPr>
          <p:cNvSpPr txBox="1"/>
          <p:nvPr/>
        </p:nvSpPr>
        <p:spPr>
          <a:xfrm>
            <a:off x="6261100" y="4775200"/>
            <a:ext cx="292100" cy="153888"/>
          </a:xfrm>
          <a:prstGeom prst="rect">
            <a:avLst/>
          </a:prstGeom>
          <a:noFill/>
        </p:spPr>
        <p:txBody>
          <a:bodyPr vert="horz" wrap="square" lIns="0" tIns="0" rIns="0" bIns="0" rtlCol="0">
            <a:spAutoFit/>
          </a:bodyPr>
          <a:lstStyle/>
          <a:p>
            <a:r>
              <a:rPr lang="en-US" sz="1000" b="1">
                <a:solidFill>
                  <a:srgbClr val="0C100B"/>
                </a:solidFill>
                <a:latin typeface="Aptos" panose="020B0004020202020204" pitchFamily="34" charset="0"/>
              </a:rPr>
              <a:t>03</a:t>
            </a:r>
          </a:p>
        </p:txBody>
      </p:sp>
      <p:sp>
        <p:nvSpPr>
          <p:cNvPr id="31" name="TextBox 30">
            <a:extLst>
              <a:ext uri="{FF2B5EF4-FFF2-40B4-BE49-F238E27FC236}">
                <a16:creationId xmlns:a16="http://schemas.microsoft.com/office/drawing/2014/main" id="{217571E6-9DEF-C9D8-8A12-A35D3A1E7918}"/>
              </a:ext>
            </a:extLst>
          </p:cNvPr>
          <p:cNvSpPr txBox="1"/>
          <p:nvPr/>
        </p:nvSpPr>
        <p:spPr>
          <a:xfrm>
            <a:off x="6794500" y="4673600"/>
            <a:ext cx="4711700" cy="323165"/>
          </a:xfrm>
          <a:prstGeom prst="rect">
            <a:avLst/>
          </a:prstGeom>
          <a:noFill/>
        </p:spPr>
        <p:txBody>
          <a:bodyPr vert="horz" wrap="square" lIns="0" tIns="0" rIns="0" bIns="0" rtlCol="0">
            <a:spAutoFit/>
          </a:bodyPr>
          <a:lstStyle/>
          <a:p>
            <a:r>
              <a:rPr lang="en-US" sz="2100" b="1">
                <a:solidFill>
                  <a:srgbClr val="EFF1E9"/>
                </a:solidFill>
                <a:latin typeface="Aptos" panose="020B0004020202020204" pitchFamily="34" charset="0"/>
              </a:rPr>
              <a:t>Integrate</a:t>
            </a:r>
          </a:p>
        </p:txBody>
      </p:sp>
      <p:sp>
        <p:nvSpPr>
          <p:cNvPr id="32" name="TextBox 31">
            <a:extLst>
              <a:ext uri="{FF2B5EF4-FFF2-40B4-BE49-F238E27FC236}">
                <a16:creationId xmlns:a16="http://schemas.microsoft.com/office/drawing/2014/main" id="{DC0E7B1B-2D44-B50A-0A6A-9A56977D0C29}"/>
              </a:ext>
            </a:extLst>
          </p:cNvPr>
          <p:cNvSpPr txBox="1"/>
          <p:nvPr/>
        </p:nvSpPr>
        <p:spPr>
          <a:xfrm>
            <a:off x="6794500" y="5041900"/>
            <a:ext cx="4749800" cy="246221"/>
          </a:xfrm>
          <a:prstGeom prst="rect">
            <a:avLst/>
          </a:prstGeom>
          <a:noFill/>
        </p:spPr>
        <p:txBody>
          <a:bodyPr vert="horz" wrap="square" lIns="0" tIns="0" rIns="0" bIns="0" rtlCol="0">
            <a:spAutoFit/>
          </a:bodyPr>
          <a:lstStyle/>
          <a:p>
            <a:r>
              <a:rPr lang="en-US" sz="1600">
                <a:solidFill>
                  <a:srgbClr val="9CA593"/>
                </a:solidFill>
                <a:latin typeface="Aptos" panose="020B0004020202020204" pitchFamily="34" charset="0"/>
              </a:rPr>
              <a:t>Onboard compute and physical flight</a:t>
            </a:r>
          </a:p>
        </p:txBody>
      </p:sp>
      <p:sp>
        <p:nvSpPr>
          <p:cNvPr id="33" name="TextBox 32">
            <a:extLst>
              <a:ext uri="{FF2B5EF4-FFF2-40B4-BE49-F238E27FC236}">
                <a16:creationId xmlns:a16="http://schemas.microsoft.com/office/drawing/2014/main" id="{610C69D4-EE92-FB06-3D7C-5FE8A5A8B742}"/>
              </a:ext>
            </a:extLst>
          </p:cNvPr>
          <p:cNvSpPr txBox="1"/>
          <p:nvPr/>
        </p:nvSpPr>
        <p:spPr>
          <a:xfrm>
            <a:off x="508000" y="5829300"/>
            <a:ext cx="11176000" cy="200055"/>
          </a:xfrm>
          <a:prstGeom prst="rect">
            <a:avLst/>
          </a:prstGeom>
          <a:noFill/>
        </p:spPr>
        <p:txBody>
          <a:bodyPr vert="horz" wrap="square" lIns="0" tIns="0" rIns="0" bIns="0" rtlCol="0">
            <a:spAutoFit/>
          </a:bodyPr>
          <a:lstStyle/>
          <a:p>
            <a:r>
              <a:rPr lang="en-US" sz="1300">
                <a:solidFill>
                  <a:srgbClr val="9CA593"/>
                </a:solidFill>
                <a:latin typeface="Aptos" panose="020B0004020202020204" pitchFamily="34" charset="0"/>
              </a:rPr>
              <a:t>TODAY: Connected phone prototype. No physical flight data. GPS-independent navigation remains separate.</a:t>
            </a:r>
          </a:p>
        </p:txBody>
      </p:sp>
    </p:spTree>
    <p:extLst>
      <p:ext uri="{BB962C8B-B14F-4D97-AF65-F5344CB8AC3E}">
        <p14:creationId xmlns:p14="http://schemas.microsoft.com/office/powerpoint/2010/main" val="2230389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FFAB89-7DFF-8C18-A68E-4E36302DDD1A}"/>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81780DE5-F64F-F225-7682-4DD12C3752E1}"/>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CUSTOM MACHINE LEARNING</a:t>
            </a:r>
          </a:p>
        </p:txBody>
      </p:sp>
      <p:sp>
        <p:nvSpPr>
          <p:cNvPr id="4" name="TextBox 3">
            <a:extLst>
              <a:ext uri="{FF2B5EF4-FFF2-40B4-BE49-F238E27FC236}">
                <a16:creationId xmlns:a16="http://schemas.microsoft.com/office/drawing/2014/main" id="{D0581123-2A55-37A1-202F-3882C711CD50}"/>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A gesture vocabulary we can train.</a:t>
            </a:r>
          </a:p>
        </p:txBody>
      </p:sp>
      <p:cxnSp>
        <p:nvCxnSpPr>
          <p:cNvPr id="5" name="Straight Connector 4">
            <a:extLst>
              <a:ext uri="{FF2B5EF4-FFF2-40B4-BE49-F238E27FC236}">
                <a16:creationId xmlns:a16="http://schemas.microsoft.com/office/drawing/2014/main" id="{04A80BD0-78B2-002C-58AA-2655CB0A0E1B}"/>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0D207CB-A568-3907-E01D-83A4B8150BD4}"/>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BF31EE0E-937A-BAAF-6529-9EAB63F77BAC}"/>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07</a:t>
            </a:r>
          </a:p>
        </p:txBody>
      </p:sp>
      <p:sp>
        <p:nvSpPr>
          <p:cNvPr id="8" name="TextBox 7">
            <a:extLst>
              <a:ext uri="{FF2B5EF4-FFF2-40B4-BE49-F238E27FC236}">
                <a16:creationId xmlns:a16="http://schemas.microsoft.com/office/drawing/2014/main" id="{A1366EBA-3B54-5DE0-B0D6-94B35810E29A}"/>
              </a:ext>
            </a:extLst>
          </p:cNvPr>
          <p:cNvSpPr txBox="1"/>
          <p:nvPr/>
        </p:nvSpPr>
        <p:spPr>
          <a:xfrm>
            <a:off x="508000" y="2387600"/>
            <a:ext cx="11112500" cy="415498"/>
          </a:xfrm>
          <a:prstGeom prst="rect">
            <a:avLst/>
          </a:prstGeom>
          <a:noFill/>
        </p:spPr>
        <p:txBody>
          <a:bodyPr vert="horz" wrap="square" lIns="0" tIns="0" rIns="0" bIns="0" rtlCol="0">
            <a:spAutoFit/>
          </a:bodyPr>
          <a:lstStyle/>
          <a:p>
            <a:r>
              <a:rPr lang="en-US" sz="2700" b="1">
                <a:solidFill>
                  <a:srgbClr val="B4EF74"/>
                </a:solidFill>
                <a:latin typeface="Aptos" panose="020B0004020202020204" pitchFamily="34" charset="0"/>
              </a:rPr>
              <a:t>We trained a model on our own hand signals.</a:t>
            </a:r>
          </a:p>
        </p:txBody>
      </p:sp>
      <p:sp>
        <p:nvSpPr>
          <p:cNvPr id="9" name="TextBox 8">
            <a:extLst>
              <a:ext uri="{FF2B5EF4-FFF2-40B4-BE49-F238E27FC236}">
                <a16:creationId xmlns:a16="http://schemas.microsoft.com/office/drawing/2014/main" id="{C4BE3024-C56D-C99F-A568-2F22C3102295}"/>
              </a:ext>
            </a:extLst>
          </p:cNvPr>
          <p:cNvSpPr txBox="1"/>
          <p:nvPr/>
        </p:nvSpPr>
        <p:spPr>
          <a:xfrm>
            <a:off x="508000" y="3124200"/>
            <a:ext cx="10922000" cy="707886"/>
          </a:xfrm>
          <a:prstGeom prst="rect">
            <a:avLst/>
          </a:prstGeom>
          <a:noFill/>
        </p:spPr>
        <p:txBody>
          <a:bodyPr vert="horz" wrap="square" lIns="0" tIns="0" rIns="0" bIns="0" rtlCol="0">
            <a:spAutoFit/>
          </a:bodyPr>
          <a:lstStyle/>
          <a:p>
            <a:r>
              <a:rPr lang="en-US" sz="2300">
                <a:solidFill>
                  <a:srgbClr val="9CA593"/>
                </a:solidFill>
                <a:latin typeface="Aptos" panose="020B0004020202020204" pitchFamily="34" charset="0"/>
              </a:rPr>
              <a:t>Our custom gesture-training pipeline shows that the command vocabulary can expand beyond preset gestures.</a:t>
            </a:r>
          </a:p>
        </p:txBody>
      </p:sp>
      <p:sp>
        <p:nvSpPr>
          <p:cNvPr id="10" name="Rectangle 9">
            <a:extLst>
              <a:ext uri="{FF2B5EF4-FFF2-40B4-BE49-F238E27FC236}">
                <a16:creationId xmlns:a16="http://schemas.microsoft.com/office/drawing/2014/main" id="{37E99026-8309-828E-06C8-0FED1ABEDCD3}"/>
              </a:ext>
            </a:extLst>
          </p:cNvPr>
          <p:cNvSpPr/>
          <p:nvPr/>
        </p:nvSpPr>
        <p:spPr>
          <a:xfrm>
            <a:off x="508000" y="4406900"/>
            <a:ext cx="2578100" cy="8763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702A816-083A-250B-441A-520483C8FC77}"/>
              </a:ext>
            </a:extLst>
          </p:cNvPr>
          <p:cNvSpPr txBox="1"/>
          <p:nvPr/>
        </p:nvSpPr>
        <p:spPr>
          <a:xfrm>
            <a:off x="673100" y="4686300"/>
            <a:ext cx="2298700" cy="276999"/>
          </a:xfrm>
          <a:prstGeom prst="rect">
            <a:avLst/>
          </a:prstGeom>
          <a:noFill/>
        </p:spPr>
        <p:txBody>
          <a:bodyPr vert="horz" wrap="square" lIns="0" tIns="0" rIns="0" bIns="0" rtlCol="0">
            <a:spAutoFit/>
          </a:bodyPr>
          <a:lstStyle/>
          <a:p>
            <a:r>
              <a:rPr lang="en-US" b="1">
                <a:solidFill>
                  <a:srgbClr val="EFF1E9"/>
                </a:solidFill>
                <a:latin typeface="Aptos" panose="020B0004020202020204" pitchFamily="34" charset="0"/>
              </a:rPr>
              <a:t>Record examples</a:t>
            </a:r>
          </a:p>
        </p:txBody>
      </p:sp>
      <p:cxnSp>
        <p:nvCxnSpPr>
          <p:cNvPr id="12" name="Straight Connector 11">
            <a:extLst>
              <a:ext uri="{FF2B5EF4-FFF2-40B4-BE49-F238E27FC236}">
                <a16:creationId xmlns:a16="http://schemas.microsoft.com/office/drawing/2014/main" id="{481ABD23-DBC7-E3A5-10E9-F5A95C851761}"/>
              </a:ext>
            </a:extLst>
          </p:cNvPr>
          <p:cNvCxnSpPr/>
          <p:nvPr/>
        </p:nvCxnSpPr>
        <p:spPr>
          <a:xfrm>
            <a:off x="3111500" y="4838700"/>
            <a:ext cx="1905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38FF97C6-7EE1-19E7-6818-4AD590253B9A}"/>
              </a:ext>
            </a:extLst>
          </p:cNvPr>
          <p:cNvSpPr/>
          <p:nvPr/>
        </p:nvSpPr>
        <p:spPr>
          <a:xfrm>
            <a:off x="3352800" y="4406900"/>
            <a:ext cx="2578100" cy="8763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6748540-7E88-87DB-B161-6AE492F649DC}"/>
              </a:ext>
            </a:extLst>
          </p:cNvPr>
          <p:cNvSpPr txBox="1"/>
          <p:nvPr/>
        </p:nvSpPr>
        <p:spPr>
          <a:xfrm>
            <a:off x="3517900" y="4686300"/>
            <a:ext cx="2298700" cy="276999"/>
          </a:xfrm>
          <a:prstGeom prst="rect">
            <a:avLst/>
          </a:prstGeom>
          <a:noFill/>
        </p:spPr>
        <p:txBody>
          <a:bodyPr vert="horz" wrap="square" lIns="0" tIns="0" rIns="0" bIns="0" rtlCol="0">
            <a:spAutoFit/>
          </a:bodyPr>
          <a:lstStyle/>
          <a:p>
            <a:r>
              <a:rPr lang="en-US" b="1">
                <a:solidFill>
                  <a:srgbClr val="EFF1E9"/>
                </a:solidFill>
                <a:latin typeface="Aptos" panose="020B0004020202020204" pitchFamily="34" charset="0"/>
              </a:rPr>
              <a:t>Label the signals</a:t>
            </a:r>
          </a:p>
        </p:txBody>
      </p:sp>
      <p:cxnSp>
        <p:nvCxnSpPr>
          <p:cNvPr id="15" name="Straight Connector 14">
            <a:extLst>
              <a:ext uri="{FF2B5EF4-FFF2-40B4-BE49-F238E27FC236}">
                <a16:creationId xmlns:a16="http://schemas.microsoft.com/office/drawing/2014/main" id="{8E1F76CD-3AC3-59D5-0DF5-6503B6ECDCD3}"/>
              </a:ext>
            </a:extLst>
          </p:cNvPr>
          <p:cNvCxnSpPr/>
          <p:nvPr/>
        </p:nvCxnSpPr>
        <p:spPr>
          <a:xfrm>
            <a:off x="5956300" y="4838700"/>
            <a:ext cx="1905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13701353-9A6B-0731-0D67-EFA32CDD3ABD}"/>
              </a:ext>
            </a:extLst>
          </p:cNvPr>
          <p:cNvSpPr/>
          <p:nvPr/>
        </p:nvSpPr>
        <p:spPr>
          <a:xfrm>
            <a:off x="6197600" y="4406900"/>
            <a:ext cx="2578100" cy="8763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6EBE9A1-9D0B-0253-E8D8-69A491C582AE}"/>
              </a:ext>
            </a:extLst>
          </p:cNvPr>
          <p:cNvSpPr txBox="1"/>
          <p:nvPr/>
        </p:nvSpPr>
        <p:spPr>
          <a:xfrm>
            <a:off x="6362700" y="4686300"/>
            <a:ext cx="2298700" cy="276999"/>
          </a:xfrm>
          <a:prstGeom prst="rect">
            <a:avLst/>
          </a:prstGeom>
          <a:noFill/>
        </p:spPr>
        <p:txBody>
          <a:bodyPr vert="horz" wrap="square" lIns="0" tIns="0" rIns="0" bIns="0" rtlCol="0">
            <a:spAutoFit/>
          </a:bodyPr>
          <a:lstStyle/>
          <a:p>
            <a:r>
              <a:rPr lang="en-US" b="1">
                <a:solidFill>
                  <a:srgbClr val="EFF1E9"/>
                </a:solidFill>
                <a:latin typeface="Aptos" panose="020B0004020202020204" pitchFamily="34" charset="0"/>
              </a:rPr>
              <a:t>Train the model</a:t>
            </a:r>
          </a:p>
        </p:txBody>
      </p:sp>
      <p:cxnSp>
        <p:nvCxnSpPr>
          <p:cNvPr id="18" name="Straight Connector 17">
            <a:extLst>
              <a:ext uri="{FF2B5EF4-FFF2-40B4-BE49-F238E27FC236}">
                <a16:creationId xmlns:a16="http://schemas.microsoft.com/office/drawing/2014/main" id="{61083757-D5F8-3ED0-CB8B-BA64026FAC1C}"/>
              </a:ext>
            </a:extLst>
          </p:cNvPr>
          <p:cNvCxnSpPr/>
          <p:nvPr/>
        </p:nvCxnSpPr>
        <p:spPr>
          <a:xfrm>
            <a:off x="8801100" y="4838700"/>
            <a:ext cx="190500" cy="0"/>
          </a:xfrm>
          <a:prstGeom prst="line">
            <a:avLst/>
          </a:prstGeom>
          <a:ln w="25400">
            <a:solidFill>
              <a:srgbClr val="B4EF74"/>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FAD17985-483E-B6EC-FA4F-39FD47F03444}"/>
              </a:ext>
            </a:extLst>
          </p:cNvPr>
          <p:cNvSpPr/>
          <p:nvPr/>
        </p:nvSpPr>
        <p:spPr>
          <a:xfrm>
            <a:off x="9042400" y="4406900"/>
            <a:ext cx="2578100" cy="8763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09722AF-FD9F-525F-8395-EF2BDA232415}"/>
              </a:ext>
            </a:extLst>
          </p:cNvPr>
          <p:cNvSpPr txBox="1"/>
          <p:nvPr/>
        </p:nvSpPr>
        <p:spPr>
          <a:xfrm>
            <a:off x="9207500" y="4686300"/>
            <a:ext cx="2298700" cy="276999"/>
          </a:xfrm>
          <a:prstGeom prst="rect">
            <a:avLst/>
          </a:prstGeom>
          <a:noFill/>
        </p:spPr>
        <p:txBody>
          <a:bodyPr vert="horz" wrap="square" lIns="0" tIns="0" rIns="0" bIns="0" rtlCol="0">
            <a:spAutoFit/>
          </a:bodyPr>
          <a:lstStyle/>
          <a:p>
            <a:r>
              <a:rPr lang="en-US" b="1">
                <a:solidFill>
                  <a:srgbClr val="EFF1E9"/>
                </a:solidFill>
                <a:latin typeface="Aptos" panose="020B0004020202020204" pitchFamily="34" charset="0"/>
              </a:rPr>
              <a:t>Connect commands</a:t>
            </a:r>
          </a:p>
        </p:txBody>
      </p:sp>
      <p:sp>
        <p:nvSpPr>
          <p:cNvPr id="21" name="TextBox 20">
            <a:extLst>
              <a:ext uri="{FF2B5EF4-FFF2-40B4-BE49-F238E27FC236}">
                <a16:creationId xmlns:a16="http://schemas.microsoft.com/office/drawing/2014/main" id="{5FF1FF77-E84D-655E-A3FD-05798875DC71}"/>
              </a:ext>
            </a:extLst>
          </p:cNvPr>
          <p:cNvSpPr txBox="1"/>
          <p:nvPr/>
        </p:nvSpPr>
        <p:spPr>
          <a:xfrm>
            <a:off x="508000" y="5549900"/>
            <a:ext cx="11112500" cy="353943"/>
          </a:xfrm>
          <a:prstGeom prst="rect">
            <a:avLst/>
          </a:prstGeom>
          <a:noFill/>
        </p:spPr>
        <p:txBody>
          <a:bodyPr vert="horz" wrap="square" lIns="0" tIns="0" rIns="0" bIns="0" rtlCol="0">
            <a:spAutoFit/>
          </a:bodyPr>
          <a:lstStyle/>
          <a:p>
            <a:r>
              <a:rPr lang="en-US" sz="2300" b="1">
                <a:solidFill>
                  <a:srgbClr val="B4EF74"/>
                </a:solidFill>
                <a:latin typeface="Aptos" panose="020B0004020202020204" pitchFamily="34" charset="0"/>
              </a:rPr>
              <a:t>Build the vocabulary around the people using it.</a:t>
            </a:r>
          </a:p>
        </p:txBody>
      </p:sp>
    </p:spTree>
    <p:extLst>
      <p:ext uri="{BB962C8B-B14F-4D97-AF65-F5344CB8AC3E}">
        <p14:creationId xmlns:p14="http://schemas.microsoft.com/office/powerpoint/2010/main" val="1858316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987541-0957-DDFA-FB02-6D8CE9C3E8F2}"/>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325EA22A-6947-361E-8458-BF1632007CB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GESTURES AND NATURAL LANGUAGE</a:t>
            </a:r>
          </a:p>
        </p:txBody>
      </p:sp>
      <p:sp>
        <p:nvSpPr>
          <p:cNvPr id="4" name="TextBox 3">
            <a:extLst>
              <a:ext uri="{FF2B5EF4-FFF2-40B4-BE49-F238E27FC236}">
                <a16:creationId xmlns:a16="http://schemas.microsoft.com/office/drawing/2014/main" id="{413AF0F0-5BEC-E210-311F-18F8C0E544F6}"/>
              </a:ext>
            </a:extLst>
          </p:cNvPr>
          <p:cNvSpPr txBox="1"/>
          <p:nvPr/>
        </p:nvSpPr>
        <p:spPr>
          <a:xfrm>
            <a:off x="508000" y="939800"/>
            <a:ext cx="11239500" cy="1107996"/>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Talk to the drone like
you would a teammate.</a:t>
            </a:r>
          </a:p>
        </p:txBody>
      </p:sp>
      <p:cxnSp>
        <p:nvCxnSpPr>
          <p:cNvPr id="5" name="Straight Connector 4">
            <a:extLst>
              <a:ext uri="{FF2B5EF4-FFF2-40B4-BE49-F238E27FC236}">
                <a16:creationId xmlns:a16="http://schemas.microsoft.com/office/drawing/2014/main" id="{15309958-F5CC-C141-92DC-7440D894CB04}"/>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09C4B87-9B1C-31D9-1507-91820A18E0F1}"/>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CAFA0BBC-D71B-B1E0-81B1-197C7FF20963}"/>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08</a:t>
            </a:r>
          </a:p>
        </p:txBody>
      </p:sp>
      <p:sp>
        <p:nvSpPr>
          <p:cNvPr id="8" name="TextBox 7">
            <a:extLst>
              <a:ext uri="{FF2B5EF4-FFF2-40B4-BE49-F238E27FC236}">
                <a16:creationId xmlns:a16="http://schemas.microsoft.com/office/drawing/2014/main" id="{5178F47A-7F08-D486-DE0A-BA5DFEEF119A}"/>
              </a:ext>
            </a:extLst>
          </p:cNvPr>
          <p:cNvSpPr txBox="1"/>
          <p:nvPr/>
        </p:nvSpPr>
        <p:spPr>
          <a:xfrm>
            <a:off x="508000" y="2654300"/>
            <a:ext cx="11112500" cy="430887"/>
          </a:xfrm>
          <a:prstGeom prst="rect">
            <a:avLst/>
          </a:prstGeom>
          <a:noFill/>
        </p:spPr>
        <p:txBody>
          <a:bodyPr vert="horz" wrap="square" lIns="0" tIns="0" rIns="0" bIns="0" rtlCol="0">
            <a:spAutoFit/>
          </a:bodyPr>
          <a:lstStyle/>
          <a:p>
            <a:r>
              <a:rPr lang="en-US" sz="2800" b="1">
                <a:solidFill>
                  <a:srgbClr val="B4EF74"/>
                </a:solidFill>
                <a:latin typeface="Aptos" panose="020B0004020202020204" pitchFamily="34" charset="0"/>
              </a:rPr>
              <a:t>Give it a route in plain language.</a:t>
            </a:r>
          </a:p>
        </p:txBody>
      </p:sp>
      <p:sp>
        <p:nvSpPr>
          <p:cNvPr id="9" name="TextBox 8">
            <a:extLst>
              <a:ext uri="{FF2B5EF4-FFF2-40B4-BE49-F238E27FC236}">
                <a16:creationId xmlns:a16="http://schemas.microsoft.com/office/drawing/2014/main" id="{A976A9FC-0320-AE01-AA82-D36D0AB5DB2F}"/>
              </a:ext>
            </a:extLst>
          </p:cNvPr>
          <p:cNvSpPr txBox="1"/>
          <p:nvPr/>
        </p:nvSpPr>
        <p:spPr>
          <a:xfrm>
            <a:off x="508000" y="3378200"/>
            <a:ext cx="10795000" cy="384721"/>
          </a:xfrm>
          <a:prstGeom prst="rect">
            <a:avLst/>
          </a:prstGeom>
          <a:noFill/>
        </p:spPr>
        <p:txBody>
          <a:bodyPr vert="horz" wrap="square" lIns="0" tIns="0" rIns="0" bIns="0" rtlCol="0">
            <a:spAutoFit/>
          </a:bodyPr>
          <a:lstStyle/>
          <a:p>
            <a:r>
              <a:rPr lang="en-US" sz="2500" b="1">
                <a:solidFill>
                  <a:srgbClr val="EFF1E9"/>
                </a:solidFill>
                <a:latin typeface="Aptos" panose="020B0004020202020204" pitchFamily="34" charset="0"/>
              </a:rPr>
              <a:t>Then change the plan as the situation changes.</a:t>
            </a:r>
          </a:p>
        </p:txBody>
      </p:sp>
      <p:sp>
        <p:nvSpPr>
          <p:cNvPr id="10" name="Rectangle 9">
            <a:extLst>
              <a:ext uri="{FF2B5EF4-FFF2-40B4-BE49-F238E27FC236}">
                <a16:creationId xmlns:a16="http://schemas.microsoft.com/office/drawing/2014/main" id="{E808CA7E-0637-129F-8795-FA6A61E45981}"/>
              </a:ext>
            </a:extLst>
          </p:cNvPr>
          <p:cNvSpPr/>
          <p:nvPr/>
        </p:nvSpPr>
        <p:spPr>
          <a:xfrm>
            <a:off x="508000" y="4279900"/>
            <a:ext cx="11112500" cy="1282700"/>
          </a:xfrm>
          <a:prstGeom prst="rect">
            <a:avLst/>
          </a:prstGeom>
          <a:solidFill>
            <a:srgbClr val="11170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9FE09C4-AA8B-E494-4944-34EC6DC2BBC6}"/>
              </a:ext>
            </a:extLst>
          </p:cNvPr>
          <p:cNvSpPr txBox="1"/>
          <p:nvPr/>
        </p:nvSpPr>
        <p:spPr>
          <a:xfrm>
            <a:off x="762000" y="4546600"/>
            <a:ext cx="10515600" cy="707886"/>
          </a:xfrm>
          <a:prstGeom prst="rect">
            <a:avLst/>
          </a:prstGeom>
          <a:noFill/>
        </p:spPr>
        <p:txBody>
          <a:bodyPr vert="horz" wrap="square" lIns="0" tIns="0" rIns="0" bIns="0" rtlCol="0">
            <a:spAutoFit/>
          </a:bodyPr>
          <a:lstStyle/>
          <a:p>
            <a:r>
              <a:rPr lang="en-US" sz="2300">
                <a:solidFill>
                  <a:srgbClr val="9CA593"/>
                </a:solidFill>
                <a:latin typeface="Aptos" panose="020B0004020202020204" pitchFamily="34" charset="0"/>
              </a:rPr>
              <a:t>Spoken commands let it break from a preplanned route and respond to what you need next.</a:t>
            </a:r>
          </a:p>
        </p:txBody>
      </p:sp>
      <p:sp>
        <p:nvSpPr>
          <p:cNvPr id="12" name="TextBox 11">
            <a:extLst>
              <a:ext uri="{FF2B5EF4-FFF2-40B4-BE49-F238E27FC236}">
                <a16:creationId xmlns:a16="http://schemas.microsoft.com/office/drawing/2014/main" id="{50D85B1B-CF1D-A0F5-44D4-AF2B3F261261}"/>
              </a:ext>
            </a:extLst>
          </p:cNvPr>
          <p:cNvSpPr txBox="1"/>
          <p:nvPr/>
        </p:nvSpPr>
        <p:spPr>
          <a:xfrm>
            <a:off x="508000" y="5842000"/>
            <a:ext cx="11112500" cy="215444"/>
          </a:xfrm>
          <a:prstGeom prst="rect">
            <a:avLst/>
          </a:prstGeom>
          <a:noFill/>
        </p:spPr>
        <p:txBody>
          <a:bodyPr vert="horz" wrap="square" lIns="0" tIns="0" rIns="0" bIns="0" rtlCol="0">
            <a:spAutoFit/>
          </a:bodyPr>
          <a:lstStyle/>
          <a:p>
            <a:r>
              <a:rPr lang="en-US" sz="1400">
                <a:solidFill>
                  <a:srgbClr val="9CA593"/>
                </a:solidFill>
                <a:latin typeface="Aptos" panose="020B0004020202020204" pitchFamily="34" charset="0"/>
              </a:rPr>
              <a:t>Demonstrated in our simulation test environment.</a:t>
            </a:r>
          </a:p>
        </p:txBody>
      </p:sp>
    </p:spTree>
    <p:extLst>
      <p:ext uri="{BB962C8B-B14F-4D97-AF65-F5344CB8AC3E}">
        <p14:creationId xmlns:p14="http://schemas.microsoft.com/office/powerpoint/2010/main" val="733866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81BB7E-9AF6-2472-9F07-DC4770041142}"/>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E5886BA8-E57F-21C7-50B3-1682CF5BEAFD}"/>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APPENDIX / Q&amp;A</a:t>
            </a:r>
          </a:p>
        </p:txBody>
      </p:sp>
      <p:sp>
        <p:nvSpPr>
          <p:cNvPr id="4" name="TextBox 3">
            <a:extLst>
              <a:ext uri="{FF2B5EF4-FFF2-40B4-BE49-F238E27FC236}">
                <a16:creationId xmlns:a16="http://schemas.microsoft.com/office/drawing/2014/main" id="{435C8B97-6653-ECB4-2D51-AE79B897070A}"/>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Deployment questions we must answer.</a:t>
            </a:r>
          </a:p>
        </p:txBody>
      </p:sp>
      <p:cxnSp>
        <p:nvCxnSpPr>
          <p:cNvPr id="5" name="Straight Connector 4">
            <a:extLst>
              <a:ext uri="{FF2B5EF4-FFF2-40B4-BE49-F238E27FC236}">
                <a16:creationId xmlns:a16="http://schemas.microsoft.com/office/drawing/2014/main" id="{DF55F92F-5588-E145-800F-522765952030}"/>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5E8B7B3-0D6C-F09B-9BFF-398D7A8D551F}"/>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E2F1156A-6FD8-50F8-51A8-52FA314161AC}"/>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A1</a:t>
            </a:r>
          </a:p>
        </p:txBody>
      </p:sp>
      <p:sp>
        <p:nvSpPr>
          <p:cNvPr id="8" name="TextBox 7">
            <a:extLst>
              <a:ext uri="{FF2B5EF4-FFF2-40B4-BE49-F238E27FC236}">
                <a16:creationId xmlns:a16="http://schemas.microsoft.com/office/drawing/2014/main" id="{EA34EF67-DA1C-44EF-1325-0E5203E622F9}"/>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Hardware &amp; cost</a:t>
            </a:r>
          </a:p>
        </p:txBody>
      </p:sp>
      <p:sp>
        <p:nvSpPr>
          <p:cNvPr id="9" name="TextBox 8">
            <a:extLst>
              <a:ext uri="{FF2B5EF4-FFF2-40B4-BE49-F238E27FC236}">
                <a16:creationId xmlns:a16="http://schemas.microsoft.com/office/drawing/2014/main" id="{D97EBDB6-5044-9763-F9C1-B1458A4FF2D6}"/>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Select compute after measuring latency, power, thermal load, and flight-time impact.</a:t>
            </a:r>
          </a:p>
        </p:txBody>
      </p:sp>
      <p:sp>
        <p:nvSpPr>
          <p:cNvPr id="10" name="TextBox 9">
            <a:extLst>
              <a:ext uri="{FF2B5EF4-FFF2-40B4-BE49-F238E27FC236}">
                <a16:creationId xmlns:a16="http://schemas.microsoft.com/office/drawing/2014/main" id="{5A5891FC-EFC4-882E-D6B2-C8A0C66FB1FE}"/>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Integration</a:t>
            </a:r>
          </a:p>
        </p:txBody>
      </p:sp>
      <p:sp>
        <p:nvSpPr>
          <p:cNvPr id="11" name="TextBox 10">
            <a:extLst>
              <a:ext uri="{FF2B5EF4-FFF2-40B4-BE49-F238E27FC236}">
                <a16:creationId xmlns:a16="http://schemas.microsoft.com/office/drawing/2014/main" id="{30930D36-D9EB-20B6-B28B-CED2503F1089}"/>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Connect perception to a flight controller; validate command and link-loss behavior.</a:t>
            </a:r>
          </a:p>
        </p:txBody>
      </p:sp>
      <p:sp>
        <p:nvSpPr>
          <p:cNvPr id="12" name="TextBox 11">
            <a:extLst>
              <a:ext uri="{FF2B5EF4-FFF2-40B4-BE49-F238E27FC236}">
                <a16:creationId xmlns:a16="http://schemas.microsoft.com/office/drawing/2014/main" id="{03AC3AF8-C9BD-67EB-DB97-DDE5229F7120}"/>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Security</a:t>
            </a:r>
          </a:p>
        </p:txBody>
      </p:sp>
      <p:sp>
        <p:nvSpPr>
          <p:cNvPr id="13" name="TextBox 12">
            <a:extLst>
              <a:ext uri="{FF2B5EF4-FFF2-40B4-BE49-F238E27FC236}">
                <a16:creationId xmlns:a16="http://schemas.microsoft.com/office/drawing/2014/main" id="{EA7A9D2D-450A-E1DE-4B9C-2A9253B5D879}"/>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Nearest-person preference is not authorization. Validate who may issue commands.</a:t>
            </a:r>
          </a:p>
        </p:txBody>
      </p:sp>
      <p:sp>
        <p:nvSpPr>
          <p:cNvPr id="14" name="TextBox 13">
            <a:extLst>
              <a:ext uri="{FF2B5EF4-FFF2-40B4-BE49-F238E27FC236}">
                <a16:creationId xmlns:a16="http://schemas.microsoft.com/office/drawing/2014/main" id="{D6AEE74A-A6A7-B351-9928-B5C629879CD5}"/>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Adoption &amp; testing</a:t>
            </a:r>
          </a:p>
        </p:txBody>
      </p:sp>
      <p:sp>
        <p:nvSpPr>
          <p:cNvPr id="15" name="TextBox 14">
            <a:extLst>
              <a:ext uri="{FF2B5EF4-FFF2-40B4-BE49-F238E27FC236}">
                <a16:creationId xmlns:a16="http://schemas.microsoft.com/office/drawing/2014/main" id="{C7EBBBF1-3497-5572-5FDC-CE5E31EB258D}"/>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Test gesture learnability, gloves, distance, lighting, occlusion, and competing signals.</a:t>
            </a:r>
          </a:p>
        </p:txBody>
      </p:sp>
      <p:sp>
        <p:nvSpPr>
          <p:cNvPr id="16" name="TextBox 15">
            <a:extLst>
              <a:ext uri="{FF2B5EF4-FFF2-40B4-BE49-F238E27FC236}">
                <a16:creationId xmlns:a16="http://schemas.microsoft.com/office/drawing/2014/main" id="{1279FFF0-DF6B-01D8-89F9-9C76EBB2AF3A}"/>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Field readiness</a:t>
            </a:r>
          </a:p>
        </p:txBody>
      </p:sp>
      <p:sp>
        <p:nvSpPr>
          <p:cNvPr id="17" name="TextBox 16">
            <a:extLst>
              <a:ext uri="{FF2B5EF4-FFF2-40B4-BE49-F238E27FC236}">
                <a16:creationId xmlns:a16="http://schemas.microsoft.com/office/drawing/2014/main" id="{6CDB3F7F-E606-DB65-B55F-F621D89E6FCB}"/>
              </a:ext>
            </a:extLst>
          </p:cNvPr>
          <p:cNvSpPr txBox="1"/>
          <p:nvPr/>
        </p:nvSpPr>
        <p:spPr>
          <a:xfrm>
            <a:off x="3581400" y="5295900"/>
            <a:ext cx="8013700" cy="52322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Plan physical trials, applicable flight approvals, and GPS-independent navigation separately.</a:t>
            </a:r>
          </a:p>
        </p:txBody>
      </p:sp>
    </p:spTree>
    <p:extLst>
      <p:ext uri="{BB962C8B-B14F-4D97-AF65-F5344CB8AC3E}">
        <p14:creationId xmlns:p14="http://schemas.microsoft.com/office/powerpoint/2010/main" val="2998725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299012-F0E4-AF76-4E6E-43CD89610D0A}"/>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FF92E707-DC79-B2AF-2FA5-5C47EB4E575C}"/>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APPENDIX / EVALUATION PLAN</a:t>
            </a:r>
          </a:p>
        </p:txBody>
      </p:sp>
      <p:sp>
        <p:nvSpPr>
          <p:cNvPr id="4" name="TextBox 3">
            <a:extLst>
              <a:ext uri="{FF2B5EF4-FFF2-40B4-BE49-F238E27FC236}">
                <a16:creationId xmlns:a16="http://schemas.microsoft.com/office/drawing/2014/main" id="{307EE020-572A-B012-D5F1-F8C31707D736}"/>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EFF1E9"/>
                </a:solidFill>
                <a:latin typeface="Aptos" panose="020B0004020202020204" pitchFamily="34" charset="0"/>
              </a:rPr>
              <a:t>Turn the next demo into evidence.</a:t>
            </a:r>
          </a:p>
        </p:txBody>
      </p:sp>
      <p:cxnSp>
        <p:nvCxnSpPr>
          <p:cNvPr id="5" name="Straight Connector 4">
            <a:extLst>
              <a:ext uri="{FF2B5EF4-FFF2-40B4-BE49-F238E27FC236}">
                <a16:creationId xmlns:a16="http://schemas.microsoft.com/office/drawing/2014/main" id="{8F14EA43-E444-2879-750D-F54F3854E679}"/>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46BA210-D2A1-DBA3-7D71-22D8F8576BEB}"/>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B5169447-2A6D-D6A3-9EA4-8B6F9CF0D8D1}"/>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A2</a:t>
            </a:r>
          </a:p>
        </p:txBody>
      </p:sp>
      <p:sp>
        <p:nvSpPr>
          <p:cNvPr id="8" name="TextBox 7">
            <a:extLst>
              <a:ext uri="{FF2B5EF4-FFF2-40B4-BE49-F238E27FC236}">
                <a16:creationId xmlns:a16="http://schemas.microsoft.com/office/drawing/2014/main" id="{98B784F2-170A-95B9-988B-BED945616D7F}"/>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Command success</a:t>
            </a:r>
          </a:p>
        </p:txBody>
      </p:sp>
      <p:sp>
        <p:nvSpPr>
          <p:cNvPr id="9" name="TextBox 8">
            <a:extLst>
              <a:ext uri="{FF2B5EF4-FFF2-40B4-BE49-F238E27FC236}">
                <a16:creationId xmlns:a16="http://schemas.microsoft.com/office/drawing/2014/main" id="{64379BF7-85B9-9685-E95F-EC7E8207A2C0}"/>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Correct action / attempted commands, broken down by gesture.</a:t>
            </a:r>
          </a:p>
        </p:txBody>
      </p:sp>
      <p:sp>
        <p:nvSpPr>
          <p:cNvPr id="10" name="TextBox 9">
            <a:extLst>
              <a:ext uri="{FF2B5EF4-FFF2-40B4-BE49-F238E27FC236}">
                <a16:creationId xmlns:a16="http://schemas.microsoft.com/office/drawing/2014/main" id="{EE2FD5D9-EB0D-B88A-02E5-973AC3540EF9}"/>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Response time</a:t>
            </a:r>
          </a:p>
        </p:txBody>
      </p:sp>
      <p:sp>
        <p:nvSpPr>
          <p:cNvPr id="11" name="TextBox 10">
            <a:extLst>
              <a:ext uri="{FF2B5EF4-FFF2-40B4-BE49-F238E27FC236}">
                <a16:creationId xmlns:a16="http://schemas.microsoft.com/office/drawing/2014/main" id="{244F2FAD-E12F-566B-B6A8-41DCA387E86E}"/>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Time from completed gesture to simulated action; report median and slow cases.</a:t>
            </a:r>
          </a:p>
        </p:txBody>
      </p:sp>
      <p:sp>
        <p:nvSpPr>
          <p:cNvPr id="12" name="TextBox 11">
            <a:extLst>
              <a:ext uri="{FF2B5EF4-FFF2-40B4-BE49-F238E27FC236}">
                <a16:creationId xmlns:a16="http://schemas.microsoft.com/office/drawing/2014/main" id="{545C4BE1-5701-88E3-EAA6-F32DAA2560AF}"/>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False activation</a:t>
            </a:r>
          </a:p>
        </p:txBody>
      </p:sp>
      <p:sp>
        <p:nvSpPr>
          <p:cNvPr id="13" name="TextBox 12">
            <a:extLst>
              <a:ext uri="{FF2B5EF4-FFF2-40B4-BE49-F238E27FC236}">
                <a16:creationId xmlns:a16="http://schemas.microsoft.com/office/drawing/2014/main" id="{24BCF67A-BBC7-EBCE-5676-40728A266B45}"/>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Count unintended commands during ordinary movement and no-command periods.</a:t>
            </a:r>
          </a:p>
        </p:txBody>
      </p:sp>
      <p:sp>
        <p:nvSpPr>
          <p:cNvPr id="14" name="TextBox 13">
            <a:extLst>
              <a:ext uri="{FF2B5EF4-FFF2-40B4-BE49-F238E27FC236}">
                <a16:creationId xmlns:a16="http://schemas.microsoft.com/office/drawing/2014/main" id="{95C43381-BA63-C14E-5633-0A8728998A35}"/>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Operator selection</a:t>
            </a:r>
          </a:p>
        </p:txBody>
      </p:sp>
      <p:sp>
        <p:nvSpPr>
          <p:cNvPr id="15" name="TextBox 14">
            <a:extLst>
              <a:ext uri="{FF2B5EF4-FFF2-40B4-BE49-F238E27FC236}">
                <a16:creationId xmlns:a16="http://schemas.microsoft.com/office/drawing/2014/main" id="{64C6BD40-174A-ACAC-B2A6-81A47FD21297}"/>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Test overlapping gestures, near-equal distances, and return-to-sender behavior.</a:t>
            </a:r>
          </a:p>
        </p:txBody>
      </p:sp>
      <p:sp>
        <p:nvSpPr>
          <p:cNvPr id="16" name="TextBox 15">
            <a:extLst>
              <a:ext uri="{FF2B5EF4-FFF2-40B4-BE49-F238E27FC236}">
                <a16:creationId xmlns:a16="http://schemas.microsoft.com/office/drawing/2014/main" id="{B929BA17-36AC-D6B1-8BC8-6F32D6E2A0D6}"/>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B4EF74"/>
                </a:solidFill>
                <a:latin typeface="Aptos" panose="020B0004020202020204" pitchFamily="34" charset="0"/>
              </a:rPr>
              <a:t>Stop behavior</a:t>
            </a:r>
          </a:p>
        </p:txBody>
      </p:sp>
      <p:sp>
        <p:nvSpPr>
          <p:cNvPr id="17" name="TextBox 16">
            <a:extLst>
              <a:ext uri="{FF2B5EF4-FFF2-40B4-BE49-F238E27FC236}">
                <a16:creationId xmlns:a16="http://schemas.microsoft.com/office/drawing/2014/main" id="{A24C49F6-4BA6-CAFE-E66B-A62C64ADA433}"/>
              </a:ext>
            </a:extLst>
          </p:cNvPr>
          <p:cNvSpPr txBox="1"/>
          <p:nvPr/>
        </p:nvSpPr>
        <p:spPr>
          <a:xfrm>
            <a:off x="3581400" y="5295900"/>
            <a:ext cx="8013700" cy="261610"/>
          </a:xfrm>
          <a:prstGeom prst="rect">
            <a:avLst/>
          </a:prstGeom>
          <a:noFill/>
        </p:spPr>
        <p:txBody>
          <a:bodyPr vert="horz" wrap="square" lIns="0" tIns="0" rIns="0" bIns="0" rtlCol="0">
            <a:spAutoFit/>
          </a:bodyPr>
          <a:lstStyle/>
          <a:p>
            <a:r>
              <a:rPr lang="en-US" sz="1700">
                <a:solidFill>
                  <a:srgbClr val="EFF1E9"/>
                </a:solidFill>
                <a:latin typeface="Aptos" panose="020B0004020202020204" pitchFamily="34" charset="0"/>
              </a:rPr>
              <a:t>Measure stop response and observe the resulting simulated drone state.</a:t>
            </a:r>
          </a:p>
        </p:txBody>
      </p:sp>
    </p:spTree>
    <p:extLst>
      <p:ext uri="{BB962C8B-B14F-4D97-AF65-F5344CB8AC3E}">
        <p14:creationId xmlns:p14="http://schemas.microsoft.com/office/powerpoint/2010/main" val="1129103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0C100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0D468D-2D14-3367-0DA6-626A66AD3F94}"/>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B4EF74"/>
                </a:solidFill>
                <a:latin typeface="Aptos" panose="020B0004020202020204" pitchFamily="34" charset="0"/>
              </a:rPr>
              <a:t>TACTLINK</a:t>
            </a:r>
          </a:p>
        </p:txBody>
      </p:sp>
      <p:sp>
        <p:nvSpPr>
          <p:cNvPr id="3" name="TextBox 2">
            <a:extLst>
              <a:ext uri="{FF2B5EF4-FFF2-40B4-BE49-F238E27FC236}">
                <a16:creationId xmlns:a16="http://schemas.microsoft.com/office/drawing/2014/main" id="{28B752A0-FD11-3F15-3FF4-6655C181B5DA}"/>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APPENDIX / ORIGINAL INSPIRATION</a:t>
            </a:r>
          </a:p>
        </p:txBody>
      </p:sp>
      <p:sp>
        <p:nvSpPr>
          <p:cNvPr id="4" name="TextBox 3">
            <a:extLst>
              <a:ext uri="{FF2B5EF4-FFF2-40B4-BE49-F238E27FC236}">
                <a16:creationId xmlns:a16="http://schemas.microsoft.com/office/drawing/2014/main" id="{6407E22C-65DF-BA19-F03F-586922DDA9A9}"/>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EFF1E9"/>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FE04AEC-54CB-22A9-0BBE-D87CF23AF839}"/>
              </a:ext>
            </a:extLst>
          </p:cNvPr>
          <p:cNvCxnSpPr/>
          <p:nvPr/>
        </p:nvCxnSpPr>
        <p:spPr>
          <a:xfrm>
            <a:off x="508000" y="6261100"/>
            <a:ext cx="11176000" cy="0"/>
          </a:xfrm>
          <a:prstGeom prst="line">
            <a:avLst/>
          </a:prstGeom>
          <a:ln w="25400">
            <a:solidFill>
              <a:srgbClr val="11170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00D3165-B1F8-D332-5F89-B523EA9E7F2C}"/>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9CA593"/>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660AB8FC-99C7-2C6C-4F2D-D184CF64269D}"/>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9CA593"/>
                </a:solidFill>
                <a:latin typeface="Aptos" panose="020B0004020202020204" pitchFamily="34" charset="0"/>
              </a:rPr>
              <a:t>A3</a:t>
            </a:r>
          </a:p>
        </p:txBody>
      </p:sp>
      <p:pic>
        <p:nvPicPr>
          <p:cNvPr id="9" name="Picture 8">
            <a:extLst>
              <a:ext uri="{FF2B5EF4-FFF2-40B4-BE49-F238E27FC236}">
                <a16:creationId xmlns:a16="http://schemas.microsoft.com/office/drawing/2014/main" id="{FB361F9D-67FD-BD02-1EDC-C43A9E4F48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800100"/>
            <a:ext cx="4127500" cy="5384800"/>
          </a:xfrm>
          <a:prstGeom prst="rect">
            <a:avLst/>
          </a:prstGeom>
        </p:spPr>
      </p:pic>
      <p:sp>
        <p:nvSpPr>
          <p:cNvPr id="10" name="TextBox 9">
            <a:extLst>
              <a:ext uri="{FF2B5EF4-FFF2-40B4-BE49-F238E27FC236}">
                <a16:creationId xmlns:a16="http://schemas.microsoft.com/office/drawing/2014/main" id="{44F4F98E-BB5E-DE9E-C3BB-2566693A9994}"/>
              </a:ext>
            </a:extLst>
          </p:cNvPr>
          <p:cNvSpPr txBox="1"/>
          <p:nvPr/>
        </p:nvSpPr>
        <p:spPr>
          <a:xfrm>
            <a:off x="5257800" y="1282700"/>
            <a:ext cx="6197600" cy="492443"/>
          </a:xfrm>
          <a:prstGeom prst="rect">
            <a:avLst/>
          </a:prstGeom>
          <a:noFill/>
        </p:spPr>
        <p:txBody>
          <a:bodyPr vert="horz" wrap="square" lIns="0" tIns="0" rIns="0" bIns="0" rtlCol="0">
            <a:spAutoFit/>
          </a:bodyPr>
          <a:lstStyle/>
          <a:p>
            <a:r>
              <a:rPr lang="en-US" sz="3200" b="1">
                <a:solidFill>
                  <a:srgbClr val="EFF1E9"/>
                </a:solidFill>
                <a:latin typeface="Aptos" panose="020B0004020202020204" pitchFamily="34" charset="0"/>
              </a:rPr>
              <a:t>The prompt that started the idea.</a:t>
            </a:r>
          </a:p>
        </p:txBody>
      </p:sp>
      <p:sp>
        <p:nvSpPr>
          <p:cNvPr id="11" name="TextBox 10">
            <a:extLst>
              <a:ext uri="{FF2B5EF4-FFF2-40B4-BE49-F238E27FC236}">
                <a16:creationId xmlns:a16="http://schemas.microsoft.com/office/drawing/2014/main" id="{49A273BA-2445-6331-70A5-F3778E117027}"/>
              </a:ext>
            </a:extLst>
          </p:cNvPr>
          <p:cNvSpPr txBox="1"/>
          <p:nvPr/>
        </p:nvSpPr>
        <p:spPr>
          <a:xfrm>
            <a:off x="5257800" y="2768600"/>
            <a:ext cx="6019800" cy="1154162"/>
          </a:xfrm>
          <a:prstGeom prst="rect">
            <a:avLst/>
          </a:prstGeom>
          <a:noFill/>
        </p:spPr>
        <p:txBody>
          <a:bodyPr vert="horz" wrap="square" lIns="0" tIns="0" rIns="0" bIns="0" rtlCol="0">
            <a:spAutoFit/>
          </a:bodyPr>
          <a:lstStyle/>
          <a:p>
            <a:r>
              <a:rPr lang="en-US" sz="2500">
                <a:solidFill>
                  <a:srgbClr val="9CA593"/>
                </a:solidFill>
                <a:latin typeface="Aptos" panose="020B0004020202020204" pitchFamily="34" charset="0"/>
              </a:rPr>
              <a:t>Natural-language path planning suggested a broader question: how else do people communicate intent?</a:t>
            </a:r>
          </a:p>
        </p:txBody>
      </p:sp>
      <p:sp>
        <p:nvSpPr>
          <p:cNvPr id="12" name="TextBox 11">
            <a:extLst>
              <a:ext uri="{FF2B5EF4-FFF2-40B4-BE49-F238E27FC236}">
                <a16:creationId xmlns:a16="http://schemas.microsoft.com/office/drawing/2014/main" id="{C081CA4C-DE04-07AE-8D81-DB1219F8B1C0}"/>
              </a:ext>
            </a:extLst>
          </p:cNvPr>
          <p:cNvSpPr txBox="1"/>
          <p:nvPr/>
        </p:nvSpPr>
        <p:spPr>
          <a:xfrm>
            <a:off x="5257800" y="4584700"/>
            <a:ext cx="6019800" cy="830997"/>
          </a:xfrm>
          <a:prstGeom prst="rect">
            <a:avLst/>
          </a:prstGeom>
          <a:noFill/>
        </p:spPr>
        <p:txBody>
          <a:bodyPr vert="horz" wrap="square" lIns="0" tIns="0" rIns="0" bIns="0" rtlCol="0">
            <a:spAutoFit/>
          </a:bodyPr>
          <a:lstStyle/>
          <a:p>
            <a:r>
              <a:rPr lang="en-US" sz="2700" b="1">
                <a:solidFill>
                  <a:srgbClr val="B4EF74"/>
                </a:solidFill>
                <a:latin typeface="Aptos" panose="020B0004020202020204" pitchFamily="34" charset="0"/>
              </a:rPr>
              <a:t>Tactlink explores gestures alongside spoken commands.</a:t>
            </a:r>
          </a:p>
        </p:txBody>
      </p:sp>
    </p:spTree>
    <p:extLst>
      <p:ext uri="{BB962C8B-B14F-4D97-AF65-F5344CB8AC3E}">
        <p14:creationId xmlns:p14="http://schemas.microsoft.com/office/powerpoint/2010/main" val="3494844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1694</Words>
  <Application>Microsoft Office PowerPoint</Application>
  <PresentationFormat>Custom</PresentationFormat>
  <Paragraphs>179</Paragraphs>
  <Slides>11</Slides>
  <Notes>11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Holly, Ian Patrick</dc:creator>
  <cp:lastModifiedBy>Holly, Ian Patrick</cp:lastModifiedBy>
  <cp:revision>1</cp:revision>
  <dcterms:created xsi:type="dcterms:W3CDTF">2026-09-06T15:19:10Z</dcterms:created>
  <dcterms:modified xsi:type="dcterms:W3CDTF">2026-09-06T15:19:10Z</dcterms:modified>
</cp:coreProperties>
</file>