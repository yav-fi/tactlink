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3585E-1DA0-49B9-952C-DDADF45F8FBB}"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75C7FD-B9CA-46AE-93FF-D702DBE676D5}" type="slidenum">
              <a:rPr lang="en-US" smtClean="0"/>
              <a:t>‹#›</a:t>
            </a:fld>
            <a:endParaRPr lang="en-US"/>
          </a:p>
        </p:txBody>
      </p:sp>
    </p:spTree>
    <p:extLst>
      <p:ext uri="{BB962C8B-B14F-4D97-AF65-F5344CB8AC3E}">
        <p14:creationId xmlns:p14="http://schemas.microsoft.com/office/powerpoint/2010/main" val="3770883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0:00–0:15. Tactlink is about adding the drone to the squad. Soldiers communicate intent to teammates through familiar signals; we want the squad to interact with a drone in that same natural way. A conversation with an industry representative helped shape this goal. Today we demonstrate that interaction in a connected simulation, not physical flight. The conversation is design input, not an endorsement.</a:t>
            </a:r>
          </a:p>
        </p:txBody>
      </p:sp>
      <p:sp>
        <p:nvSpPr>
          <p:cNvPr id="4" name="Slide Number Placeholder 3"/>
          <p:cNvSpPr>
            <a:spLocks noGrp="1"/>
          </p:cNvSpPr>
          <p:nvPr>
            <p:ph type="sldNum" sz="quarter" idx="5"/>
          </p:nvPr>
        </p:nvSpPr>
        <p:spPr/>
        <p:txBody>
          <a:bodyPr/>
          <a:lstStyle/>
          <a:p>
            <a:fld id="{3575C7FD-B9CA-46AE-93FF-D702DBE676D5}" type="slidenum">
              <a:rPr lang="en-US" smtClean="0"/>
              <a:t>1</a:t>
            </a:fld>
            <a:endParaRPr lang="en-US"/>
          </a:p>
        </p:txBody>
      </p:sp>
    </p:spTree>
    <p:extLst>
      <p:ext uri="{BB962C8B-B14F-4D97-AF65-F5344CB8AC3E}">
        <p14:creationId xmlns:p14="http://schemas.microsoft.com/office/powerpoint/2010/main" val="3263753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0:15–0:40. An industry representative described soldiers using a small, chest-mounted tablet in GPS-denied environments. That prompted our design question: can a soldier redirect a drone by signaling it directly while staying engaged with the squad? The intended benefit is more dynamic drone support as needs change. We demonstrate gesture-driven changes in simulation today; onboard perception is planned. The diagram interprets our informal user discovery; it is not a measured comparison or a claim about every military workflow. We have not measured attention or response-time improvements. Visual commands require visibility and do not provide GPS-independent navigation.</a:t>
            </a:r>
          </a:p>
        </p:txBody>
      </p:sp>
      <p:sp>
        <p:nvSpPr>
          <p:cNvPr id="4" name="Slide Number Placeholder 3"/>
          <p:cNvSpPr>
            <a:spLocks noGrp="1"/>
          </p:cNvSpPr>
          <p:nvPr>
            <p:ph type="sldNum" sz="quarter" idx="5"/>
          </p:nvPr>
        </p:nvSpPr>
        <p:spPr/>
        <p:txBody>
          <a:bodyPr/>
          <a:lstStyle/>
          <a:p>
            <a:fld id="{3575C7FD-B9CA-46AE-93FF-D702DBE676D5}" type="slidenum">
              <a:rPr lang="en-US" smtClean="0"/>
              <a:t>2</a:t>
            </a:fld>
            <a:endParaRPr lang="en-US"/>
          </a:p>
        </p:txBody>
      </p:sp>
    </p:spTree>
    <p:extLst>
      <p:ext uri="{BB962C8B-B14F-4D97-AF65-F5344CB8AC3E}">
        <p14:creationId xmlns:p14="http://schemas.microsoft.com/office/powerpoint/2010/main" val="3019315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0:40–0:55. The hackathon prompt proposed flight paths in plain English. That inspired us to ask: why not communicate in another human way, through gestures? Our working demonstration focuses on gesture interaction; natural-language commands are demonstrated in a separate test environment. The full original prompt is in the hidden appendix. The source prompt is inspiration, not evidence that we implemented its flight-controller or verification requirements.</a:t>
            </a:r>
          </a:p>
        </p:txBody>
      </p:sp>
      <p:sp>
        <p:nvSpPr>
          <p:cNvPr id="4" name="Slide Number Placeholder 3"/>
          <p:cNvSpPr>
            <a:spLocks noGrp="1"/>
          </p:cNvSpPr>
          <p:nvPr>
            <p:ph type="sldNum" sz="quarter" idx="5"/>
          </p:nvPr>
        </p:nvSpPr>
        <p:spPr/>
        <p:txBody>
          <a:bodyPr/>
          <a:lstStyle/>
          <a:p>
            <a:fld id="{3575C7FD-B9CA-46AE-93FF-D702DBE676D5}" type="slidenum">
              <a:rPr lang="en-US" smtClean="0"/>
              <a:t>3</a:t>
            </a:fld>
            <a:endParaRPr lang="en-US"/>
          </a:p>
        </p:txBody>
      </p:sp>
    </p:spTree>
    <p:extLst>
      <p:ext uri="{BB962C8B-B14F-4D97-AF65-F5344CB8AC3E}">
        <p14:creationId xmlns:p14="http://schemas.microsoft.com/office/powerpoint/2010/main" val="3983441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0:55–1:40. Begin with a preassigned mission running in the 3D simulation, then show a gesture interrupting that flight. Demonstrate orbit, directional movement, return overhead to the sender, and open-palm stop. Explain that the route was created in the 2D planner. Keep the full sequence within 45 seconds. The phones and main computer are connected; this is simulated flight. Switch back to slide 4 after the demonstration.</a:t>
            </a:r>
          </a:p>
        </p:txBody>
      </p:sp>
      <p:sp>
        <p:nvSpPr>
          <p:cNvPr id="4" name="Slide Number Placeholder 3"/>
          <p:cNvSpPr>
            <a:spLocks noGrp="1"/>
          </p:cNvSpPr>
          <p:nvPr>
            <p:ph type="sldNum" sz="quarter" idx="5"/>
          </p:nvPr>
        </p:nvSpPr>
        <p:spPr/>
        <p:txBody>
          <a:bodyPr/>
          <a:lstStyle/>
          <a:p>
            <a:fld id="{3575C7FD-B9CA-46AE-93FF-D702DBE676D5}" type="slidenum">
              <a:rPr lang="en-US" smtClean="0"/>
              <a:t>4</a:t>
            </a:fld>
            <a:endParaRPr lang="en-US"/>
          </a:p>
        </p:txBody>
      </p:sp>
    </p:spTree>
    <p:extLst>
      <p:ext uri="{BB962C8B-B14F-4D97-AF65-F5344CB8AC3E}">
        <p14:creationId xmlns:p14="http://schemas.microsoft.com/office/powerpoint/2010/main" val="4021461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1:40–2:10. Tactlink also has mission planning. We build a route in a conventional 2D flight planner and visualize that mission in a 3D virtual world. Mid-flight, a hand gesture can interrupt the planned behavior. That makes the operator dynamic: plan ahead, then respond as the situation changes. We built the integration connecting the planner, custom gesture sequences, operator context, and simulated drone actions. A possible use case is sending a drone to another operator for overwatch. All flight behavior shown is simulated. Do not imply that interrupted routes automatically resume; that has not been confirmed.</a:t>
            </a:r>
          </a:p>
        </p:txBody>
      </p:sp>
      <p:sp>
        <p:nvSpPr>
          <p:cNvPr id="4" name="Slide Number Placeholder 3"/>
          <p:cNvSpPr>
            <a:spLocks noGrp="1"/>
          </p:cNvSpPr>
          <p:nvPr>
            <p:ph type="sldNum" sz="quarter" idx="5"/>
          </p:nvPr>
        </p:nvSpPr>
        <p:spPr/>
        <p:txBody>
          <a:bodyPr/>
          <a:lstStyle/>
          <a:p>
            <a:fld id="{3575C7FD-B9CA-46AE-93FF-D702DBE676D5}" type="slidenum">
              <a:rPr lang="en-US" smtClean="0"/>
              <a:t>5</a:t>
            </a:fld>
            <a:endParaRPr lang="en-US"/>
          </a:p>
        </p:txBody>
      </p:sp>
    </p:spTree>
    <p:extLst>
      <p:ext uri="{BB962C8B-B14F-4D97-AF65-F5344CB8AC3E}">
        <p14:creationId xmlns:p14="http://schemas.microsoft.com/office/powerpoint/2010/main" val="1941781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2:10–2:30. We trained a custom gesture model in desktop experiments and demonstrated natural-language commands in a test environment. Next we want to expand the vocabulary across more people and bring these interaction paths together. The phone gesture demo currently uses a separate rule layer. The product goal stays simple: communicate with the drone like a teammate.</a:t>
            </a:r>
          </a:p>
        </p:txBody>
      </p:sp>
      <p:sp>
        <p:nvSpPr>
          <p:cNvPr id="4" name="Slide Number Placeholder 3"/>
          <p:cNvSpPr>
            <a:spLocks noGrp="1"/>
          </p:cNvSpPr>
          <p:nvPr>
            <p:ph type="sldNum" sz="quarter" idx="5"/>
          </p:nvPr>
        </p:nvSpPr>
        <p:spPr/>
        <p:txBody>
          <a:bodyPr/>
          <a:lstStyle/>
          <a:p>
            <a:fld id="{3575C7FD-B9CA-46AE-93FF-D702DBE676D5}" type="slidenum">
              <a:rPr lang="en-US" smtClean="0"/>
              <a:t>6</a:t>
            </a:fld>
            <a:endParaRPr lang="en-US"/>
          </a:p>
        </p:txBody>
      </p:sp>
    </p:spTree>
    <p:extLst>
      <p:ext uri="{BB962C8B-B14F-4D97-AF65-F5344CB8AC3E}">
        <p14:creationId xmlns:p14="http://schemas.microsoft.com/office/powerpoint/2010/main" val="2813353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2:30–2:50. Our next step is structured feedback and measurement. We will evaluate whether commands feel natural, measure errors and latency, and test visibility and competing instructions. These are planned tests, not results already collected. Industry conversations inform the design and are not endorsements.</a:t>
            </a:r>
          </a:p>
        </p:txBody>
      </p:sp>
      <p:sp>
        <p:nvSpPr>
          <p:cNvPr id="4" name="Slide Number Placeholder 3"/>
          <p:cNvSpPr>
            <a:spLocks noGrp="1"/>
          </p:cNvSpPr>
          <p:nvPr>
            <p:ph type="sldNum" sz="quarter" idx="5"/>
          </p:nvPr>
        </p:nvSpPr>
        <p:spPr/>
        <p:txBody>
          <a:bodyPr/>
          <a:lstStyle/>
          <a:p>
            <a:fld id="{3575C7FD-B9CA-46AE-93FF-D702DBE676D5}" type="slidenum">
              <a:rPr lang="en-US" smtClean="0"/>
              <a:t>7</a:t>
            </a:fld>
            <a:endParaRPr lang="en-US"/>
          </a:p>
        </p:txBody>
      </p:sp>
    </p:spTree>
    <p:extLst>
      <p:ext uri="{BB962C8B-B14F-4D97-AF65-F5344CB8AC3E}">
        <p14:creationId xmlns:p14="http://schemas.microsoft.com/office/powerpoint/2010/main" val="1230023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2:50–3:10. The simulation is our demonstration environment. Next comes onboard sensing and compute, flight-control integration, and controlled physical-drone trials. Physical integration and flight validation are not completed. The goal is a drone you can talk and gesture to like another teammate. End here; remaining slides are hidden Q&amp;A backup.</a:t>
            </a:r>
          </a:p>
        </p:txBody>
      </p:sp>
      <p:sp>
        <p:nvSpPr>
          <p:cNvPr id="4" name="Slide Number Placeholder 3"/>
          <p:cNvSpPr>
            <a:spLocks noGrp="1"/>
          </p:cNvSpPr>
          <p:nvPr>
            <p:ph type="sldNum" sz="quarter" idx="5"/>
          </p:nvPr>
        </p:nvSpPr>
        <p:spPr/>
        <p:txBody>
          <a:bodyPr/>
          <a:lstStyle/>
          <a:p>
            <a:fld id="{3575C7FD-B9CA-46AE-93FF-D702DBE676D5}" type="slidenum">
              <a:rPr lang="en-US" smtClean="0"/>
              <a:t>8</a:t>
            </a:fld>
            <a:endParaRPr lang="en-US"/>
          </a:p>
        </p:txBody>
      </p:sp>
    </p:spTree>
    <p:extLst>
      <p:ext uri="{BB962C8B-B14F-4D97-AF65-F5344CB8AC3E}">
        <p14:creationId xmlns:p14="http://schemas.microsoft.com/office/powerpoint/2010/main" val="399502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These are planned deployment considerations, not completed capabilities. No cost estimate, field validation, procurement commitment, or regulatory approval has been established. Jetson-class onboard compute is an option; no specific board is validated.</a:t>
            </a:r>
          </a:p>
        </p:txBody>
      </p:sp>
      <p:sp>
        <p:nvSpPr>
          <p:cNvPr id="4" name="Slide Number Placeholder 3"/>
          <p:cNvSpPr>
            <a:spLocks noGrp="1"/>
          </p:cNvSpPr>
          <p:nvPr>
            <p:ph type="sldNum" sz="quarter" idx="5"/>
          </p:nvPr>
        </p:nvSpPr>
        <p:spPr/>
        <p:txBody>
          <a:bodyPr/>
          <a:lstStyle/>
          <a:p>
            <a:fld id="{3575C7FD-B9CA-46AE-93FF-D702DBE676D5}" type="slidenum">
              <a:rPr lang="en-US" smtClean="0"/>
              <a:t>9</a:t>
            </a:fld>
            <a:endParaRPr lang="en-US"/>
          </a:p>
        </p:txBody>
      </p:sp>
    </p:spTree>
    <p:extLst>
      <p:ext uri="{BB962C8B-B14F-4D97-AF65-F5344CB8AC3E}">
        <p14:creationId xmlns:p14="http://schemas.microsoft.com/office/powerpoint/2010/main" val="3760557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This is a proposed evaluation plan. No measured results are claimed. Record the number of trials, test conditions, and failures. Simulation measurements do not establish physical-drone reliability.</a:t>
            </a:r>
          </a:p>
        </p:txBody>
      </p:sp>
      <p:sp>
        <p:nvSpPr>
          <p:cNvPr id="4" name="Slide Number Placeholder 3"/>
          <p:cNvSpPr>
            <a:spLocks noGrp="1"/>
          </p:cNvSpPr>
          <p:nvPr>
            <p:ph type="sldNum" sz="quarter" idx="5"/>
          </p:nvPr>
        </p:nvSpPr>
        <p:spPr/>
        <p:txBody>
          <a:bodyPr/>
          <a:lstStyle/>
          <a:p>
            <a:fld id="{3575C7FD-B9CA-46AE-93FF-D702DBE676D5}" type="slidenum">
              <a:rPr lang="en-US" smtClean="0"/>
              <a:t>10</a:t>
            </a:fld>
            <a:endParaRPr lang="en-US"/>
          </a:p>
        </p:txBody>
      </p:sp>
    </p:spTree>
    <p:extLst>
      <p:ext uri="{BB962C8B-B14F-4D97-AF65-F5344CB8AC3E}">
        <p14:creationId xmlns:p14="http://schemas.microsoft.com/office/powerpoint/2010/main" val="2885080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team-provided image DNhacks_inspo_prompt.png, DNHacks Defense inspiration prompt titled Flight paths in plain English. Reproduced as supplied. This is historical inspiration; technical claims in the prompt are not independent evidence of Tactlink capabilities. Natural-language route commands are demonstrated in a separate simulation test environment.</a:t>
            </a:r>
          </a:p>
        </p:txBody>
      </p:sp>
      <p:sp>
        <p:nvSpPr>
          <p:cNvPr id="4" name="Slide Number Placeholder 3"/>
          <p:cNvSpPr>
            <a:spLocks noGrp="1"/>
          </p:cNvSpPr>
          <p:nvPr>
            <p:ph type="sldNum" sz="quarter" idx="5"/>
          </p:nvPr>
        </p:nvSpPr>
        <p:spPr/>
        <p:txBody>
          <a:bodyPr/>
          <a:lstStyle/>
          <a:p>
            <a:fld id="{3575C7FD-B9CA-46AE-93FF-D702DBE676D5}" type="slidenum">
              <a:rPr lang="en-US" smtClean="0"/>
              <a:t>11</a:t>
            </a:fld>
            <a:endParaRPr lang="en-US"/>
          </a:p>
        </p:txBody>
      </p:sp>
    </p:spTree>
    <p:extLst>
      <p:ext uri="{BB962C8B-B14F-4D97-AF65-F5344CB8AC3E}">
        <p14:creationId xmlns:p14="http://schemas.microsoft.com/office/powerpoint/2010/main" val="3736341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10952-F1D7-10DA-69D3-89D31B0278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60EBB1-F1C8-0C1C-AC45-B52429B494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3FD79A8-A18B-B672-BDFE-75A15E561D5D}"/>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5" name="Footer Placeholder 4">
            <a:extLst>
              <a:ext uri="{FF2B5EF4-FFF2-40B4-BE49-F238E27FC236}">
                <a16:creationId xmlns:a16="http://schemas.microsoft.com/office/drawing/2014/main" id="{ADC11548-2B2D-990A-6A55-3516F0084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A101A0-4145-A13E-0DFB-FC83B6C83D0D}"/>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3126078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6716-D2F1-093C-EB21-2C3823924F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2A41EB-EAE1-9EA9-15BD-A7BCD6AD56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AB8814-4CF7-81F3-7864-0F422AAA1763}"/>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5" name="Footer Placeholder 4">
            <a:extLst>
              <a:ext uri="{FF2B5EF4-FFF2-40B4-BE49-F238E27FC236}">
                <a16:creationId xmlns:a16="http://schemas.microsoft.com/office/drawing/2014/main" id="{F3C819B1-CEC6-0C3D-E5E9-3001D12A5C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DFEBA-6C0A-F4F1-9E78-A71BEAB0E66F}"/>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3213757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6D1-C2BC-2240-B4E3-B134725F0E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288486-FF38-44C2-50DB-7AF14ED61A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D53076-F4DD-224A-71AA-9D41D7631D1C}"/>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5" name="Footer Placeholder 4">
            <a:extLst>
              <a:ext uri="{FF2B5EF4-FFF2-40B4-BE49-F238E27FC236}">
                <a16:creationId xmlns:a16="http://schemas.microsoft.com/office/drawing/2014/main" id="{0CEDA077-47BB-0200-C63A-7E405D35F0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7B66D4-A81D-D815-2991-40E6D4C7A775}"/>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144945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CB30-AEEA-31DF-6736-061BBA74E4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F9FA08-B404-33C2-37B2-78463F157A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8E7DB7-694E-3339-8305-DA2BEC793F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19C51D-8101-02CD-F2A0-09B1F22DA365}"/>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6" name="Footer Placeholder 5">
            <a:extLst>
              <a:ext uri="{FF2B5EF4-FFF2-40B4-BE49-F238E27FC236}">
                <a16:creationId xmlns:a16="http://schemas.microsoft.com/office/drawing/2014/main" id="{1E00D020-B937-7AB4-F463-ADDCC64B02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363E7-AE65-6DAC-6DE4-A786F6D7F0F1}"/>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247046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88E0-6A34-470F-A807-173987FEF0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82B970-8F98-F0CF-3BC3-7AE9003566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B3ADC9-CBDB-464F-8A17-DCC651489F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31A80A-735C-40CA-A762-21AC8FD27D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306704-8543-A8DF-3D10-7F3A861352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F9DA71-4220-89B6-A151-00C0DA9AFA9D}"/>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8" name="Footer Placeholder 7">
            <a:extLst>
              <a:ext uri="{FF2B5EF4-FFF2-40B4-BE49-F238E27FC236}">
                <a16:creationId xmlns:a16="http://schemas.microsoft.com/office/drawing/2014/main" id="{76233700-5104-96E5-EB3A-7D7B191236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567498-2CF9-9FFC-CE83-B378671753A8}"/>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931075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47132-F292-0B4F-04DB-CFC3CC07CD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DF1E4E-B20F-9E0E-E6F7-5AC46C16F030}"/>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4" name="Footer Placeholder 3">
            <a:extLst>
              <a:ext uri="{FF2B5EF4-FFF2-40B4-BE49-F238E27FC236}">
                <a16:creationId xmlns:a16="http://schemas.microsoft.com/office/drawing/2014/main" id="{0034522A-EC11-6F71-03A7-20DF7B78CF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3D65D1-D53B-A732-579F-7F3B39862C5A}"/>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2411853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D19B8B-903A-562B-F9D4-FFBC04546623}"/>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3" name="Footer Placeholder 2">
            <a:extLst>
              <a:ext uri="{FF2B5EF4-FFF2-40B4-BE49-F238E27FC236}">
                <a16:creationId xmlns:a16="http://schemas.microsoft.com/office/drawing/2014/main" id="{75F133D3-944A-5FA7-4355-5FB3A29A05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74B112-AB02-A916-9C8E-28708CC3E0C7}"/>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3440051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2B2E0-6E75-5AEF-F914-046B10CE94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BEA11F-2585-2F9C-DDD3-E00891B8F9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CE35A3-B26E-F930-64A3-63C90DCB5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3D24BE-BB10-910E-5F10-1FFA8E685815}"/>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6" name="Footer Placeholder 5">
            <a:extLst>
              <a:ext uri="{FF2B5EF4-FFF2-40B4-BE49-F238E27FC236}">
                <a16:creationId xmlns:a16="http://schemas.microsoft.com/office/drawing/2014/main" id="{0749B135-165B-1F3B-A9D6-960E75996E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6FC5EC-0FC0-6ED8-712E-5B4C4951C423}"/>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218763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E334A-A776-4A46-FBB2-A95BA2678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266BA4-A2DA-A637-244A-215590E6BD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5D8530-75A5-A99C-6CEE-42A84FCC7C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E53CA5-0CBF-0D3A-6B1B-6C2FC19B9776}"/>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6" name="Footer Placeholder 5">
            <a:extLst>
              <a:ext uri="{FF2B5EF4-FFF2-40B4-BE49-F238E27FC236}">
                <a16:creationId xmlns:a16="http://schemas.microsoft.com/office/drawing/2014/main" id="{BF716E2D-1A35-E00B-C523-D8238BF857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ECACBD-5E47-5033-5D17-DB60DF67EEF0}"/>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2962759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2FC00-BACF-0660-4018-F45D3A1A6B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00FAF3-B8B6-241F-16D6-36D17EF0BE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0C9B9B-78A0-3DBE-7AF2-7226D02C0A79}"/>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5" name="Footer Placeholder 4">
            <a:extLst>
              <a:ext uri="{FF2B5EF4-FFF2-40B4-BE49-F238E27FC236}">
                <a16:creationId xmlns:a16="http://schemas.microsoft.com/office/drawing/2014/main" id="{A98FE7CD-8CA6-BEF5-336C-8CFC33C92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92D3E6-BB3B-1103-C8B6-7519D175A039}"/>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2393565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B04D53-3574-1901-008E-5404423D25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5DBAC3-4CE3-0326-D5EA-EE162C2DBF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5D85E8-43FD-B072-A24B-6578BBDAE51C}"/>
              </a:ext>
            </a:extLst>
          </p:cNvPr>
          <p:cNvSpPr>
            <a:spLocks noGrp="1"/>
          </p:cNvSpPr>
          <p:nvPr>
            <p:ph type="dt" sz="half" idx="10"/>
          </p:nvPr>
        </p:nvSpPr>
        <p:spPr/>
        <p:txBody>
          <a:bodyPr/>
          <a:lstStyle/>
          <a:p>
            <a:fld id="{F117FC6B-0EE2-440A-8CE9-C76478FE417C}" type="datetimeFigureOut">
              <a:rPr lang="en-US" smtClean="0"/>
              <a:t>9/6/2026</a:t>
            </a:fld>
            <a:endParaRPr lang="en-US"/>
          </a:p>
        </p:txBody>
      </p:sp>
      <p:sp>
        <p:nvSpPr>
          <p:cNvPr id="5" name="Footer Placeholder 4">
            <a:extLst>
              <a:ext uri="{FF2B5EF4-FFF2-40B4-BE49-F238E27FC236}">
                <a16:creationId xmlns:a16="http://schemas.microsoft.com/office/drawing/2014/main" id="{6DDAE837-CC6C-D934-387D-65544C9C0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2E273F-EBA0-8996-B675-CC66993F86EF}"/>
              </a:ext>
            </a:extLst>
          </p:cNvPr>
          <p:cNvSpPr>
            <a:spLocks noGrp="1"/>
          </p:cNvSpPr>
          <p:nvPr>
            <p:ph type="sldNum" sz="quarter" idx="12"/>
          </p:nvPr>
        </p:nvSpPr>
        <p:spPr/>
        <p:txBody>
          <a:bodyPr/>
          <a:lstStyle/>
          <a:p>
            <a:fld id="{3544C761-9F00-469C-BF70-B5D94A0D47F4}" type="slidenum">
              <a:rPr lang="en-US" smtClean="0"/>
              <a:t>‹#›</a:t>
            </a:fld>
            <a:endParaRPr lang="en-US"/>
          </a:p>
        </p:txBody>
      </p:sp>
    </p:spTree>
    <p:extLst>
      <p:ext uri="{BB962C8B-B14F-4D97-AF65-F5344CB8AC3E}">
        <p14:creationId xmlns:p14="http://schemas.microsoft.com/office/powerpoint/2010/main" val="236752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63D4F1-9A96-1841-4820-86163DB601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5640E1-FF01-C475-09DC-888EECCD2F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11EDFB-67EC-95B7-6F2B-BF99242DD4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17FC6B-0EE2-440A-8CE9-C76478FE417C}" type="datetimeFigureOut">
              <a:rPr lang="en-US" smtClean="0"/>
              <a:t>9/6/2026</a:t>
            </a:fld>
            <a:endParaRPr lang="en-US"/>
          </a:p>
        </p:txBody>
      </p:sp>
      <p:sp>
        <p:nvSpPr>
          <p:cNvPr id="5" name="Footer Placeholder 4">
            <a:extLst>
              <a:ext uri="{FF2B5EF4-FFF2-40B4-BE49-F238E27FC236}">
                <a16:creationId xmlns:a16="http://schemas.microsoft.com/office/drawing/2014/main" id="{504F3A05-81AE-567F-AD05-845D4CD117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E85D59-5EF2-8526-66EB-6509D20DB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44C761-9F00-469C-BF70-B5D94A0D47F4}" type="slidenum">
              <a:rPr lang="en-US" smtClean="0"/>
              <a:t>‹#›</a:t>
            </a:fld>
            <a:endParaRPr lang="en-US"/>
          </a:p>
        </p:txBody>
      </p:sp>
    </p:spTree>
    <p:extLst>
      <p:ext uri="{BB962C8B-B14F-4D97-AF65-F5344CB8AC3E}">
        <p14:creationId xmlns:p14="http://schemas.microsoft.com/office/powerpoint/2010/main" val="3526660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askandpurpose.com/news/army-drone-mos/"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5029AB-E994-29D6-4D3D-082A3015A526}"/>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399B9178-F030-C596-12E9-6FB2BFF92BA6}"/>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SQUAD–DRONE INTERACTION</a:t>
            </a:r>
          </a:p>
        </p:txBody>
      </p:sp>
      <p:sp>
        <p:nvSpPr>
          <p:cNvPr id="4" name="TextBox 3">
            <a:extLst>
              <a:ext uri="{FF2B5EF4-FFF2-40B4-BE49-F238E27FC236}">
                <a16:creationId xmlns:a16="http://schemas.microsoft.com/office/drawing/2014/main" id="{E63EAC8B-50DA-9946-505F-16F8C6A9F2E7}"/>
              </a:ext>
            </a:extLst>
          </p:cNvPr>
          <p:cNvSpPr txBox="1"/>
          <p:nvPr/>
        </p:nvSpPr>
        <p:spPr>
          <a:xfrm>
            <a:off x="508000" y="939800"/>
            <a:ext cx="11239500" cy="553998"/>
          </a:xfrm>
          <a:prstGeom prst="rect">
            <a:avLst/>
          </a:prstGeom>
          <a:noFill/>
        </p:spPr>
        <p:txBody>
          <a:bodyPr vert="horz" wrap="square" lIns="0" tIns="0" rIns="0" bIns="0" rtlCol="0">
            <a:spAutoFit/>
          </a:bodyPr>
          <a:lstStyle/>
          <a:p>
            <a:endParaRPr lang="en-US" sz="3600" b="1">
              <a:solidFill>
                <a:srgbClr val="14263A"/>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A346D25-A2AA-66B3-9B13-008A04E51BB1}"/>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707A034-D656-58EE-7CEC-32DA290A67D2}"/>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9CF1B1E4-D655-F178-3C86-BCA65E93F43E}"/>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69CEE41F-DDAF-2A4F-12F7-46910427FE04}"/>
              </a:ext>
            </a:extLst>
          </p:cNvPr>
          <p:cNvSpPr/>
          <p:nvPr/>
        </p:nvSpPr>
        <p:spPr>
          <a:xfrm>
            <a:off x="508000" y="1054100"/>
            <a:ext cx="30988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B3A49C9-9C70-5CDF-F272-A4E1BD56E34C}"/>
              </a:ext>
            </a:extLst>
          </p:cNvPr>
          <p:cNvSpPr txBox="1"/>
          <p:nvPr/>
        </p:nvSpPr>
        <p:spPr>
          <a:xfrm>
            <a:off x="635000" y="1117600"/>
            <a:ext cx="28448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DEFENSE / WORKING SIMULATION</a:t>
            </a:r>
          </a:p>
        </p:txBody>
      </p:sp>
      <p:sp>
        <p:nvSpPr>
          <p:cNvPr id="10" name="TextBox 9">
            <a:extLst>
              <a:ext uri="{FF2B5EF4-FFF2-40B4-BE49-F238E27FC236}">
                <a16:creationId xmlns:a16="http://schemas.microsoft.com/office/drawing/2014/main" id="{A0361D40-F3E3-FC95-4FC1-EADE7292E9DD}"/>
              </a:ext>
            </a:extLst>
          </p:cNvPr>
          <p:cNvSpPr txBox="1"/>
          <p:nvPr/>
        </p:nvSpPr>
        <p:spPr>
          <a:xfrm>
            <a:off x="508000" y="1778000"/>
            <a:ext cx="6540500" cy="1323439"/>
          </a:xfrm>
          <a:prstGeom prst="rect">
            <a:avLst/>
          </a:prstGeom>
          <a:noFill/>
        </p:spPr>
        <p:txBody>
          <a:bodyPr vert="horz" wrap="square" lIns="0" tIns="0" rIns="0" bIns="0" rtlCol="0">
            <a:spAutoFit/>
          </a:bodyPr>
          <a:lstStyle/>
          <a:p>
            <a:r>
              <a:rPr lang="en-US" sz="4300" b="1">
                <a:solidFill>
                  <a:srgbClr val="14263A"/>
                </a:solidFill>
                <a:latin typeface="Aptos" panose="020B0004020202020204" pitchFamily="34" charset="0"/>
              </a:rPr>
              <a:t>Add the drone
to the squad.</a:t>
            </a:r>
          </a:p>
        </p:txBody>
      </p:sp>
      <p:sp>
        <p:nvSpPr>
          <p:cNvPr id="11" name="TextBox 10">
            <a:extLst>
              <a:ext uri="{FF2B5EF4-FFF2-40B4-BE49-F238E27FC236}">
                <a16:creationId xmlns:a16="http://schemas.microsoft.com/office/drawing/2014/main" id="{61F62F22-4E7C-4A9F-05DE-4F4AE2E3CC71}"/>
              </a:ext>
            </a:extLst>
          </p:cNvPr>
          <p:cNvSpPr txBox="1"/>
          <p:nvPr/>
        </p:nvSpPr>
        <p:spPr>
          <a:xfrm>
            <a:off x="508000" y="3886200"/>
            <a:ext cx="5270500" cy="769441"/>
          </a:xfrm>
          <a:prstGeom prst="rect">
            <a:avLst/>
          </a:prstGeom>
          <a:noFill/>
        </p:spPr>
        <p:txBody>
          <a:bodyPr vert="horz" wrap="square" lIns="0" tIns="0" rIns="0" bIns="0" rtlCol="0">
            <a:spAutoFit/>
          </a:bodyPr>
          <a:lstStyle/>
          <a:p>
            <a:r>
              <a:rPr lang="en-US" sz="2500">
                <a:solidFill>
                  <a:srgbClr val="617286"/>
                </a:solidFill>
                <a:latin typeface="Aptos" panose="020B0004020202020204" pitchFamily="34" charset="0"/>
              </a:rPr>
              <a:t>Plan the mission. Signal changes as the squad moves.</a:t>
            </a:r>
          </a:p>
        </p:txBody>
      </p:sp>
      <p:cxnSp>
        <p:nvCxnSpPr>
          <p:cNvPr id="12" name="Straight Connector 11">
            <a:extLst>
              <a:ext uri="{FF2B5EF4-FFF2-40B4-BE49-F238E27FC236}">
                <a16:creationId xmlns:a16="http://schemas.microsoft.com/office/drawing/2014/main" id="{07D50666-3078-8096-DBAE-1CE7765ABC42}"/>
              </a:ext>
            </a:extLst>
          </p:cNvPr>
          <p:cNvCxnSpPr/>
          <p:nvPr/>
        </p:nvCxnSpPr>
        <p:spPr>
          <a:xfrm>
            <a:off x="508000" y="5156200"/>
            <a:ext cx="685800" cy="0"/>
          </a:xfrm>
          <a:prstGeom prst="line">
            <a:avLst/>
          </a:prstGeom>
          <a:ln w="25400">
            <a:solidFill>
              <a:srgbClr val="006B62"/>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A8A511F-4EE7-4A60-4C2A-BC1A6B61DE68}"/>
              </a:ext>
            </a:extLst>
          </p:cNvPr>
          <p:cNvSpPr txBox="1"/>
          <p:nvPr/>
        </p:nvSpPr>
        <p:spPr>
          <a:xfrm>
            <a:off x="508000" y="5422900"/>
            <a:ext cx="6096000" cy="246221"/>
          </a:xfrm>
          <a:prstGeom prst="rect">
            <a:avLst/>
          </a:prstGeom>
          <a:noFill/>
        </p:spPr>
        <p:txBody>
          <a:bodyPr vert="horz" wrap="square" lIns="0" tIns="0" rIns="0" bIns="0" rtlCol="0">
            <a:spAutoFit/>
          </a:bodyPr>
          <a:lstStyle/>
          <a:p>
            <a:r>
              <a:rPr lang="en-US" sz="1600" b="1">
                <a:solidFill>
                  <a:srgbClr val="006B62"/>
                </a:solidFill>
                <a:latin typeface="Aptos" panose="020B0004020202020204" pitchFamily="34" charset="0"/>
              </a:rPr>
              <a:t>ONE SQUAD. SHARED DRONE SUPPORT.</a:t>
            </a:r>
          </a:p>
        </p:txBody>
      </p:sp>
      <p:cxnSp>
        <p:nvCxnSpPr>
          <p:cNvPr id="14" name="Straight Connector 13">
            <a:extLst>
              <a:ext uri="{FF2B5EF4-FFF2-40B4-BE49-F238E27FC236}">
                <a16:creationId xmlns:a16="http://schemas.microsoft.com/office/drawing/2014/main" id="{4BE4DD95-20DB-8985-956E-52D4676698D7}"/>
              </a:ext>
            </a:extLst>
          </p:cNvPr>
          <p:cNvCxnSpPr/>
          <p:nvPr/>
        </p:nvCxnSpPr>
        <p:spPr>
          <a:xfrm>
            <a:off x="7035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7F57BBF-1521-4E55-672A-C45AFACE8B86}"/>
              </a:ext>
            </a:extLst>
          </p:cNvPr>
          <p:cNvCxnSpPr/>
          <p:nvPr/>
        </p:nvCxnSpPr>
        <p:spPr>
          <a:xfrm>
            <a:off x="7442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38DC759-FAEF-EC65-493D-FA0B010D020A}"/>
              </a:ext>
            </a:extLst>
          </p:cNvPr>
          <p:cNvCxnSpPr/>
          <p:nvPr/>
        </p:nvCxnSpPr>
        <p:spPr>
          <a:xfrm>
            <a:off x="78486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3F67F71-991B-E542-5E85-A25F33834B80}"/>
              </a:ext>
            </a:extLst>
          </p:cNvPr>
          <p:cNvCxnSpPr/>
          <p:nvPr/>
        </p:nvCxnSpPr>
        <p:spPr>
          <a:xfrm>
            <a:off x="82550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4EBC4A5-6DEC-D25A-67B5-CC5FA6CF4BDE}"/>
              </a:ext>
            </a:extLst>
          </p:cNvPr>
          <p:cNvCxnSpPr/>
          <p:nvPr/>
        </p:nvCxnSpPr>
        <p:spPr>
          <a:xfrm>
            <a:off x="86614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6F393AE3-5F35-DD2D-89B0-7E496F7BD2DB}"/>
              </a:ext>
            </a:extLst>
          </p:cNvPr>
          <p:cNvCxnSpPr/>
          <p:nvPr/>
        </p:nvCxnSpPr>
        <p:spPr>
          <a:xfrm>
            <a:off x="9067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D9C71D0-1662-A092-44CC-8798835A3522}"/>
              </a:ext>
            </a:extLst>
          </p:cNvPr>
          <p:cNvCxnSpPr/>
          <p:nvPr/>
        </p:nvCxnSpPr>
        <p:spPr>
          <a:xfrm>
            <a:off x="9474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CE25466-0A32-DF82-4BEA-3140F6FDDC91}"/>
              </a:ext>
            </a:extLst>
          </p:cNvPr>
          <p:cNvCxnSpPr/>
          <p:nvPr/>
        </p:nvCxnSpPr>
        <p:spPr>
          <a:xfrm>
            <a:off x="98806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844310C-E00A-D1C4-EA38-292F55A84F2B}"/>
              </a:ext>
            </a:extLst>
          </p:cNvPr>
          <p:cNvCxnSpPr/>
          <p:nvPr/>
        </p:nvCxnSpPr>
        <p:spPr>
          <a:xfrm>
            <a:off x="102870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66682FB-793A-A4F0-F290-7419C1B59403}"/>
              </a:ext>
            </a:extLst>
          </p:cNvPr>
          <p:cNvCxnSpPr/>
          <p:nvPr/>
        </p:nvCxnSpPr>
        <p:spPr>
          <a:xfrm>
            <a:off x="106934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93DC8E2-2B76-28CE-B88E-E0DB3E82E15D}"/>
              </a:ext>
            </a:extLst>
          </p:cNvPr>
          <p:cNvCxnSpPr/>
          <p:nvPr/>
        </p:nvCxnSpPr>
        <p:spPr>
          <a:xfrm>
            <a:off x="11099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660384-043A-0B3B-AD6A-3F27B33E4DC8}"/>
              </a:ext>
            </a:extLst>
          </p:cNvPr>
          <p:cNvCxnSpPr/>
          <p:nvPr/>
        </p:nvCxnSpPr>
        <p:spPr>
          <a:xfrm>
            <a:off x="11506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765F949-3270-65D1-4AC0-C89F5A9E7DD0}"/>
              </a:ext>
            </a:extLst>
          </p:cNvPr>
          <p:cNvCxnSpPr/>
          <p:nvPr/>
        </p:nvCxnSpPr>
        <p:spPr>
          <a:xfrm>
            <a:off x="7035800" y="16510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AB048B1-460C-AF36-9E75-13391A191324}"/>
              </a:ext>
            </a:extLst>
          </p:cNvPr>
          <p:cNvCxnSpPr/>
          <p:nvPr/>
        </p:nvCxnSpPr>
        <p:spPr>
          <a:xfrm>
            <a:off x="7035800" y="20574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8212132-8D43-9877-B3B4-5C9F08FE598B}"/>
              </a:ext>
            </a:extLst>
          </p:cNvPr>
          <p:cNvCxnSpPr/>
          <p:nvPr/>
        </p:nvCxnSpPr>
        <p:spPr>
          <a:xfrm>
            <a:off x="7035800" y="24638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B8D556B-959F-8855-DC21-EA91F38197F3}"/>
              </a:ext>
            </a:extLst>
          </p:cNvPr>
          <p:cNvCxnSpPr/>
          <p:nvPr/>
        </p:nvCxnSpPr>
        <p:spPr>
          <a:xfrm>
            <a:off x="7035800" y="28702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4FC16CF-4386-054E-D627-7CA4F4A9CC51}"/>
              </a:ext>
            </a:extLst>
          </p:cNvPr>
          <p:cNvCxnSpPr/>
          <p:nvPr/>
        </p:nvCxnSpPr>
        <p:spPr>
          <a:xfrm>
            <a:off x="7035800" y="32766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05FEC1E-92CE-6C40-955D-0BFE141192E8}"/>
              </a:ext>
            </a:extLst>
          </p:cNvPr>
          <p:cNvCxnSpPr/>
          <p:nvPr/>
        </p:nvCxnSpPr>
        <p:spPr>
          <a:xfrm>
            <a:off x="7035800" y="36830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F5B1FD8-F938-9CC4-107D-58B33C8F47AE}"/>
              </a:ext>
            </a:extLst>
          </p:cNvPr>
          <p:cNvCxnSpPr/>
          <p:nvPr/>
        </p:nvCxnSpPr>
        <p:spPr>
          <a:xfrm>
            <a:off x="7035800" y="40894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BCA07D4-6E17-6A2C-4D76-FB2B315430AE}"/>
              </a:ext>
            </a:extLst>
          </p:cNvPr>
          <p:cNvCxnSpPr/>
          <p:nvPr/>
        </p:nvCxnSpPr>
        <p:spPr>
          <a:xfrm>
            <a:off x="7035800" y="44958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8B8E69B-A708-9DE1-C8FF-C9658D7C7718}"/>
              </a:ext>
            </a:extLst>
          </p:cNvPr>
          <p:cNvCxnSpPr/>
          <p:nvPr/>
        </p:nvCxnSpPr>
        <p:spPr>
          <a:xfrm>
            <a:off x="7035800" y="49022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3143480-5AD8-D50D-336F-F932AD167DB1}"/>
              </a:ext>
            </a:extLst>
          </p:cNvPr>
          <p:cNvCxnSpPr/>
          <p:nvPr/>
        </p:nvCxnSpPr>
        <p:spPr>
          <a:xfrm>
            <a:off x="7035800" y="53086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3A999578-28FD-F1A9-DF65-C37FBC29F8DD}"/>
              </a:ext>
            </a:extLst>
          </p:cNvPr>
          <p:cNvSpPr/>
          <p:nvPr/>
        </p:nvSpPr>
        <p:spPr>
          <a:xfrm>
            <a:off x="7531100" y="2120900"/>
            <a:ext cx="3302000" cy="3302000"/>
          </a:xfrm>
          <a:prstGeom prst="ellipse">
            <a:avLst/>
          </a:prstGeom>
          <a:noFill/>
          <a:ln w="25400" cap="flat" cmpd="sng" algn="ctr">
            <a:solidFill>
              <a:srgbClr val="DFE6E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2E73358-E114-C676-F7A6-45EE9C028577}"/>
              </a:ext>
            </a:extLst>
          </p:cNvPr>
          <p:cNvSpPr/>
          <p:nvPr/>
        </p:nvSpPr>
        <p:spPr>
          <a:xfrm>
            <a:off x="8031480" y="3220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6D446475-49A1-E86A-1225-214FA4903A86}"/>
              </a:ext>
            </a:extLst>
          </p:cNvPr>
          <p:cNvSpPr/>
          <p:nvPr/>
        </p:nvSpPr>
        <p:spPr>
          <a:xfrm>
            <a:off x="8001000" y="3403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BE0FCEC1-BA12-4B57-3542-4512520B50CE}"/>
              </a:ext>
            </a:extLst>
          </p:cNvPr>
          <p:cNvCxnSpPr/>
          <p:nvPr/>
        </p:nvCxnSpPr>
        <p:spPr>
          <a:xfrm flipH="1">
            <a:off x="8001000" y="3698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A289539-56D0-74CB-3741-BEBADC6045DC}"/>
              </a:ext>
            </a:extLst>
          </p:cNvPr>
          <p:cNvCxnSpPr/>
          <p:nvPr/>
        </p:nvCxnSpPr>
        <p:spPr>
          <a:xfrm>
            <a:off x="8173720" y="3698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000DB00-F974-CAD5-E76C-2227D64E3AB3}"/>
              </a:ext>
            </a:extLst>
          </p:cNvPr>
          <p:cNvCxnSpPr/>
          <p:nvPr/>
        </p:nvCxnSpPr>
        <p:spPr>
          <a:xfrm flipH="1">
            <a:off x="7879080" y="3474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D2D3FFCE-72D5-52E4-8AAA-C9A0811B5A8B}"/>
              </a:ext>
            </a:extLst>
          </p:cNvPr>
          <p:cNvCxnSpPr/>
          <p:nvPr/>
        </p:nvCxnSpPr>
        <p:spPr>
          <a:xfrm flipV="1">
            <a:off x="8173720" y="3281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D4B224ED-2D40-09F9-90C9-0900931F0724}"/>
              </a:ext>
            </a:extLst>
          </p:cNvPr>
          <p:cNvSpPr/>
          <p:nvPr/>
        </p:nvSpPr>
        <p:spPr>
          <a:xfrm>
            <a:off x="9047480" y="3855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B9221438-2EC9-5862-B514-143F679F79D8}"/>
              </a:ext>
            </a:extLst>
          </p:cNvPr>
          <p:cNvSpPr/>
          <p:nvPr/>
        </p:nvSpPr>
        <p:spPr>
          <a:xfrm>
            <a:off x="9017000" y="4038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3D3F30A3-FF97-8423-8989-1CF6935E053C}"/>
              </a:ext>
            </a:extLst>
          </p:cNvPr>
          <p:cNvCxnSpPr/>
          <p:nvPr/>
        </p:nvCxnSpPr>
        <p:spPr>
          <a:xfrm flipH="1">
            <a:off x="9017000" y="433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83FC1ADF-1FA3-45F9-E4C9-1AC53F221F94}"/>
              </a:ext>
            </a:extLst>
          </p:cNvPr>
          <p:cNvCxnSpPr/>
          <p:nvPr/>
        </p:nvCxnSpPr>
        <p:spPr>
          <a:xfrm>
            <a:off x="9189720" y="433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F64DA97-E1AB-77C6-A4D0-5AC4B509B3A2}"/>
              </a:ext>
            </a:extLst>
          </p:cNvPr>
          <p:cNvCxnSpPr/>
          <p:nvPr/>
        </p:nvCxnSpPr>
        <p:spPr>
          <a:xfrm flipH="1">
            <a:off x="8895080" y="4109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E908CBFA-B082-8697-4CD3-E16A5B5D6346}"/>
              </a:ext>
            </a:extLst>
          </p:cNvPr>
          <p:cNvCxnSpPr/>
          <p:nvPr/>
        </p:nvCxnSpPr>
        <p:spPr>
          <a:xfrm flipV="1">
            <a:off x="9189720" y="3916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C1E1E2DA-773F-AD9E-279A-03F97CA592A1}"/>
              </a:ext>
            </a:extLst>
          </p:cNvPr>
          <p:cNvSpPr/>
          <p:nvPr/>
        </p:nvSpPr>
        <p:spPr>
          <a:xfrm>
            <a:off x="10228580" y="40081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44894F5D-FFD2-2D7B-EC93-4A076F34D693}"/>
              </a:ext>
            </a:extLst>
          </p:cNvPr>
          <p:cNvSpPr/>
          <p:nvPr/>
        </p:nvSpPr>
        <p:spPr>
          <a:xfrm>
            <a:off x="10198100" y="41910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3D8B8C82-4173-BFE5-1CFD-C185FB2126B9}"/>
              </a:ext>
            </a:extLst>
          </p:cNvPr>
          <p:cNvCxnSpPr/>
          <p:nvPr/>
        </p:nvCxnSpPr>
        <p:spPr>
          <a:xfrm flipH="1">
            <a:off x="10198100" y="44856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FE66D9C7-26F1-55FD-CC81-0F600C441AA1}"/>
              </a:ext>
            </a:extLst>
          </p:cNvPr>
          <p:cNvCxnSpPr/>
          <p:nvPr/>
        </p:nvCxnSpPr>
        <p:spPr>
          <a:xfrm>
            <a:off x="10370820" y="44856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CFD4F092-5FEF-6E0F-2724-AA73B69771E6}"/>
              </a:ext>
            </a:extLst>
          </p:cNvPr>
          <p:cNvCxnSpPr/>
          <p:nvPr/>
        </p:nvCxnSpPr>
        <p:spPr>
          <a:xfrm flipH="1">
            <a:off x="10076180" y="42621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D1AB5D0A-6893-B13E-D1D5-054102A22FCD}"/>
              </a:ext>
            </a:extLst>
          </p:cNvPr>
          <p:cNvCxnSpPr/>
          <p:nvPr/>
        </p:nvCxnSpPr>
        <p:spPr>
          <a:xfrm flipV="1">
            <a:off x="10370820" y="40690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CE292302-C49E-17CB-43B4-5074D9679CA8}"/>
              </a:ext>
            </a:extLst>
          </p:cNvPr>
          <p:cNvSpPr/>
          <p:nvPr/>
        </p:nvSpPr>
        <p:spPr>
          <a:xfrm>
            <a:off x="8945880" y="2585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7BB20AAE-9DE4-BC87-028A-5D4B95A1FFFE}"/>
              </a:ext>
            </a:extLst>
          </p:cNvPr>
          <p:cNvSpPr/>
          <p:nvPr/>
        </p:nvSpPr>
        <p:spPr>
          <a:xfrm>
            <a:off x="8915400" y="2768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9C97EE16-E615-1133-28BE-245B4ADA583F}"/>
              </a:ext>
            </a:extLst>
          </p:cNvPr>
          <p:cNvCxnSpPr/>
          <p:nvPr/>
        </p:nvCxnSpPr>
        <p:spPr>
          <a:xfrm flipH="1">
            <a:off x="8915400" y="306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31BA08EE-9B72-DDEE-7022-236D2B9A30A2}"/>
              </a:ext>
            </a:extLst>
          </p:cNvPr>
          <p:cNvCxnSpPr/>
          <p:nvPr/>
        </p:nvCxnSpPr>
        <p:spPr>
          <a:xfrm>
            <a:off x="9088120" y="306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95C3D9C9-1552-D17A-01C2-7EBDCA2E06E7}"/>
              </a:ext>
            </a:extLst>
          </p:cNvPr>
          <p:cNvCxnSpPr/>
          <p:nvPr/>
        </p:nvCxnSpPr>
        <p:spPr>
          <a:xfrm flipH="1">
            <a:off x="8793480" y="2839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1C9462E4-5271-563A-A1B5-4ABAEAF1B42F}"/>
              </a:ext>
            </a:extLst>
          </p:cNvPr>
          <p:cNvCxnSpPr/>
          <p:nvPr/>
        </p:nvCxnSpPr>
        <p:spPr>
          <a:xfrm flipV="1">
            <a:off x="9088120" y="2646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B99DDA40-6762-24FD-1A40-AB1265E68731}"/>
              </a:ext>
            </a:extLst>
          </p:cNvPr>
          <p:cNvCxnSpPr/>
          <p:nvPr/>
        </p:nvCxnSpPr>
        <p:spPr>
          <a:xfrm flipH="1" flipV="1">
            <a:off x="10153904" y="2828544"/>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2" name="Oval 61">
            <a:extLst>
              <a:ext uri="{FF2B5EF4-FFF2-40B4-BE49-F238E27FC236}">
                <a16:creationId xmlns:a16="http://schemas.microsoft.com/office/drawing/2014/main" id="{6341E6D5-7991-BD12-C5C5-2CC9BDCEC6A4}"/>
              </a:ext>
            </a:extLst>
          </p:cNvPr>
          <p:cNvSpPr/>
          <p:nvPr/>
        </p:nvSpPr>
        <p:spPr>
          <a:xfrm>
            <a:off x="10025888" y="2700528"/>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8814727-FB4B-CF8F-167B-ACCA9A79CAF0}"/>
              </a:ext>
            </a:extLst>
          </p:cNvPr>
          <p:cNvCxnSpPr/>
          <p:nvPr/>
        </p:nvCxnSpPr>
        <p:spPr>
          <a:xfrm>
            <a:off x="10068560" y="2828544"/>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4DA89D0C-56D2-6E49-D323-EBA3900BDC13}"/>
              </a:ext>
            </a:extLst>
          </p:cNvPr>
          <p:cNvCxnSpPr/>
          <p:nvPr/>
        </p:nvCxnSpPr>
        <p:spPr>
          <a:xfrm flipV="1">
            <a:off x="10388600" y="2828544"/>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9EE4FD98-E169-8618-4378-9BA1B6A38CB4}"/>
              </a:ext>
            </a:extLst>
          </p:cNvPr>
          <p:cNvSpPr/>
          <p:nvPr/>
        </p:nvSpPr>
        <p:spPr>
          <a:xfrm>
            <a:off x="10495280" y="2700528"/>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42FF3A8A-9573-8600-CEB8-0BB4110EE92F}"/>
              </a:ext>
            </a:extLst>
          </p:cNvPr>
          <p:cNvCxnSpPr/>
          <p:nvPr/>
        </p:nvCxnSpPr>
        <p:spPr>
          <a:xfrm>
            <a:off x="10537952" y="2828544"/>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B628A9EE-14B0-2D12-B575-F899322BF467}"/>
              </a:ext>
            </a:extLst>
          </p:cNvPr>
          <p:cNvCxnSpPr/>
          <p:nvPr/>
        </p:nvCxnSpPr>
        <p:spPr>
          <a:xfrm flipH="1">
            <a:off x="10153904" y="3009900"/>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8" name="Oval 67">
            <a:extLst>
              <a:ext uri="{FF2B5EF4-FFF2-40B4-BE49-F238E27FC236}">
                <a16:creationId xmlns:a16="http://schemas.microsoft.com/office/drawing/2014/main" id="{60981646-033A-68BD-95DD-55FC3DCC2340}"/>
              </a:ext>
            </a:extLst>
          </p:cNvPr>
          <p:cNvSpPr/>
          <p:nvPr/>
        </p:nvSpPr>
        <p:spPr>
          <a:xfrm>
            <a:off x="10025888" y="3063240"/>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47493DAA-DC18-3B1A-E310-4BB8616505E2}"/>
              </a:ext>
            </a:extLst>
          </p:cNvPr>
          <p:cNvCxnSpPr/>
          <p:nvPr/>
        </p:nvCxnSpPr>
        <p:spPr>
          <a:xfrm>
            <a:off x="10068560" y="3191256"/>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317B6081-36D7-C322-3BAA-C65F6F0993A2}"/>
              </a:ext>
            </a:extLst>
          </p:cNvPr>
          <p:cNvCxnSpPr/>
          <p:nvPr/>
        </p:nvCxnSpPr>
        <p:spPr>
          <a:xfrm>
            <a:off x="10388600" y="3009900"/>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EB49BAF9-6827-C896-1F4F-F27A6466827A}"/>
              </a:ext>
            </a:extLst>
          </p:cNvPr>
          <p:cNvSpPr/>
          <p:nvPr/>
        </p:nvSpPr>
        <p:spPr>
          <a:xfrm>
            <a:off x="10495280" y="3063240"/>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5F641C76-BF22-A709-0F45-8025FFDA4C60}"/>
              </a:ext>
            </a:extLst>
          </p:cNvPr>
          <p:cNvCxnSpPr/>
          <p:nvPr/>
        </p:nvCxnSpPr>
        <p:spPr>
          <a:xfrm>
            <a:off x="10537952" y="3191256"/>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73" name="Rectangle: Rounded Corners 72">
            <a:extLst>
              <a:ext uri="{FF2B5EF4-FFF2-40B4-BE49-F238E27FC236}">
                <a16:creationId xmlns:a16="http://schemas.microsoft.com/office/drawing/2014/main" id="{16937DB4-08AC-8263-5BAF-3756B4874AA9}"/>
              </a:ext>
            </a:extLst>
          </p:cNvPr>
          <p:cNvSpPr/>
          <p:nvPr/>
        </p:nvSpPr>
        <p:spPr>
          <a:xfrm>
            <a:off x="10292588" y="2839212"/>
            <a:ext cx="192024" cy="34137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AD28BD3D-1AE5-4C42-92E1-551F58531A59}"/>
              </a:ext>
            </a:extLst>
          </p:cNvPr>
          <p:cNvSpPr/>
          <p:nvPr/>
        </p:nvSpPr>
        <p:spPr>
          <a:xfrm>
            <a:off x="10356596" y="2903220"/>
            <a:ext cx="64007" cy="6400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003764D8-383F-0435-8A99-5F0C74795D9D}"/>
              </a:ext>
            </a:extLst>
          </p:cNvPr>
          <p:cNvCxnSpPr/>
          <p:nvPr/>
        </p:nvCxnSpPr>
        <p:spPr>
          <a:xfrm>
            <a:off x="9398000" y="2794000"/>
            <a:ext cx="546100" cy="1524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76" name="Rectangle: Rounded Corners 75">
            <a:extLst>
              <a:ext uri="{FF2B5EF4-FFF2-40B4-BE49-F238E27FC236}">
                <a16:creationId xmlns:a16="http://schemas.microsoft.com/office/drawing/2014/main" id="{ED5168BB-8A00-87DA-C7A6-9D855E4E2903}"/>
              </a:ext>
            </a:extLst>
          </p:cNvPr>
          <p:cNvSpPr/>
          <p:nvPr/>
        </p:nvSpPr>
        <p:spPr>
          <a:xfrm>
            <a:off x="9613900" y="1968500"/>
            <a:ext cx="18796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C632D9DE-5E2B-ED67-3C8D-F379C1C56988}"/>
              </a:ext>
            </a:extLst>
          </p:cNvPr>
          <p:cNvSpPr txBox="1"/>
          <p:nvPr/>
        </p:nvSpPr>
        <p:spPr>
          <a:xfrm>
            <a:off x="9740900" y="2032000"/>
            <a:ext cx="16256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DRONE TEAMMATE</a:t>
            </a:r>
          </a:p>
        </p:txBody>
      </p:sp>
      <p:sp>
        <p:nvSpPr>
          <p:cNvPr id="78" name="Rectangle: Rounded Corners 77">
            <a:extLst>
              <a:ext uri="{FF2B5EF4-FFF2-40B4-BE49-F238E27FC236}">
                <a16:creationId xmlns:a16="http://schemas.microsoft.com/office/drawing/2014/main" id="{7FAC333C-1204-AFD6-7E5A-BB969509678E}"/>
              </a:ext>
            </a:extLst>
          </p:cNvPr>
          <p:cNvSpPr/>
          <p:nvPr/>
        </p:nvSpPr>
        <p:spPr>
          <a:xfrm>
            <a:off x="8331200" y="4864100"/>
            <a:ext cx="15240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6445A7E1-A702-F7C2-7C93-C7A3E01BBE72}"/>
              </a:ext>
            </a:extLst>
          </p:cNvPr>
          <p:cNvSpPr txBox="1"/>
          <p:nvPr/>
        </p:nvSpPr>
        <p:spPr>
          <a:xfrm>
            <a:off x="8458200" y="4927600"/>
            <a:ext cx="12700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THE SQUAD</a:t>
            </a:r>
          </a:p>
        </p:txBody>
      </p:sp>
      <p:sp>
        <p:nvSpPr>
          <p:cNvPr id="80" name="TextBox 79">
            <a:extLst>
              <a:ext uri="{FF2B5EF4-FFF2-40B4-BE49-F238E27FC236}">
                <a16:creationId xmlns:a16="http://schemas.microsoft.com/office/drawing/2014/main" id="{EDB60D1A-364E-98DB-4A74-85394A72840B}"/>
              </a:ext>
            </a:extLst>
          </p:cNvPr>
          <p:cNvSpPr txBox="1"/>
          <p:nvPr/>
        </p:nvSpPr>
        <p:spPr>
          <a:xfrm>
            <a:off x="7975600" y="5702300"/>
            <a:ext cx="3810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ILLUSTRATIVE SQUAD CONCEPT</a:t>
            </a:r>
          </a:p>
        </p:txBody>
      </p:sp>
      <p:sp>
        <p:nvSpPr>
          <p:cNvPr id="81" name="TextBox 80">
            <a:extLst>
              <a:ext uri="{FF2B5EF4-FFF2-40B4-BE49-F238E27FC236}">
                <a16:creationId xmlns:a16="http://schemas.microsoft.com/office/drawing/2014/main" id="{E6612512-DC3D-22F1-4A69-EC90694A2802}"/>
              </a:ext>
            </a:extLst>
          </p:cNvPr>
          <p:cNvSpPr txBox="1"/>
          <p:nvPr/>
        </p:nvSpPr>
        <p:spPr>
          <a:xfrm>
            <a:off x="508000" y="5943600"/>
            <a:ext cx="6985000" cy="169277"/>
          </a:xfrm>
          <a:prstGeom prst="rect">
            <a:avLst/>
          </a:prstGeom>
          <a:noFill/>
        </p:spPr>
        <p:txBody>
          <a:bodyPr vert="horz" wrap="square" lIns="0" tIns="0" rIns="0" bIns="0" rtlCol="0">
            <a:spAutoFit/>
          </a:bodyPr>
          <a:lstStyle/>
          <a:p>
            <a:r>
              <a:rPr lang="en-US" sz="1100">
                <a:solidFill>
                  <a:srgbClr val="617286"/>
                </a:solidFill>
                <a:latin typeface="Aptos" panose="020B0004020202020204" pitchFamily="34" charset="0"/>
              </a:rPr>
              <a:t>WHY NOW: Army drone specialists may join squads. [1]</a:t>
            </a:r>
          </a:p>
        </p:txBody>
      </p:sp>
      <p:sp>
        <p:nvSpPr>
          <p:cNvPr id="82" name="TextBox 81">
            <a:hlinkClick r:id="rId3"/>
            <a:extLst>
              <a:ext uri="{FF2B5EF4-FFF2-40B4-BE49-F238E27FC236}">
                <a16:creationId xmlns:a16="http://schemas.microsoft.com/office/drawing/2014/main" id="{76EA645C-2DA5-3C79-E25C-6C7F715AA7EA}"/>
              </a:ext>
            </a:extLst>
          </p:cNvPr>
          <p:cNvSpPr txBox="1"/>
          <p:nvPr/>
        </p:nvSpPr>
        <p:spPr>
          <a:xfrm>
            <a:off x="8267700" y="5969000"/>
            <a:ext cx="34036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[1] Task &amp; Purpose · Aug. 31, 2026</a:t>
            </a:r>
          </a:p>
        </p:txBody>
      </p:sp>
    </p:spTree>
    <p:extLst>
      <p:ext uri="{BB962C8B-B14F-4D97-AF65-F5344CB8AC3E}">
        <p14:creationId xmlns:p14="http://schemas.microsoft.com/office/powerpoint/2010/main" val="824355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A528F5-6FE6-53A9-A1D9-6640522B1083}"/>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73C55B03-6D3C-3EBE-84A7-CBFCFF9D0527}"/>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01 / PROBLEM → PROPOSED INTERACTION</a:t>
            </a:r>
          </a:p>
        </p:txBody>
      </p:sp>
      <p:sp>
        <p:nvSpPr>
          <p:cNvPr id="4" name="TextBox 3">
            <a:extLst>
              <a:ext uri="{FF2B5EF4-FFF2-40B4-BE49-F238E27FC236}">
                <a16:creationId xmlns:a16="http://schemas.microsoft.com/office/drawing/2014/main" id="{973FB95A-CF75-6E51-30A5-9A3D9FBBCEE7}"/>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The squad needs to adapt. Eyes stay up.</a:t>
            </a:r>
          </a:p>
        </p:txBody>
      </p:sp>
      <p:cxnSp>
        <p:nvCxnSpPr>
          <p:cNvPr id="5" name="Straight Connector 4">
            <a:extLst>
              <a:ext uri="{FF2B5EF4-FFF2-40B4-BE49-F238E27FC236}">
                <a16:creationId xmlns:a16="http://schemas.microsoft.com/office/drawing/2014/main" id="{C4DF4B5F-ABCB-277D-DD8F-FAE91FA79BB4}"/>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6B6F6E4-5B9C-92F3-87F0-D8D71CA35379}"/>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4EC97311-F317-FF8B-C1C2-69F05EECFB6A}"/>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D2D5DA59-7B43-98CA-DE3A-49E3F30F18E3}"/>
              </a:ext>
            </a:extLst>
          </p:cNvPr>
          <p:cNvSpPr/>
          <p:nvPr/>
        </p:nvSpPr>
        <p:spPr>
          <a:xfrm>
            <a:off x="508000" y="1968500"/>
            <a:ext cx="50038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F54C8B5-4E67-E01C-E5CC-45C1FE611A18}"/>
              </a:ext>
            </a:extLst>
          </p:cNvPr>
          <p:cNvSpPr txBox="1"/>
          <p:nvPr/>
        </p:nvSpPr>
        <p:spPr>
          <a:xfrm>
            <a:off x="635000" y="2032000"/>
            <a:ext cx="47498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OPERATING CONTEXT: GPS-DENIED ENVIRONMENTS</a:t>
            </a:r>
          </a:p>
        </p:txBody>
      </p:sp>
      <p:sp>
        <p:nvSpPr>
          <p:cNvPr id="10" name="Rectangle 9">
            <a:extLst>
              <a:ext uri="{FF2B5EF4-FFF2-40B4-BE49-F238E27FC236}">
                <a16:creationId xmlns:a16="http://schemas.microsoft.com/office/drawing/2014/main" id="{984FDE19-44BC-E6E9-610B-34FE0D237BA5}"/>
              </a:ext>
            </a:extLst>
          </p:cNvPr>
          <p:cNvSpPr/>
          <p:nvPr/>
        </p:nvSpPr>
        <p:spPr>
          <a:xfrm>
            <a:off x="508000" y="2501900"/>
            <a:ext cx="5422900" cy="26289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1132F3E-C700-42E7-7575-75A954226474}"/>
              </a:ext>
            </a:extLst>
          </p:cNvPr>
          <p:cNvSpPr/>
          <p:nvPr/>
        </p:nvSpPr>
        <p:spPr>
          <a:xfrm>
            <a:off x="6184900" y="2501900"/>
            <a:ext cx="5499100" cy="26289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F5B0DD5-2420-5D6D-CEFC-A55C1DA44E9E}"/>
              </a:ext>
            </a:extLst>
          </p:cNvPr>
          <p:cNvSpPr txBox="1"/>
          <p:nvPr/>
        </p:nvSpPr>
        <p:spPr>
          <a:xfrm>
            <a:off x="723900" y="2667000"/>
            <a:ext cx="5016500" cy="184666"/>
          </a:xfrm>
          <a:prstGeom prst="rect">
            <a:avLst/>
          </a:prstGeom>
          <a:noFill/>
        </p:spPr>
        <p:txBody>
          <a:bodyPr vert="horz" wrap="square" lIns="0" tIns="0" rIns="0" bIns="0" rtlCol="0">
            <a:spAutoFit/>
          </a:bodyPr>
          <a:lstStyle/>
          <a:p>
            <a:r>
              <a:rPr lang="en-US" sz="1200" b="1">
                <a:solidFill>
                  <a:srgbClr val="617286"/>
                </a:solidFill>
                <a:latin typeface="Aptos" panose="020B0004020202020204" pitchFamily="34" charset="0"/>
              </a:rPr>
              <a:t>WORKFLOW DESCRIBED TO US</a:t>
            </a:r>
          </a:p>
        </p:txBody>
      </p:sp>
      <p:sp>
        <p:nvSpPr>
          <p:cNvPr id="13" name="TextBox 12">
            <a:extLst>
              <a:ext uri="{FF2B5EF4-FFF2-40B4-BE49-F238E27FC236}">
                <a16:creationId xmlns:a16="http://schemas.microsoft.com/office/drawing/2014/main" id="{65167B82-9C9A-0899-8546-0C649B5BD193}"/>
              </a:ext>
            </a:extLst>
          </p:cNvPr>
          <p:cNvSpPr txBox="1"/>
          <p:nvPr/>
        </p:nvSpPr>
        <p:spPr>
          <a:xfrm>
            <a:off x="723900" y="3048000"/>
            <a:ext cx="50165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Small, chest-mounted tablet</a:t>
            </a:r>
          </a:p>
        </p:txBody>
      </p:sp>
      <p:sp>
        <p:nvSpPr>
          <p:cNvPr id="14" name="Oval 13">
            <a:extLst>
              <a:ext uri="{FF2B5EF4-FFF2-40B4-BE49-F238E27FC236}">
                <a16:creationId xmlns:a16="http://schemas.microsoft.com/office/drawing/2014/main" id="{7ABA4075-AD0A-F111-8C88-DFCEA454F373}"/>
              </a:ext>
            </a:extLst>
          </p:cNvPr>
          <p:cNvSpPr/>
          <p:nvPr/>
        </p:nvSpPr>
        <p:spPr>
          <a:xfrm>
            <a:off x="1140206" y="4014724"/>
            <a:ext cx="81788" cy="81788"/>
          </a:xfrm>
          <a:prstGeom prst="ellipse">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42249E96-7911-2BF1-485B-71545FC10524}"/>
              </a:ext>
            </a:extLst>
          </p:cNvPr>
          <p:cNvSpPr/>
          <p:nvPr/>
        </p:nvSpPr>
        <p:spPr>
          <a:xfrm>
            <a:off x="1122680" y="4119880"/>
            <a:ext cx="116840" cy="186944"/>
          </a:xfrm>
          <a:prstGeom prst="round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CF004FE0-AD56-12D5-542E-4A49961F985F}"/>
              </a:ext>
            </a:extLst>
          </p:cNvPr>
          <p:cNvCxnSpPr/>
          <p:nvPr/>
        </p:nvCxnSpPr>
        <p:spPr>
          <a:xfrm flipH="1">
            <a:off x="1122680" y="42892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C01976B-E970-F7DF-0239-F39F62FC3390}"/>
              </a:ext>
            </a:extLst>
          </p:cNvPr>
          <p:cNvCxnSpPr/>
          <p:nvPr/>
        </p:nvCxnSpPr>
        <p:spPr>
          <a:xfrm>
            <a:off x="1221994" y="42892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493C320-9F58-1FFC-D196-1330A737C7C1}"/>
              </a:ext>
            </a:extLst>
          </p:cNvPr>
          <p:cNvCxnSpPr/>
          <p:nvPr/>
        </p:nvCxnSpPr>
        <p:spPr>
          <a:xfrm flipH="1">
            <a:off x="1052576" y="4160774"/>
            <a:ext cx="87630" cy="70104"/>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71763A3-40E1-897D-CA33-A9F8231AA6FC}"/>
              </a:ext>
            </a:extLst>
          </p:cNvPr>
          <p:cNvCxnSpPr/>
          <p:nvPr/>
        </p:nvCxnSpPr>
        <p:spPr>
          <a:xfrm flipV="1">
            <a:off x="1221994" y="4049776"/>
            <a:ext cx="93472" cy="110998"/>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41A11832-6E00-2989-6706-106F98CFCC50}"/>
              </a:ext>
            </a:extLst>
          </p:cNvPr>
          <p:cNvSpPr/>
          <p:nvPr/>
        </p:nvSpPr>
        <p:spPr>
          <a:xfrm>
            <a:off x="1787906" y="4230624"/>
            <a:ext cx="81788" cy="81788"/>
          </a:xfrm>
          <a:prstGeom prst="ellipse">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E3992CF5-92F3-0BA0-A879-FCE35168A1AA}"/>
              </a:ext>
            </a:extLst>
          </p:cNvPr>
          <p:cNvSpPr/>
          <p:nvPr/>
        </p:nvSpPr>
        <p:spPr>
          <a:xfrm>
            <a:off x="1770380" y="4335780"/>
            <a:ext cx="116840" cy="186944"/>
          </a:xfrm>
          <a:prstGeom prst="round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51101B2-9FF4-C62A-E18D-CC7279263AEC}"/>
              </a:ext>
            </a:extLst>
          </p:cNvPr>
          <p:cNvCxnSpPr/>
          <p:nvPr/>
        </p:nvCxnSpPr>
        <p:spPr>
          <a:xfrm flipH="1">
            <a:off x="1770380" y="45051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83694FB-53DE-277E-3E06-98335DC8EFCC}"/>
              </a:ext>
            </a:extLst>
          </p:cNvPr>
          <p:cNvCxnSpPr/>
          <p:nvPr/>
        </p:nvCxnSpPr>
        <p:spPr>
          <a:xfrm>
            <a:off x="1869694" y="45051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EBA76E9-B1B4-BE86-1029-C5E79468FC7E}"/>
              </a:ext>
            </a:extLst>
          </p:cNvPr>
          <p:cNvCxnSpPr/>
          <p:nvPr/>
        </p:nvCxnSpPr>
        <p:spPr>
          <a:xfrm flipH="1">
            <a:off x="1700276" y="4376674"/>
            <a:ext cx="87630" cy="70104"/>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2897805-65DC-4A84-2457-1908FFA0290D}"/>
              </a:ext>
            </a:extLst>
          </p:cNvPr>
          <p:cNvCxnSpPr/>
          <p:nvPr/>
        </p:nvCxnSpPr>
        <p:spPr>
          <a:xfrm flipV="1">
            <a:off x="1869694" y="4265676"/>
            <a:ext cx="93472" cy="110998"/>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645E4463-DF2D-A1A5-E862-35DA8EAB98A8}"/>
              </a:ext>
            </a:extLst>
          </p:cNvPr>
          <p:cNvSpPr/>
          <p:nvPr/>
        </p:nvSpPr>
        <p:spPr>
          <a:xfrm>
            <a:off x="2552700" y="3556000"/>
            <a:ext cx="254000" cy="254000"/>
          </a:xfrm>
          <a:prstGeom prst="ellipse">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114654F-DA77-16A3-0C3F-3D19D9261549}"/>
              </a:ext>
            </a:extLst>
          </p:cNvPr>
          <p:cNvSpPr/>
          <p:nvPr/>
        </p:nvSpPr>
        <p:spPr>
          <a:xfrm>
            <a:off x="2514600" y="3898900"/>
            <a:ext cx="330200" cy="609600"/>
          </a:xfrm>
          <a:prstGeom prst="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475EC760-B2A8-B4BF-C8D9-7702389C7CDB}"/>
              </a:ext>
            </a:extLst>
          </p:cNvPr>
          <p:cNvCxnSpPr/>
          <p:nvPr/>
        </p:nvCxnSpPr>
        <p:spPr>
          <a:xfrm flipH="1">
            <a:off x="2527300" y="4457700"/>
            <a:ext cx="50800" cy="330200"/>
          </a:xfrm>
          <a:prstGeom prst="line">
            <a:avLst/>
          </a:prstGeom>
          <a:ln w="762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F81DDEB-FBCD-E186-3615-F983A6000548}"/>
              </a:ext>
            </a:extLst>
          </p:cNvPr>
          <p:cNvCxnSpPr/>
          <p:nvPr/>
        </p:nvCxnSpPr>
        <p:spPr>
          <a:xfrm>
            <a:off x="2781300" y="4457700"/>
            <a:ext cx="76200" cy="330200"/>
          </a:xfrm>
          <a:prstGeom prst="line">
            <a:avLst/>
          </a:prstGeom>
          <a:ln w="76200">
            <a:solidFill>
              <a:srgbClr val="14263A"/>
            </a:solidFill>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35EA5B36-5D09-6C70-3C0B-53A7059FA2B7}"/>
              </a:ext>
            </a:extLst>
          </p:cNvPr>
          <p:cNvSpPr/>
          <p:nvPr/>
        </p:nvSpPr>
        <p:spPr>
          <a:xfrm>
            <a:off x="2641600" y="3975100"/>
            <a:ext cx="469900" cy="330200"/>
          </a:xfrm>
          <a:prstGeom prst="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06B9913-593A-3CDF-FF63-7FF9E51F9F76}"/>
              </a:ext>
            </a:extLst>
          </p:cNvPr>
          <p:cNvSpPr/>
          <p:nvPr/>
        </p:nvSpPr>
        <p:spPr>
          <a:xfrm>
            <a:off x="2705100" y="4025900"/>
            <a:ext cx="342900" cy="2159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CE5C4DE9-A0B3-7DFB-72D2-C784E9F7FCBD}"/>
              </a:ext>
            </a:extLst>
          </p:cNvPr>
          <p:cNvCxnSpPr/>
          <p:nvPr/>
        </p:nvCxnSpPr>
        <p:spPr>
          <a:xfrm>
            <a:off x="2768600" y="3708400"/>
            <a:ext cx="177800" cy="190500"/>
          </a:xfrm>
          <a:prstGeom prst="line">
            <a:avLst/>
          </a:prstGeom>
          <a:ln w="25400">
            <a:solidFill>
              <a:srgbClr val="617286"/>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94F64CC-52B9-CFAF-CDAF-E4998FD62678}"/>
              </a:ext>
            </a:extLst>
          </p:cNvPr>
          <p:cNvCxnSpPr/>
          <p:nvPr/>
        </p:nvCxnSpPr>
        <p:spPr>
          <a:xfrm>
            <a:off x="2527300" y="3975100"/>
            <a:ext cx="177800" cy="292100"/>
          </a:xfrm>
          <a:prstGeom prst="line">
            <a:avLst/>
          </a:prstGeom>
          <a:ln w="635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7162D4B-6B7B-F12A-2C96-64A02AAC967F}"/>
              </a:ext>
            </a:extLst>
          </p:cNvPr>
          <p:cNvCxnSpPr/>
          <p:nvPr/>
        </p:nvCxnSpPr>
        <p:spPr>
          <a:xfrm flipV="1">
            <a:off x="3238500" y="3746500"/>
            <a:ext cx="1168400" cy="368300"/>
          </a:xfrm>
          <a:prstGeom prst="line">
            <a:avLst/>
          </a:prstGeom>
          <a:ln w="25400">
            <a:solidFill>
              <a:srgbClr val="617286"/>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9803C04-A864-797D-46BF-B892D0239E6D}"/>
              </a:ext>
            </a:extLst>
          </p:cNvPr>
          <p:cNvCxnSpPr/>
          <p:nvPr/>
        </p:nvCxnSpPr>
        <p:spPr>
          <a:xfrm flipH="1" flipV="1">
            <a:off x="4871466" y="3564001"/>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5226A472-1F19-9DF0-AAA0-855B35775775}"/>
              </a:ext>
            </a:extLst>
          </p:cNvPr>
          <p:cNvSpPr/>
          <p:nvPr/>
        </p:nvSpPr>
        <p:spPr>
          <a:xfrm>
            <a:off x="4778502" y="3471037"/>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29DCAA91-1D62-5CFF-CB44-5A6A1AD5B0DD}"/>
              </a:ext>
            </a:extLst>
          </p:cNvPr>
          <p:cNvCxnSpPr/>
          <p:nvPr/>
        </p:nvCxnSpPr>
        <p:spPr>
          <a:xfrm>
            <a:off x="4809490" y="3564001"/>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D564A55-503B-CA31-53F9-4C3DDCE4A3C7}"/>
              </a:ext>
            </a:extLst>
          </p:cNvPr>
          <p:cNvCxnSpPr/>
          <p:nvPr/>
        </p:nvCxnSpPr>
        <p:spPr>
          <a:xfrm flipV="1">
            <a:off x="5041900" y="3564001"/>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FDD0450A-71B9-BC9F-2091-8FC4B038F1F8}"/>
              </a:ext>
            </a:extLst>
          </p:cNvPr>
          <p:cNvSpPr/>
          <p:nvPr/>
        </p:nvSpPr>
        <p:spPr>
          <a:xfrm>
            <a:off x="5119370" y="3471037"/>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38597FA1-901B-9692-B22A-850DBCA9A15F}"/>
              </a:ext>
            </a:extLst>
          </p:cNvPr>
          <p:cNvCxnSpPr/>
          <p:nvPr/>
        </p:nvCxnSpPr>
        <p:spPr>
          <a:xfrm>
            <a:off x="5150358" y="3564001"/>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8C39F83-C4BF-FC71-66D8-06CF6C486DD2}"/>
              </a:ext>
            </a:extLst>
          </p:cNvPr>
          <p:cNvCxnSpPr/>
          <p:nvPr/>
        </p:nvCxnSpPr>
        <p:spPr>
          <a:xfrm flipH="1">
            <a:off x="4871466" y="3695700"/>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1BA9E43D-F858-897B-4546-D29CCE22ECDC}"/>
              </a:ext>
            </a:extLst>
          </p:cNvPr>
          <p:cNvSpPr/>
          <p:nvPr/>
        </p:nvSpPr>
        <p:spPr>
          <a:xfrm>
            <a:off x="4778502" y="3734435"/>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FCC08C44-3865-38DA-A932-3F74042C2C67}"/>
              </a:ext>
            </a:extLst>
          </p:cNvPr>
          <p:cNvCxnSpPr/>
          <p:nvPr/>
        </p:nvCxnSpPr>
        <p:spPr>
          <a:xfrm>
            <a:off x="4809490" y="3827399"/>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5E273CA-891D-C240-FE57-C06391287E1C}"/>
              </a:ext>
            </a:extLst>
          </p:cNvPr>
          <p:cNvCxnSpPr/>
          <p:nvPr/>
        </p:nvCxnSpPr>
        <p:spPr>
          <a:xfrm>
            <a:off x="5041900" y="3695700"/>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791E1CEC-9D49-2576-A41E-9AFB56E3CAF3}"/>
              </a:ext>
            </a:extLst>
          </p:cNvPr>
          <p:cNvSpPr/>
          <p:nvPr/>
        </p:nvSpPr>
        <p:spPr>
          <a:xfrm>
            <a:off x="5119370" y="3734435"/>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2ACED402-3B33-03B6-18F0-1901839E8376}"/>
              </a:ext>
            </a:extLst>
          </p:cNvPr>
          <p:cNvCxnSpPr/>
          <p:nvPr/>
        </p:nvCxnSpPr>
        <p:spPr>
          <a:xfrm>
            <a:off x="5150358" y="3827399"/>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47" name="Rectangle: Rounded Corners 46">
            <a:extLst>
              <a:ext uri="{FF2B5EF4-FFF2-40B4-BE49-F238E27FC236}">
                <a16:creationId xmlns:a16="http://schemas.microsoft.com/office/drawing/2014/main" id="{2C487036-615F-B817-AC48-78BF94BB91FF}"/>
              </a:ext>
            </a:extLst>
          </p:cNvPr>
          <p:cNvSpPr/>
          <p:nvPr/>
        </p:nvSpPr>
        <p:spPr>
          <a:xfrm>
            <a:off x="4972177" y="3571748"/>
            <a:ext cx="139446" cy="247904"/>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F5978536-5C13-9032-EEFB-15194B73D1E3}"/>
              </a:ext>
            </a:extLst>
          </p:cNvPr>
          <p:cNvSpPr/>
          <p:nvPr/>
        </p:nvSpPr>
        <p:spPr>
          <a:xfrm>
            <a:off x="5018659" y="3618230"/>
            <a:ext cx="46482" cy="46482"/>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38346173-D6B8-40C5-F447-FA46CA0545D4}"/>
              </a:ext>
            </a:extLst>
          </p:cNvPr>
          <p:cNvSpPr txBox="1"/>
          <p:nvPr/>
        </p:nvSpPr>
        <p:spPr>
          <a:xfrm>
            <a:off x="723900" y="4800600"/>
            <a:ext cx="49657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Attention moves to the interface.</a:t>
            </a:r>
          </a:p>
        </p:txBody>
      </p:sp>
      <p:sp>
        <p:nvSpPr>
          <p:cNvPr id="50" name="TextBox 49">
            <a:extLst>
              <a:ext uri="{FF2B5EF4-FFF2-40B4-BE49-F238E27FC236}">
                <a16:creationId xmlns:a16="http://schemas.microsoft.com/office/drawing/2014/main" id="{2B207392-426B-C4FA-C749-B5B9586E4D75}"/>
              </a:ext>
            </a:extLst>
          </p:cNvPr>
          <p:cNvSpPr txBox="1"/>
          <p:nvPr/>
        </p:nvSpPr>
        <p:spPr>
          <a:xfrm>
            <a:off x="6400800" y="2667000"/>
            <a:ext cx="50546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TACTLINK / ONBOARD VISION CONCEPT</a:t>
            </a:r>
          </a:p>
        </p:txBody>
      </p:sp>
      <p:sp>
        <p:nvSpPr>
          <p:cNvPr id="51" name="TextBox 50">
            <a:extLst>
              <a:ext uri="{FF2B5EF4-FFF2-40B4-BE49-F238E27FC236}">
                <a16:creationId xmlns:a16="http://schemas.microsoft.com/office/drawing/2014/main" id="{6C50D827-D937-F5ED-2CB1-46E33B11CA0B}"/>
              </a:ext>
            </a:extLst>
          </p:cNvPr>
          <p:cNvSpPr txBox="1"/>
          <p:nvPr/>
        </p:nvSpPr>
        <p:spPr>
          <a:xfrm>
            <a:off x="6400800" y="3048000"/>
            <a:ext cx="50673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Signal directly to the drone</a:t>
            </a:r>
          </a:p>
        </p:txBody>
      </p:sp>
      <p:sp>
        <p:nvSpPr>
          <p:cNvPr id="52" name="Oval 51">
            <a:extLst>
              <a:ext uri="{FF2B5EF4-FFF2-40B4-BE49-F238E27FC236}">
                <a16:creationId xmlns:a16="http://schemas.microsoft.com/office/drawing/2014/main" id="{F3394CF0-E87D-0C16-F800-5A65D2AFF2C0}"/>
              </a:ext>
            </a:extLst>
          </p:cNvPr>
          <p:cNvSpPr/>
          <p:nvPr/>
        </p:nvSpPr>
        <p:spPr>
          <a:xfrm>
            <a:off x="6829806" y="4014724"/>
            <a:ext cx="81788" cy="8178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1DF6FA9A-9D6A-CD23-A1A8-765DEAF40D4D}"/>
              </a:ext>
            </a:extLst>
          </p:cNvPr>
          <p:cNvSpPr/>
          <p:nvPr/>
        </p:nvSpPr>
        <p:spPr>
          <a:xfrm>
            <a:off x="6812280" y="4119880"/>
            <a:ext cx="116840" cy="18694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0E4D5B8A-C5AA-8992-2E6D-11094F374BFA}"/>
              </a:ext>
            </a:extLst>
          </p:cNvPr>
          <p:cNvCxnSpPr/>
          <p:nvPr/>
        </p:nvCxnSpPr>
        <p:spPr>
          <a:xfrm flipH="1">
            <a:off x="6812280" y="42892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232D2E46-D048-9BF7-7D7F-F940CA9C09FA}"/>
              </a:ext>
            </a:extLst>
          </p:cNvPr>
          <p:cNvCxnSpPr/>
          <p:nvPr/>
        </p:nvCxnSpPr>
        <p:spPr>
          <a:xfrm>
            <a:off x="6911594" y="42892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DC80BD0-B11D-DA5A-ECFB-7F09AA5628FC}"/>
              </a:ext>
            </a:extLst>
          </p:cNvPr>
          <p:cNvCxnSpPr/>
          <p:nvPr/>
        </p:nvCxnSpPr>
        <p:spPr>
          <a:xfrm flipH="1">
            <a:off x="6742176" y="4160774"/>
            <a:ext cx="87630" cy="70104"/>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C3C61A0-3B9B-E588-7D50-6BB3AF53D7C9}"/>
              </a:ext>
            </a:extLst>
          </p:cNvPr>
          <p:cNvCxnSpPr/>
          <p:nvPr/>
        </p:nvCxnSpPr>
        <p:spPr>
          <a:xfrm flipV="1">
            <a:off x="6911594" y="4049776"/>
            <a:ext cx="93472" cy="110998"/>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EDD53100-4C9F-6D3B-0A9C-66F2CA09BB96}"/>
              </a:ext>
            </a:extLst>
          </p:cNvPr>
          <p:cNvSpPr/>
          <p:nvPr/>
        </p:nvSpPr>
        <p:spPr>
          <a:xfrm>
            <a:off x="7464806" y="4230624"/>
            <a:ext cx="81788" cy="8178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225E55F5-CECC-7E82-CE36-25FFEDEC348C}"/>
              </a:ext>
            </a:extLst>
          </p:cNvPr>
          <p:cNvSpPr/>
          <p:nvPr/>
        </p:nvSpPr>
        <p:spPr>
          <a:xfrm>
            <a:off x="7447280" y="4335780"/>
            <a:ext cx="116840" cy="18694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5D9F0AED-372E-C9C6-C470-DB9913AE7A2D}"/>
              </a:ext>
            </a:extLst>
          </p:cNvPr>
          <p:cNvCxnSpPr/>
          <p:nvPr/>
        </p:nvCxnSpPr>
        <p:spPr>
          <a:xfrm flipH="1">
            <a:off x="7447280" y="45051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D5794857-2CE5-F8C9-F799-084789BD1128}"/>
              </a:ext>
            </a:extLst>
          </p:cNvPr>
          <p:cNvCxnSpPr/>
          <p:nvPr/>
        </p:nvCxnSpPr>
        <p:spPr>
          <a:xfrm>
            <a:off x="7546594" y="45051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8993EB99-7353-6255-D94F-A2A01B0FE826}"/>
              </a:ext>
            </a:extLst>
          </p:cNvPr>
          <p:cNvCxnSpPr/>
          <p:nvPr/>
        </p:nvCxnSpPr>
        <p:spPr>
          <a:xfrm flipH="1">
            <a:off x="7377176" y="4376674"/>
            <a:ext cx="87630" cy="70104"/>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27921904-2655-02DA-5814-BB3A1FECBE59}"/>
              </a:ext>
            </a:extLst>
          </p:cNvPr>
          <p:cNvCxnSpPr/>
          <p:nvPr/>
        </p:nvCxnSpPr>
        <p:spPr>
          <a:xfrm flipV="1">
            <a:off x="7546594" y="4265676"/>
            <a:ext cx="93472" cy="110998"/>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685CB969-8520-48FB-D154-4FA7F64DE57C}"/>
              </a:ext>
            </a:extLst>
          </p:cNvPr>
          <p:cNvSpPr/>
          <p:nvPr/>
        </p:nvSpPr>
        <p:spPr>
          <a:xfrm>
            <a:off x="8350758" y="3862832"/>
            <a:ext cx="138684" cy="138684"/>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15C310D3-3A9A-F967-AA93-8EE0950C92E7}"/>
              </a:ext>
            </a:extLst>
          </p:cNvPr>
          <p:cNvSpPr/>
          <p:nvPr/>
        </p:nvSpPr>
        <p:spPr>
          <a:xfrm>
            <a:off x="8321040" y="4041140"/>
            <a:ext cx="198120" cy="316992"/>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9EAC24D5-2E4D-5795-A140-7492700FA6C5}"/>
              </a:ext>
            </a:extLst>
          </p:cNvPr>
          <p:cNvCxnSpPr/>
          <p:nvPr/>
        </p:nvCxnSpPr>
        <p:spPr>
          <a:xfrm flipH="1">
            <a:off x="8321040" y="4328414"/>
            <a:ext cx="29718" cy="208026"/>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57930D85-3DC0-DA1B-209E-5FA4796D948B}"/>
              </a:ext>
            </a:extLst>
          </p:cNvPr>
          <p:cNvCxnSpPr/>
          <p:nvPr/>
        </p:nvCxnSpPr>
        <p:spPr>
          <a:xfrm>
            <a:off x="8489442" y="4328414"/>
            <a:ext cx="29718" cy="208026"/>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3B4D78B9-6680-7B58-CEAC-6DE6EC92F7D7}"/>
              </a:ext>
            </a:extLst>
          </p:cNvPr>
          <p:cNvCxnSpPr/>
          <p:nvPr/>
        </p:nvCxnSpPr>
        <p:spPr>
          <a:xfrm flipH="1">
            <a:off x="8202168" y="4110482"/>
            <a:ext cx="148590" cy="118872"/>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51FCA034-ACA5-0FE9-04BB-D802A2D06D12}"/>
              </a:ext>
            </a:extLst>
          </p:cNvPr>
          <p:cNvCxnSpPr/>
          <p:nvPr/>
        </p:nvCxnSpPr>
        <p:spPr>
          <a:xfrm flipV="1">
            <a:off x="8489442" y="3922268"/>
            <a:ext cx="158496" cy="188214"/>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6AF86D90-6E65-5ED6-0DE6-7502A63A6002}"/>
              </a:ext>
            </a:extLst>
          </p:cNvPr>
          <p:cNvCxnSpPr/>
          <p:nvPr/>
        </p:nvCxnSpPr>
        <p:spPr>
          <a:xfrm flipH="1" flipV="1">
            <a:off x="10666984" y="3582924"/>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1CC7C9D4-5BA0-E05B-6472-21A021C05DA6}"/>
              </a:ext>
            </a:extLst>
          </p:cNvPr>
          <p:cNvSpPr/>
          <p:nvPr/>
        </p:nvSpPr>
        <p:spPr>
          <a:xfrm>
            <a:off x="10569448" y="3485388"/>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EE4BA585-118A-38C4-532B-8B63253A8EB1}"/>
              </a:ext>
            </a:extLst>
          </p:cNvPr>
          <p:cNvCxnSpPr/>
          <p:nvPr/>
        </p:nvCxnSpPr>
        <p:spPr>
          <a:xfrm>
            <a:off x="10601960" y="3582924"/>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8C1F76BF-60B8-2A18-86C3-9C7C06682AEE}"/>
              </a:ext>
            </a:extLst>
          </p:cNvPr>
          <p:cNvCxnSpPr/>
          <p:nvPr/>
        </p:nvCxnSpPr>
        <p:spPr>
          <a:xfrm flipV="1">
            <a:off x="10845800" y="3582924"/>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77A3153C-D0A4-549E-4C4B-247BB3CC34ED}"/>
              </a:ext>
            </a:extLst>
          </p:cNvPr>
          <p:cNvSpPr/>
          <p:nvPr/>
        </p:nvSpPr>
        <p:spPr>
          <a:xfrm>
            <a:off x="10927080" y="3485388"/>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76BF9BEB-1938-44D9-3021-B96473A59084}"/>
              </a:ext>
            </a:extLst>
          </p:cNvPr>
          <p:cNvCxnSpPr/>
          <p:nvPr/>
        </p:nvCxnSpPr>
        <p:spPr>
          <a:xfrm>
            <a:off x="10959592" y="3582924"/>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68E60186-E64E-CBA1-1942-1126C3800B6E}"/>
              </a:ext>
            </a:extLst>
          </p:cNvPr>
          <p:cNvCxnSpPr/>
          <p:nvPr/>
        </p:nvCxnSpPr>
        <p:spPr>
          <a:xfrm flipH="1">
            <a:off x="10666984" y="3721100"/>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5529781A-A716-E80B-F8C3-703E4E7A61E0}"/>
              </a:ext>
            </a:extLst>
          </p:cNvPr>
          <p:cNvSpPr/>
          <p:nvPr/>
        </p:nvSpPr>
        <p:spPr>
          <a:xfrm>
            <a:off x="10569448" y="3761740"/>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7CD692D9-02AE-B445-3844-EF14A5C4620A}"/>
              </a:ext>
            </a:extLst>
          </p:cNvPr>
          <p:cNvCxnSpPr/>
          <p:nvPr/>
        </p:nvCxnSpPr>
        <p:spPr>
          <a:xfrm>
            <a:off x="10601960" y="3859276"/>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5309629F-EC74-0564-846B-2E880AFC5C45}"/>
              </a:ext>
            </a:extLst>
          </p:cNvPr>
          <p:cNvCxnSpPr/>
          <p:nvPr/>
        </p:nvCxnSpPr>
        <p:spPr>
          <a:xfrm>
            <a:off x="10845800" y="3721100"/>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80" name="Oval 79">
            <a:extLst>
              <a:ext uri="{FF2B5EF4-FFF2-40B4-BE49-F238E27FC236}">
                <a16:creationId xmlns:a16="http://schemas.microsoft.com/office/drawing/2014/main" id="{F2A8597B-4003-888A-EE65-C112D286EDC7}"/>
              </a:ext>
            </a:extLst>
          </p:cNvPr>
          <p:cNvSpPr/>
          <p:nvPr/>
        </p:nvSpPr>
        <p:spPr>
          <a:xfrm>
            <a:off x="10927080" y="3761740"/>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55E14359-7084-5A09-A145-5C376EBDA904}"/>
              </a:ext>
            </a:extLst>
          </p:cNvPr>
          <p:cNvCxnSpPr/>
          <p:nvPr/>
        </p:nvCxnSpPr>
        <p:spPr>
          <a:xfrm>
            <a:off x="10959592" y="3859276"/>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82" name="Rectangle: Rounded Corners 81">
            <a:extLst>
              <a:ext uri="{FF2B5EF4-FFF2-40B4-BE49-F238E27FC236}">
                <a16:creationId xmlns:a16="http://schemas.microsoft.com/office/drawing/2014/main" id="{38C9A381-C358-BE0C-6BF5-70C5E9DD8CA9}"/>
              </a:ext>
            </a:extLst>
          </p:cNvPr>
          <p:cNvSpPr/>
          <p:nvPr/>
        </p:nvSpPr>
        <p:spPr>
          <a:xfrm>
            <a:off x="10772648" y="3591052"/>
            <a:ext cx="146304" cy="26009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9AE84657-AC44-3374-5150-DC9F6715F5B0}"/>
              </a:ext>
            </a:extLst>
          </p:cNvPr>
          <p:cNvSpPr/>
          <p:nvPr/>
        </p:nvSpPr>
        <p:spPr>
          <a:xfrm>
            <a:off x="10821416" y="3639820"/>
            <a:ext cx="48769" cy="4876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4F70158E-C4E0-586D-49B0-7DEE81ACC754}"/>
              </a:ext>
            </a:extLst>
          </p:cNvPr>
          <p:cNvCxnSpPr/>
          <p:nvPr/>
        </p:nvCxnSpPr>
        <p:spPr>
          <a:xfrm flipV="1">
            <a:off x="8801100" y="3721100"/>
            <a:ext cx="1549400" cy="1778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B18B8223-2D54-EAA9-2392-E3821D0696DA}"/>
              </a:ext>
            </a:extLst>
          </p:cNvPr>
          <p:cNvSpPr txBox="1"/>
          <p:nvPr/>
        </p:nvSpPr>
        <p:spPr>
          <a:xfrm>
            <a:off x="8940800" y="4089400"/>
            <a:ext cx="1714500" cy="153888"/>
          </a:xfrm>
          <a:prstGeom prst="rect">
            <a:avLst/>
          </a:prstGeom>
          <a:noFill/>
        </p:spPr>
        <p:txBody>
          <a:bodyPr vert="horz" wrap="square" lIns="0" tIns="0" rIns="0" bIns="0" rtlCol="0">
            <a:spAutoFit/>
          </a:bodyPr>
          <a:lstStyle/>
          <a:p>
            <a:r>
              <a:rPr lang="en-US" sz="1000" b="1">
                <a:solidFill>
                  <a:srgbClr val="2563EB"/>
                </a:solidFill>
                <a:latin typeface="Aptos" panose="020B0004020202020204" pitchFamily="34" charset="0"/>
              </a:rPr>
              <a:t>VISUAL COMMAND</a:t>
            </a:r>
          </a:p>
        </p:txBody>
      </p:sp>
      <p:sp>
        <p:nvSpPr>
          <p:cNvPr id="86" name="TextBox 85">
            <a:extLst>
              <a:ext uri="{FF2B5EF4-FFF2-40B4-BE49-F238E27FC236}">
                <a16:creationId xmlns:a16="http://schemas.microsoft.com/office/drawing/2014/main" id="{0379BBF3-648B-6B3A-CF2F-A6393610F926}"/>
              </a:ext>
            </a:extLst>
          </p:cNvPr>
          <p:cNvSpPr txBox="1"/>
          <p:nvPr/>
        </p:nvSpPr>
        <p:spPr>
          <a:xfrm>
            <a:off x="6400800" y="4800600"/>
            <a:ext cx="5067300" cy="246221"/>
          </a:xfrm>
          <a:prstGeom prst="rect">
            <a:avLst/>
          </a:prstGeom>
          <a:noFill/>
        </p:spPr>
        <p:txBody>
          <a:bodyPr vert="horz" wrap="square" lIns="0" tIns="0" rIns="0" bIns="0" rtlCol="0">
            <a:spAutoFit/>
          </a:bodyPr>
          <a:lstStyle/>
          <a:p>
            <a:r>
              <a:rPr lang="en-US" sz="1600">
                <a:solidFill>
                  <a:srgbClr val="006B62"/>
                </a:solidFill>
                <a:latin typeface="Aptos" panose="020B0004020202020204" pitchFamily="34" charset="0"/>
              </a:rPr>
              <a:t>Change intent while facing the squad.</a:t>
            </a:r>
          </a:p>
        </p:txBody>
      </p:sp>
      <p:sp>
        <p:nvSpPr>
          <p:cNvPr id="87" name="TextBox 86">
            <a:extLst>
              <a:ext uri="{FF2B5EF4-FFF2-40B4-BE49-F238E27FC236}">
                <a16:creationId xmlns:a16="http://schemas.microsoft.com/office/drawing/2014/main" id="{20C8D3A7-FF3C-BDF7-CFE8-78DCF0E4086D}"/>
              </a:ext>
            </a:extLst>
          </p:cNvPr>
          <p:cNvSpPr txBox="1"/>
          <p:nvPr/>
        </p:nvSpPr>
        <p:spPr>
          <a:xfrm>
            <a:off x="508000" y="5359400"/>
            <a:ext cx="20701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INTENDED IMPACT</a:t>
            </a:r>
          </a:p>
        </p:txBody>
      </p:sp>
      <p:sp>
        <p:nvSpPr>
          <p:cNvPr id="88" name="TextBox 87">
            <a:extLst>
              <a:ext uri="{FF2B5EF4-FFF2-40B4-BE49-F238E27FC236}">
                <a16:creationId xmlns:a16="http://schemas.microsoft.com/office/drawing/2014/main" id="{2DC67492-8580-8881-60CC-EA381E5C1774}"/>
              </a:ext>
            </a:extLst>
          </p:cNvPr>
          <p:cNvSpPr txBox="1"/>
          <p:nvPr/>
        </p:nvSpPr>
        <p:spPr>
          <a:xfrm>
            <a:off x="2654300" y="5283200"/>
            <a:ext cx="90170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Redirect drone support as squad needs change.</a:t>
            </a:r>
          </a:p>
        </p:txBody>
      </p:sp>
      <p:sp>
        <p:nvSpPr>
          <p:cNvPr id="89" name="TextBox 88">
            <a:extLst>
              <a:ext uri="{FF2B5EF4-FFF2-40B4-BE49-F238E27FC236}">
                <a16:creationId xmlns:a16="http://schemas.microsoft.com/office/drawing/2014/main" id="{3FD0D613-B2F3-0899-0682-8CA6A1870FF4}"/>
              </a:ext>
            </a:extLst>
          </p:cNvPr>
          <p:cNvSpPr txBox="1"/>
          <p:nvPr/>
        </p:nvSpPr>
        <p:spPr>
          <a:xfrm>
            <a:off x="508000" y="5829300"/>
            <a:ext cx="112014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Discovery: team conversation with an industry representative (paraphrased; informal user input).</a:t>
            </a:r>
          </a:p>
        </p:txBody>
      </p:sp>
      <p:sp>
        <p:nvSpPr>
          <p:cNvPr id="90" name="TextBox 89">
            <a:extLst>
              <a:ext uri="{FF2B5EF4-FFF2-40B4-BE49-F238E27FC236}">
                <a16:creationId xmlns:a16="http://schemas.microsoft.com/office/drawing/2014/main" id="{DC1F0332-2116-A23A-3230-D45A2B1FBBB7}"/>
              </a:ext>
            </a:extLst>
          </p:cNvPr>
          <p:cNvSpPr txBox="1"/>
          <p:nvPr/>
        </p:nvSpPr>
        <p:spPr>
          <a:xfrm>
            <a:off x="508000" y="6032500"/>
            <a:ext cx="112014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Today: connected simulation. Onboard vision is planned; GPS-independent navigation is a separate requirement.</a:t>
            </a:r>
          </a:p>
        </p:txBody>
      </p:sp>
    </p:spTree>
    <p:extLst>
      <p:ext uri="{BB962C8B-B14F-4D97-AF65-F5344CB8AC3E}">
        <p14:creationId xmlns:p14="http://schemas.microsoft.com/office/powerpoint/2010/main" val="1721443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CA6409-43B8-4F04-A8E6-697DFDD46670}"/>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862FC62B-FD85-A50D-0F5F-1EDCE1DD0AAA}"/>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02 / THE INSPIRATION</a:t>
            </a:r>
          </a:p>
        </p:txBody>
      </p:sp>
      <p:sp>
        <p:nvSpPr>
          <p:cNvPr id="4" name="TextBox 3">
            <a:extLst>
              <a:ext uri="{FF2B5EF4-FFF2-40B4-BE49-F238E27FC236}">
                <a16:creationId xmlns:a16="http://schemas.microsoft.com/office/drawing/2014/main" id="{6CE0915D-6764-0ADA-029A-5775E389165A}"/>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Human intent, in more than one form.</a:t>
            </a:r>
          </a:p>
        </p:txBody>
      </p:sp>
      <p:cxnSp>
        <p:nvCxnSpPr>
          <p:cNvPr id="5" name="Straight Connector 4">
            <a:extLst>
              <a:ext uri="{FF2B5EF4-FFF2-40B4-BE49-F238E27FC236}">
                <a16:creationId xmlns:a16="http://schemas.microsoft.com/office/drawing/2014/main" id="{C656B275-4A82-6C38-6143-28C3AD74C62E}"/>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DB29C9F-F23D-FAE0-3DF4-772C803349B5}"/>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0F7376FD-A4AA-FB77-6A14-340A59230DFD}"/>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03</a:t>
            </a:r>
          </a:p>
        </p:txBody>
      </p:sp>
      <p:sp>
        <p:nvSpPr>
          <p:cNvPr id="8" name="Rectangle 7">
            <a:extLst>
              <a:ext uri="{FF2B5EF4-FFF2-40B4-BE49-F238E27FC236}">
                <a16:creationId xmlns:a16="http://schemas.microsoft.com/office/drawing/2014/main" id="{7180620D-E8FD-0549-2823-032131DE1137}"/>
              </a:ext>
            </a:extLst>
          </p:cNvPr>
          <p:cNvSpPr/>
          <p:nvPr/>
        </p:nvSpPr>
        <p:spPr>
          <a:xfrm>
            <a:off x="508000" y="2476500"/>
            <a:ext cx="4991100" cy="26797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643B390-8AF1-4315-6C66-99CA1EF58E02}"/>
              </a:ext>
            </a:extLst>
          </p:cNvPr>
          <p:cNvSpPr txBox="1"/>
          <p:nvPr/>
        </p:nvSpPr>
        <p:spPr>
          <a:xfrm>
            <a:off x="736600" y="2743200"/>
            <a:ext cx="4533900" cy="184666"/>
          </a:xfrm>
          <a:prstGeom prst="rect">
            <a:avLst/>
          </a:prstGeom>
          <a:noFill/>
        </p:spPr>
        <p:txBody>
          <a:bodyPr vert="horz" wrap="square" lIns="0" tIns="0" rIns="0" bIns="0" rtlCol="0">
            <a:spAutoFit/>
          </a:bodyPr>
          <a:lstStyle/>
          <a:p>
            <a:r>
              <a:rPr lang="en-US" sz="1200" b="1">
                <a:solidFill>
                  <a:srgbClr val="617286"/>
                </a:solidFill>
                <a:latin typeface="Aptos" panose="020B0004020202020204" pitchFamily="34" charset="0"/>
              </a:rPr>
              <a:t>THE HACKATHON PROMPT</a:t>
            </a:r>
          </a:p>
        </p:txBody>
      </p:sp>
      <p:sp>
        <p:nvSpPr>
          <p:cNvPr id="10" name="TextBox 9">
            <a:extLst>
              <a:ext uri="{FF2B5EF4-FFF2-40B4-BE49-F238E27FC236}">
                <a16:creationId xmlns:a16="http://schemas.microsoft.com/office/drawing/2014/main" id="{04D2DB01-7F11-E34E-CA56-77F49181EFC2}"/>
              </a:ext>
            </a:extLst>
          </p:cNvPr>
          <p:cNvSpPr txBox="1"/>
          <p:nvPr/>
        </p:nvSpPr>
        <p:spPr>
          <a:xfrm>
            <a:off x="736600" y="3276600"/>
            <a:ext cx="4457700" cy="892552"/>
          </a:xfrm>
          <a:prstGeom prst="rect">
            <a:avLst/>
          </a:prstGeom>
          <a:noFill/>
        </p:spPr>
        <p:txBody>
          <a:bodyPr vert="horz" wrap="square" lIns="0" tIns="0" rIns="0" bIns="0" rtlCol="0">
            <a:spAutoFit/>
          </a:bodyPr>
          <a:lstStyle/>
          <a:p>
            <a:r>
              <a:rPr lang="en-US" sz="2900" b="1">
                <a:solidFill>
                  <a:srgbClr val="14263A"/>
                </a:solidFill>
                <a:latin typeface="Aptos" panose="020B0004020202020204" pitchFamily="34" charset="0"/>
              </a:rPr>
              <a:t>“Flight paths in plain English”</a:t>
            </a:r>
          </a:p>
        </p:txBody>
      </p:sp>
      <p:sp>
        <p:nvSpPr>
          <p:cNvPr id="11" name="TextBox 10">
            <a:extLst>
              <a:ext uri="{FF2B5EF4-FFF2-40B4-BE49-F238E27FC236}">
                <a16:creationId xmlns:a16="http://schemas.microsoft.com/office/drawing/2014/main" id="{E915FD44-2319-5F0D-1E5E-BE12E6452DE0}"/>
              </a:ext>
            </a:extLst>
          </p:cNvPr>
          <p:cNvSpPr txBox="1"/>
          <p:nvPr/>
        </p:nvSpPr>
        <p:spPr>
          <a:xfrm>
            <a:off x="736600" y="4445000"/>
            <a:ext cx="4457700" cy="584775"/>
          </a:xfrm>
          <a:prstGeom prst="rect">
            <a:avLst/>
          </a:prstGeom>
          <a:noFill/>
        </p:spPr>
        <p:txBody>
          <a:bodyPr vert="horz" wrap="square" lIns="0" tIns="0" rIns="0" bIns="0" rtlCol="0">
            <a:spAutoFit/>
          </a:bodyPr>
          <a:lstStyle/>
          <a:p>
            <a:r>
              <a:rPr lang="en-US" sz="1900">
                <a:solidFill>
                  <a:srgbClr val="617286"/>
                </a:solidFill>
                <a:latin typeface="Aptos" panose="020B0004020202020204" pitchFamily="34" charset="0"/>
              </a:rPr>
              <a:t>Plan and adjust a flight path using natural language.</a:t>
            </a:r>
          </a:p>
        </p:txBody>
      </p:sp>
      <p:cxnSp>
        <p:nvCxnSpPr>
          <p:cNvPr id="12" name="Straight Connector 11">
            <a:extLst>
              <a:ext uri="{FF2B5EF4-FFF2-40B4-BE49-F238E27FC236}">
                <a16:creationId xmlns:a16="http://schemas.microsoft.com/office/drawing/2014/main" id="{217EB310-D83D-1958-B42A-DEC2B93D9A1B}"/>
              </a:ext>
            </a:extLst>
          </p:cNvPr>
          <p:cNvCxnSpPr/>
          <p:nvPr/>
        </p:nvCxnSpPr>
        <p:spPr>
          <a:xfrm>
            <a:off x="5689600" y="3771900"/>
            <a:ext cx="5588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96606812-D227-A172-93FC-58B8EB14B001}"/>
              </a:ext>
            </a:extLst>
          </p:cNvPr>
          <p:cNvSpPr/>
          <p:nvPr/>
        </p:nvSpPr>
        <p:spPr>
          <a:xfrm>
            <a:off x="6438900" y="2476500"/>
            <a:ext cx="5245100" cy="26797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2582803-EFE7-59A7-5C22-A886981020E2}"/>
              </a:ext>
            </a:extLst>
          </p:cNvPr>
          <p:cNvSpPr txBox="1"/>
          <p:nvPr/>
        </p:nvSpPr>
        <p:spPr>
          <a:xfrm>
            <a:off x="6667500" y="2743200"/>
            <a:ext cx="47879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OUR EXTENSION</a:t>
            </a:r>
          </a:p>
        </p:txBody>
      </p:sp>
      <p:sp>
        <p:nvSpPr>
          <p:cNvPr id="15" name="TextBox 14">
            <a:extLst>
              <a:ext uri="{FF2B5EF4-FFF2-40B4-BE49-F238E27FC236}">
                <a16:creationId xmlns:a16="http://schemas.microsoft.com/office/drawing/2014/main" id="{0DB724DA-702F-CF79-0A60-536A8A035C06}"/>
              </a:ext>
            </a:extLst>
          </p:cNvPr>
          <p:cNvSpPr txBox="1"/>
          <p:nvPr/>
        </p:nvSpPr>
        <p:spPr>
          <a:xfrm>
            <a:off x="6667500" y="3276600"/>
            <a:ext cx="4686300" cy="892552"/>
          </a:xfrm>
          <a:prstGeom prst="rect">
            <a:avLst/>
          </a:prstGeom>
          <a:noFill/>
        </p:spPr>
        <p:txBody>
          <a:bodyPr vert="horz" wrap="square" lIns="0" tIns="0" rIns="0" bIns="0" rtlCol="0">
            <a:spAutoFit/>
          </a:bodyPr>
          <a:lstStyle/>
          <a:p>
            <a:r>
              <a:rPr lang="en-US" sz="2900" b="1">
                <a:solidFill>
                  <a:srgbClr val="14263A"/>
                </a:solidFill>
                <a:latin typeface="Aptos" panose="020B0004020202020204" pitchFamily="34" charset="0"/>
              </a:rPr>
              <a:t>Why not communicate with hand gestures, too?</a:t>
            </a:r>
          </a:p>
        </p:txBody>
      </p:sp>
      <p:sp>
        <p:nvSpPr>
          <p:cNvPr id="16" name="TextBox 15">
            <a:extLst>
              <a:ext uri="{FF2B5EF4-FFF2-40B4-BE49-F238E27FC236}">
                <a16:creationId xmlns:a16="http://schemas.microsoft.com/office/drawing/2014/main" id="{BBE1FBBB-ECD5-E0FA-6AC6-CFA4DB2A93D4}"/>
              </a:ext>
            </a:extLst>
          </p:cNvPr>
          <p:cNvSpPr txBox="1"/>
          <p:nvPr/>
        </p:nvSpPr>
        <p:spPr>
          <a:xfrm>
            <a:off x="6667500" y="4445000"/>
            <a:ext cx="4699000" cy="584775"/>
          </a:xfrm>
          <a:prstGeom prst="rect">
            <a:avLst/>
          </a:prstGeom>
          <a:noFill/>
        </p:spPr>
        <p:txBody>
          <a:bodyPr vert="horz" wrap="square" lIns="0" tIns="0" rIns="0" bIns="0" rtlCol="0">
            <a:spAutoFit/>
          </a:bodyPr>
          <a:lstStyle/>
          <a:p>
            <a:r>
              <a:rPr lang="en-US" sz="1900">
                <a:solidFill>
                  <a:srgbClr val="006B62"/>
                </a:solidFill>
                <a:latin typeface="Aptos" panose="020B0004020202020204" pitchFamily="34" charset="0"/>
              </a:rPr>
              <a:t>Another human way to express intent and change drone behavior.</a:t>
            </a:r>
          </a:p>
        </p:txBody>
      </p:sp>
      <p:sp>
        <p:nvSpPr>
          <p:cNvPr id="17" name="TextBox 16">
            <a:extLst>
              <a:ext uri="{FF2B5EF4-FFF2-40B4-BE49-F238E27FC236}">
                <a16:creationId xmlns:a16="http://schemas.microsoft.com/office/drawing/2014/main" id="{15F80A8C-80FC-1621-1B7B-D73820A5D593}"/>
              </a:ext>
            </a:extLst>
          </p:cNvPr>
          <p:cNvSpPr txBox="1"/>
          <p:nvPr/>
        </p:nvSpPr>
        <p:spPr>
          <a:xfrm>
            <a:off x="508000" y="5511800"/>
            <a:ext cx="11150600" cy="646331"/>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Natural-language planning inspired us. Gesture interaction became our working demonstration.</a:t>
            </a:r>
          </a:p>
        </p:txBody>
      </p:sp>
      <p:sp>
        <p:nvSpPr>
          <p:cNvPr id="18" name="TextBox 17">
            <a:extLst>
              <a:ext uri="{FF2B5EF4-FFF2-40B4-BE49-F238E27FC236}">
                <a16:creationId xmlns:a16="http://schemas.microsoft.com/office/drawing/2014/main" id="{1EC1ABD5-5AD7-7F66-B337-3D5174DD20D9}"/>
              </a:ext>
            </a:extLst>
          </p:cNvPr>
          <p:cNvSpPr txBox="1"/>
          <p:nvPr/>
        </p:nvSpPr>
        <p:spPr>
          <a:xfrm>
            <a:off x="508000" y="6083300"/>
            <a:ext cx="111887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Source: DNHacks Defense inspiration prompt, “Flight paths in plain English” (provided by team).</a:t>
            </a:r>
          </a:p>
        </p:txBody>
      </p:sp>
    </p:spTree>
    <p:extLst>
      <p:ext uri="{BB962C8B-B14F-4D97-AF65-F5344CB8AC3E}">
        <p14:creationId xmlns:p14="http://schemas.microsoft.com/office/powerpoint/2010/main" val="912936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6994AF-076D-3B2F-A05A-376301F24A73}"/>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1C09E909-6F27-8C66-00EA-2A3C778AFF78}"/>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03 / LIVE DEMO · 45 SECONDS</a:t>
            </a:r>
          </a:p>
        </p:txBody>
      </p:sp>
      <p:sp>
        <p:nvSpPr>
          <p:cNvPr id="4" name="TextBox 3">
            <a:extLst>
              <a:ext uri="{FF2B5EF4-FFF2-40B4-BE49-F238E27FC236}">
                <a16:creationId xmlns:a16="http://schemas.microsoft.com/office/drawing/2014/main" id="{59C8767E-A98A-C2C0-09BE-1FE112F2AA83}"/>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Four commands. One continuous demo.</a:t>
            </a:r>
          </a:p>
        </p:txBody>
      </p:sp>
      <p:cxnSp>
        <p:nvCxnSpPr>
          <p:cNvPr id="5" name="Straight Connector 4">
            <a:extLst>
              <a:ext uri="{FF2B5EF4-FFF2-40B4-BE49-F238E27FC236}">
                <a16:creationId xmlns:a16="http://schemas.microsoft.com/office/drawing/2014/main" id="{943E9E50-5DCC-0A0B-D90D-59F935AE5655}"/>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A5A42FE-B432-AA35-BB38-310E23FA8272}"/>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D39D5D11-3D1C-BF52-F1F1-F3A21BDB4B85}"/>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04</a:t>
            </a:r>
          </a:p>
        </p:txBody>
      </p:sp>
      <p:sp>
        <p:nvSpPr>
          <p:cNvPr id="8" name="TextBox 7">
            <a:extLst>
              <a:ext uri="{FF2B5EF4-FFF2-40B4-BE49-F238E27FC236}">
                <a16:creationId xmlns:a16="http://schemas.microsoft.com/office/drawing/2014/main" id="{EDA2A950-331A-3168-DF87-2D022BDDC247}"/>
              </a:ext>
            </a:extLst>
          </p:cNvPr>
          <p:cNvSpPr txBox="1"/>
          <p:nvPr/>
        </p:nvSpPr>
        <p:spPr>
          <a:xfrm>
            <a:off x="5080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01</a:t>
            </a:r>
          </a:p>
        </p:txBody>
      </p:sp>
      <p:sp>
        <p:nvSpPr>
          <p:cNvPr id="9" name="TextBox 8">
            <a:extLst>
              <a:ext uri="{FF2B5EF4-FFF2-40B4-BE49-F238E27FC236}">
                <a16:creationId xmlns:a16="http://schemas.microsoft.com/office/drawing/2014/main" id="{6580FB37-C9B2-04DD-5CA4-919785B5BAEA}"/>
              </a:ext>
            </a:extLst>
          </p:cNvPr>
          <p:cNvSpPr txBox="1"/>
          <p:nvPr/>
        </p:nvSpPr>
        <p:spPr>
          <a:xfrm>
            <a:off x="5080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Orbit</a:t>
            </a:r>
          </a:p>
        </p:txBody>
      </p:sp>
      <p:sp>
        <p:nvSpPr>
          <p:cNvPr id="10" name="TextBox 9">
            <a:extLst>
              <a:ext uri="{FF2B5EF4-FFF2-40B4-BE49-F238E27FC236}">
                <a16:creationId xmlns:a16="http://schemas.microsoft.com/office/drawing/2014/main" id="{40FB4430-1615-D758-C3FC-32A8735CB025}"/>
              </a:ext>
            </a:extLst>
          </p:cNvPr>
          <p:cNvSpPr txBox="1"/>
          <p:nvPr/>
        </p:nvSpPr>
        <p:spPr>
          <a:xfrm>
            <a:off x="5080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Circle the operator.</a:t>
            </a:r>
          </a:p>
        </p:txBody>
      </p:sp>
      <p:cxnSp>
        <p:nvCxnSpPr>
          <p:cNvPr id="11" name="Straight Connector 10">
            <a:extLst>
              <a:ext uri="{FF2B5EF4-FFF2-40B4-BE49-F238E27FC236}">
                <a16:creationId xmlns:a16="http://schemas.microsoft.com/office/drawing/2014/main" id="{A3111370-D616-1D8D-9D5E-B83D9EEDE340}"/>
              </a:ext>
            </a:extLst>
          </p:cNvPr>
          <p:cNvCxnSpPr/>
          <p:nvPr/>
        </p:nvCxnSpPr>
        <p:spPr>
          <a:xfrm>
            <a:off x="31877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E1DECBA1-DA47-2EAD-D863-5AE050220CA0}"/>
              </a:ext>
            </a:extLst>
          </p:cNvPr>
          <p:cNvSpPr txBox="1"/>
          <p:nvPr/>
        </p:nvSpPr>
        <p:spPr>
          <a:xfrm>
            <a:off x="33528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02</a:t>
            </a:r>
          </a:p>
        </p:txBody>
      </p:sp>
      <p:sp>
        <p:nvSpPr>
          <p:cNvPr id="13" name="TextBox 12">
            <a:extLst>
              <a:ext uri="{FF2B5EF4-FFF2-40B4-BE49-F238E27FC236}">
                <a16:creationId xmlns:a16="http://schemas.microsoft.com/office/drawing/2014/main" id="{F5BB7409-EE9D-FEA2-55FB-D044B2FCD445}"/>
              </a:ext>
            </a:extLst>
          </p:cNvPr>
          <p:cNvSpPr txBox="1"/>
          <p:nvPr/>
        </p:nvSpPr>
        <p:spPr>
          <a:xfrm>
            <a:off x="33528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Move</a:t>
            </a:r>
          </a:p>
        </p:txBody>
      </p:sp>
      <p:sp>
        <p:nvSpPr>
          <p:cNvPr id="14" name="TextBox 13">
            <a:extLst>
              <a:ext uri="{FF2B5EF4-FFF2-40B4-BE49-F238E27FC236}">
                <a16:creationId xmlns:a16="http://schemas.microsoft.com/office/drawing/2014/main" id="{49CF73FC-26C0-36A4-0305-58C0F24324C4}"/>
              </a:ext>
            </a:extLst>
          </p:cNvPr>
          <p:cNvSpPr txBox="1"/>
          <p:nvPr/>
        </p:nvSpPr>
        <p:spPr>
          <a:xfrm>
            <a:off x="33528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Follow directional intent.</a:t>
            </a:r>
          </a:p>
        </p:txBody>
      </p:sp>
      <p:cxnSp>
        <p:nvCxnSpPr>
          <p:cNvPr id="15" name="Straight Connector 14">
            <a:extLst>
              <a:ext uri="{FF2B5EF4-FFF2-40B4-BE49-F238E27FC236}">
                <a16:creationId xmlns:a16="http://schemas.microsoft.com/office/drawing/2014/main" id="{76E5DD27-C2A9-8277-0EE5-45224290049F}"/>
              </a:ext>
            </a:extLst>
          </p:cNvPr>
          <p:cNvCxnSpPr/>
          <p:nvPr/>
        </p:nvCxnSpPr>
        <p:spPr>
          <a:xfrm>
            <a:off x="60325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E09420F-DC6D-9AE8-F291-9C265D2D1652}"/>
              </a:ext>
            </a:extLst>
          </p:cNvPr>
          <p:cNvSpPr txBox="1"/>
          <p:nvPr/>
        </p:nvSpPr>
        <p:spPr>
          <a:xfrm>
            <a:off x="61976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03</a:t>
            </a:r>
          </a:p>
        </p:txBody>
      </p:sp>
      <p:sp>
        <p:nvSpPr>
          <p:cNvPr id="17" name="TextBox 16">
            <a:extLst>
              <a:ext uri="{FF2B5EF4-FFF2-40B4-BE49-F238E27FC236}">
                <a16:creationId xmlns:a16="http://schemas.microsoft.com/office/drawing/2014/main" id="{018FB735-E38F-838B-FD99-A8BB77277162}"/>
              </a:ext>
            </a:extLst>
          </p:cNvPr>
          <p:cNvSpPr txBox="1"/>
          <p:nvPr/>
        </p:nvSpPr>
        <p:spPr>
          <a:xfrm>
            <a:off x="61976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Return</a:t>
            </a:r>
          </a:p>
        </p:txBody>
      </p:sp>
      <p:sp>
        <p:nvSpPr>
          <p:cNvPr id="18" name="TextBox 17">
            <a:extLst>
              <a:ext uri="{FF2B5EF4-FFF2-40B4-BE49-F238E27FC236}">
                <a16:creationId xmlns:a16="http://schemas.microsoft.com/office/drawing/2014/main" id="{A694B0BA-A109-5895-EE5C-30058C095F2A}"/>
              </a:ext>
            </a:extLst>
          </p:cNvPr>
          <p:cNvSpPr txBox="1"/>
          <p:nvPr/>
        </p:nvSpPr>
        <p:spPr>
          <a:xfrm>
            <a:off x="61976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Overhead to the sender.</a:t>
            </a:r>
          </a:p>
        </p:txBody>
      </p:sp>
      <p:cxnSp>
        <p:nvCxnSpPr>
          <p:cNvPr id="19" name="Straight Connector 18">
            <a:extLst>
              <a:ext uri="{FF2B5EF4-FFF2-40B4-BE49-F238E27FC236}">
                <a16:creationId xmlns:a16="http://schemas.microsoft.com/office/drawing/2014/main" id="{CA117479-34FB-4275-6D78-8D00B2FCF42D}"/>
              </a:ext>
            </a:extLst>
          </p:cNvPr>
          <p:cNvCxnSpPr/>
          <p:nvPr/>
        </p:nvCxnSpPr>
        <p:spPr>
          <a:xfrm>
            <a:off x="88773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D791913-30BD-A2C4-7E14-4E083D2CE051}"/>
              </a:ext>
            </a:extLst>
          </p:cNvPr>
          <p:cNvSpPr txBox="1"/>
          <p:nvPr/>
        </p:nvSpPr>
        <p:spPr>
          <a:xfrm>
            <a:off x="90424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04</a:t>
            </a:r>
          </a:p>
        </p:txBody>
      </p:sp>
      <p:sp>
        <p:nvSpPr>
          <p:cNvPr id="21" name="TextBox 20">
            <a:extLst>
              <a:ext uri="{FF2B5EF4-FFF2-40B4-BE49-F238E27FC236}">
                <a16:creationId xmlns:a16="http://schemas.microsoft.com/office/drawing/2014/main" id="{66DA2346-AD46-2ABD-DEFA-48B2AC075D70}"/>
              </a:ext>
            </a:extLst>
          </p:cNvPr>
          <p:cNvSpPr txBox="1"/>
          <p:nvPr/>
        </p:nvSpPr>
        <p:spPr>
          <a:xfrm>
            <a:off x="90424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Stop</a:t>
            </a:r>
          </a:p>
        </p:txBody>
      </p:sp>
      <p:sp>
        <p:nvSpPr>
          <p:cNvPr id="22" name="TextBox 21">
            <a:extLst>
              <a:ext uri="{FF2B5EF4-FFF2-40B4-BE49-F238E27FC236}">
                <a16:creationId xmlns:a16="http://schemas.microsoft.com/office/drawing/2014/main" id="{D3EFCE98-C222-9D0F-6C1A-BC9DE4F9318A}"/>
              </a:ext>
            </a:extLst>
          </p:cNvPr>
          <p:cNvSpPr txBox="1"/>
          <p:nvPr/>
        </p:nvSpPr>
        <p:spPr>
          <a:xfrm>
            <a:off x="9042400" y="4953000"/>
            <a:ext cx="2603500" cy="52322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Open-palm emergency stop.</a:t>
            </a:r>
          </a:p>
        </p:txBody>
      </p:sp>
      <p:sp>
        <p:nvSpPr>
          <p:cNvPr id="23" name="Oval 22">
            <a:extLst>
              <a:ext uri="{FF2B5EF4-FFF2-40B4-BE49-F238E27FC236}">
                <a16:creationId xmlns:a16="http://schemas.microsoft.com/office/drawing/2014/main" id="{758610EE-047A-1D98-DB56-6A60A5624242}"/>
              </a:ext>
            </a:extLst>
          </p:cNvPr>
          <p:cNvSpPr/>
          <p:nvPr/>
        </p:nvSpPr>
        <p:spPr>
          <a:xfrm>
            <a:off x="1054100" y="3479800"/>
            <a:ext cx="1371600" cy="1371600"/>
          </a:xfrm>
          <a:prstGeom prst="ellipse">
            <a:avLst/>
          </a:prstGeom>
          <a:noFill/>
          <a:ln w="25400" cap="flat" cmpd="sng" algn="ctr">
            <a:solidFill>
              <a:srgbClr val="2563EB"/>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F84E896-9016-2940-47D9-EAD8B54CA82C}"/>
              </a:ext>
            </a:extLst>
          </p:cNvPr>
          <p:cNvSpPr/>
          <p:nvPr/>
        </p:nvSpPr>
        <p:spPr>
          <a:xfrm>
            <a:off x="1675638" y="3883152"/>
            <a:ext cx="103124" cy="103124"/>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9F8BB000-0D99-C7A4-1CBE-C9F0F67779DC}"/>
              </a:ext>
            </a:extLst>
          </p:cNvPr>
          <p:cNvSpPr/>
          <p:nvPr/>
        </p:nvSpPr>
        <p:spPr>
          <a:xfrm>
            <a:off x="1653540" y="4015740"/>
            <a:ext cx="147320" cy="235712"/>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383C3E02-D610-DDEA-56DA-9A2DD6363206}"/>
              </a:ext>
            </a:extLst>
          </p:cNvPr>
          <p:cNvCxnSpPr/>
          <p:nvPr/>
        </p:nvCxnSpPr>
        <p:spPr>
          <a:xfrm flipH="1">
            <a:off x="1653540" y="4229354"/>
            <a:ext cx="22098" cy="154686"/>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619FCE5-C5F8-F860-48BC-EC06FB619E5E}"/>
              </a:ext>
            </a:extLst>
          </p:cNvPr>
          <p:cNvCxnSpPr/>
          <p:nvPr/>
        </p:nvCxnSpPr>
        <p:spPr>
          <a:xfrm>
            <a:off x="1778762" y="4229354"/>
            <a:ext cx="22098" cy="154686"/>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C1BD684-6184-50F1-0CEC-CE74C6EF7EEB}"/>
              </a:ext>
            </a:extLst>
          </p:cNvPr>
          <p:cNvCxnSpPr/>
          <p:nvPr/>
        </p:nvCxnSpPr>
        <p:spPr>
          <a:xfrm flipH="1">
            <a:off x="1565148" y="4067302"/>
            <a:ext cx="110490" cy="88392"/>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B1FE57C-722F-C635-39DB-3A078DC97D63}"/>
              </a:ext>
            </a:extLst>
          </p:cNvPr>
          <p:cNvCxnSpPr/>
          <p:nvPr/>
        </p:nvCxnSpPr>
        <p:spPr>
          <a:xfrm flipV="1">
            <a:off x="1778762" y="3927348"/>
            <a:ext cx="117856" cy="139954"/>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23F0898-ABAB-A220-CCAE-9862144F00D9}"/>
              </a:ext>
            </a:extLst>
          </p:cNvPr>
          <p:cNvCxnSpPr/>
          <p:nvPr/>
        </p:nvCxnSpPr>
        <p:spPr>
          <a:xfrm flipH="1" flipV="1">
            <a:off x="2246376" y="3685286"/>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41836DD1-3B3D-ECF2-548D-E635F188016E}"/>
              </a:ext>
            </a:extLst>
          </p:cNvPr>
          <p:cNvSpPr/>
          <p:nvPr/>
        </p:nvSpPr>
        <p:spPr>
          <a:xfrm>
            <a:off x="2176272" y="3615182"/>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9D3684BC-7B4E-F46D-BC49-386766ED8578}"/>
              </a:ext>
            </a:extLst>
          </p:cNvPr>
          <p:cNvCxnSpPr/>
          <p:nvPr/>
        </p:nvCxnSpPr>
        <p:spPr>
          <a:xfrm>
            <a:off x="2199640" y="3685286"/>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575227F-72EC-1A88-2DF0-814597DD4D82}"/>
              </a:ext>
            </a:extLst>
          </p:cNvPr>
          <p:cNvCxnSpPr/>
          <p:nvPr/>
        </p:nvCxnSpPr>
        <p:spPr>
          <a:xfrm flipV="1">
            <a:off x="2374900" y="3685286"/>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A388F50B-28E2-8CA9-5C61-C2FD7D784FAA}"/>
              </a:ext>
            </a:extLst>
          </p:cNvPr>
          <p:cNvSpPr/>
          <p:nvPr/>
        </p:nvSpPr>
        <p:spPr>
          <a:xfrm>
            <a:off x="2433320" y="3615182"/>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2E5B769-5DA0-734F-DF34-7A46AABF3528}"/>
              </a:ext>
            </a:extLst>
          </p:cNvPr>
          <p:cNvCxnSpPr/>
          <p:nvPr/>
        </p:nvCxnSpPr>
        <p:spPr>
          <a:xfrm>
            <a:off x="2456688" y="3685286"/>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1E77C02-6F4C-FE55-9DBC-381CF60F8935}"/>
              </a:ext>
            </a:extLst>
          </p:cNvPr>
          <p:cNvCxnSpPr/>
          <p:nvPr/>
        </p:nvCxnSpPr>
        <p:spPr>
          <a:xfrm flipH="1">
            <a:off x="2246376" y="3784600"/>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18C14E25-8BDE-DC7E-DFE4-F49EF9C25E9F}"/>
              </a:ext>
            </a:extLst>
          </p:cNvPr>
          <p:cNvSpPr/>
          <p:nvPr/>
        </p:nvSpPr>
        <p:spPr>
          <a:xfrm>
            <a:off x="2176272" y="3813810"/>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42149065-4414-6760-2DDE-08CFE6EF1D09}"/>
              </a:ext>
            </a:extLst>
          </p:cNvPr>
          <p:cNvCxnSpPr/>
          <p:nvPr/>
        </p:nvCxnSpPr>
        <p:spPr>
          <a:xfrm>
            <a:off x="2199640" y="3883914"/>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EA9CA03B-A3C6-7BBF-4F33-164BEE9B8A11}"/>
              </a:ext>
            </a:extLst>
          </p:cNvPr>
          <p:cNvCxnSpPr/>
          <p:nvPr/>
        </p:nvCxnSpPr>
        <p:spPr>
          <a:xfrm>
            <a:off x="2374900" y="3784600"/>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FC3FCE07-FC83-AB4F-4B2D-DCAFCB8C684E}"/>
              </a:ext>
            </a:extLst>
          </p:cNvPr>
          <p:cNvSpPr/>
          <p:nvPr/>
        </p:nvSpPr>
        <p:spPr>
          <a:xfrm>
            <a:off x="2433320" y="3813810"/>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829AD8A1-29FD-147C-306F-FCFC932817EB}"/>
              </a:ext>
            </a:extLst>
          </p:cNvPr>
          <p:cNvCxnSpPr/>
          <p:nvPr/>
        </p:nvCxnSpPr>
        <p:spPr>
          <a:xfrm>
            <a:off x="2456688" y="3883914"/>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647F8933-FF0F-9CA3-B751-FEF1A44E29EB}"/>
              </a:ext>
            </a:extLst>
          </p:cNvPr>
          <p:cNvSpPr/>
          <p:nvPr/>
        </p:nvSpPr>
        <p:spPr>
          <a:xfrm>
            <a:off x="2322322" y="3691128"/>
            <a:ext cx="105156" cy="186944"/>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F0C82060-70B2-BADC-F76A-8CE3CB4A35CA}"/>
              </a:ext>
            </a:extLst>
          </p:cNvPr>
          <p:cNvSpPr/>
          <p:nvPr/>
        </p:nvSpPr>
        <p:spPr>
          <a:xfrm>
            <a:off x="2357374" y="3726180"/>
            <a:ext cx="35052" cy="35052"/>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8A0B2C75-751B-4893-71F9-91CA29DEAA4F}"/>
              </a:ext>
            </a:extLst>
          </p:cNvPr>
          <p:cNvCxnSpPr/>
          <p:nvPr/>
        </p:nvCxnSpPr>
        <p:spPr>
          <a:xfrm flipH="1" flipV="1">
            <a:off x="3691890" y="3961765"/>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1F4F7C07-5B81-6AE2-FDD7-DA5A9EEE5A57}"/>
              </a:ext>
            </a:extLst>
          </p:cNvPr>
          <p:cNvSpPr/>
          <p:nvPr/>
        </p:nvSpPr>
        <p:spPr>
          <a:xfrm>
            <a:off x="3592830" y="386270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823B923A-E6EC-A28A-74D7-8359213DC70E}"/>
              </a:ext>
            </a:extLst>
          </p:cNvPr>
          <p:cNvCxnSpPr/>
          <p:nvPr/>
        </p:nvCxnSpPr>
        <p:spPr>
          <a:xfrm>
            <a:off x="3625850" y="396176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27C75902-CCA0-F60C-B526-42890E597C61}"/>
              </a:ext>
            </a:extLst>
          </p:cNvPr>
          <p:cNvCxnSpPr/>
          <p:nvPr/>
        </p:nvCxnSpPr>
        <p:spPr>
          <a:xfrm flipV="1">
            <a:off x="3873500" y="3961765"/>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9B49E518-EC4D-8540-5E5A-97979323A7D1}"/>
              </a:ext>
            </a:extLst>
          </p:cNvPr>
          <p:cNvSpPr/>
          <p:nvPr/>
        </p:nvSpPr>
        <p:spPr>
          <a:xfrm>
            <a:off x="3956050" y="386270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17F66E1D-C1FE-4C58-C5C7-6AD55DBD5888}"/>
              </a:ext>
            </a:extLst>
          </p:cNvPr>
          <p:cNvCxnSpPr/>
          <p:nvPr/>
        </p:nvCxnSpPr>
        <p:spPr>
          <a:xfrm>
            <a:off x="3989070" y="396176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2E7CDFDD-64C8-4BB4-6528-AFAFAD5B4497}"/>
              </a:ext>
            </a:extLst>
          </p:cNvPr>
          <p:cNvCxnSpPr/>
          <p:nvPr/>
        </p:nvCxnSpPr>
        <p:spPr>
          <a:xfrm flipH="1">
            <a:off x="3691890" y="4102100"/>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51" name="Oval 50">
            <a:extLst>
              <a:ext uri="{FF2B5EF4-FFF2-40B4-BE49-F238E27FC236}">
                <a16:creationId xmlns:a16="http://schemas.microsoft.com/office/drawing/2014/main" id="{CA9BE4EB-C194-38CD-BCAB-F6266DD2C9E7}"/>
              </a:ext>
            </a:extLst>
          </p:cNvPr>
          <p:cNvSpPr/>
          <p:nvPr/>
        </p:nvSpPr>
        <p:spPr>
          <a:xfrm>
            <a:off x="3592830" y="414337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F6F4F3D1-9D49-C3F9-5BB6-030E08B01D84}"/>
              </a:ext>
            </a:extLst>
          </p:cNvPr>
          <p:cNvCxnSpPr/>
          <p:nvPr/>
        </p:nvCxnSpPr>
        <p:spPr>
          <a:xfrm>
            <a:off x="3625850" y="424243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E028FF55-C93B-F61C-ACC6-8547C7793E6B}"/>
              </a:ext>
            </a:extLst>
          </p:cNvPr>
          <p:cNvCxnSpPr/>
          <p:nvPr/>
        </p:nvCxnSpPr>
        <p:spPr>
          <a:xfrm>
            <a:off x="3873500" y="4102100"/>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C4AA5A44-BA26-9A97-6349-CA06C29C4C66}"/>
              </a:ext>
            </a:extLst>
          </p:cNvPr>
          <p:cNvSpPr/>
          <p:nvPr/>
        </p:nvSpPr>
        <p:spPr>
          <a:xfrm>
            <a:off x="3956050" y="414337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C9ACAC6D-0C3A-D7FC-B145-1B525523A9B1}"/>
              </a:ext>
            </a:extLst>
          </p:cNvPr>
          <p:cNvCxnSpPr/>
          <p:nvPr/>
        </p:nvCxnSpPr>
        <p:spPr>
          <a:xfrm>
            <a:off x="3989070" y="424243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56" name="Rectangle: Rounded Corners 55">
            <a:extLst>
              <a:ext uri="{FF2B5EF4-FFF2-40B4-BE49-F238E27FC236}">
                <a16:creationId xmlns:a16="http://schemas.microsoft.com/office/drawing/2014/main" id="{BD432ACC-242C-17F8-E862-74E12244D5F2}"/>
              </a:ext>
            </a:extLst>
          </p:cNvPr>
          <p:cNvSpPr/>
          <p:nvPr/>
        </p:nvSpPr>
        <p:spPr>
          <a:xfrm>
            <a:off x="3799205" y="3970020"/>
            <a:ext cx="148590" cy="26416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0F97BD0A-B03F-47B4-88F0-BBDF823816B7}"/>
              </a:ext>
            </a:extLst>
          </p:cNvPr>
          <p:cNvSpPr/>
          <p:nvPr/>
        </p:nvSpPr>
        <p:spPr>
          <a:xfrm>
            <a:off x="3848735" y="4019550"/>
            <a:ext cx="49530" cy="4953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7515CCDB-63D8-D71D-9776-88E2C8264815}"/>
              </a:ext>
            </a:extLst>
          </p:cNvPr>
          <p:cNvCxnSpPr/>
          <p:nvPr/>
        </p:nvCxnSpPr>
        <p:spPr>
          <a:xfrm>
            <a:off x="4356100" y="4102100"/>
            <a:ext cx="10668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F5653477-6EE7-D7EA-8A43-206A7C34C7F8}"/>
              </a:ext>
            </a:extLst>
          </p:cNvPr>
          <p:cNvCxnSpPr/>
          <p:nvPr/>
        </p:nvCxnSpPr>
        <p:spPr>
          <a:xfrm>
            <a:off x="5334000" y="3784600"/>
            <a:ext cx="0" cy="6350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F601487C-AA56-6D99-9764-FBC69F4914ED}"/>
              </a:ext>
            </a:extLst>
          </p:cNvPr>
          <p:cNvSpPr/>
          <p:nvPr/>
        </p:nvSpPr>
        <p:spPr>
          <a:xfrm>
            <a:off x="8015605" y="4173220"/>
            <a:ext cx="97790" cy="9779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65CC12A9-247D-E853-6631-3AD931426AC9}"/>
              </a:ext>
            </a:extLst>
          </p:cNvPr>
          <p:cNvSpPr/>
          <p:nvPr/>
        </p:nvSpPr>
        <p:spPr>
          <a:xfrm>
            <a:off x="7994650" y="4298950"/>
            <a:ext cx="139700" cy="2235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6D90A375-9AB6-BED4-BD3D-C9843872ED22}"/>
              </a:ext>
            </a:extLst>
          </p:cNvPr>
          <p:cNvCxnSpPr/>
          <p:nvPr/>
        </p:nvCxnSpPr>
        <p:spPr>
          <a:xfrm flipH="1">
            <a:off x="7994650" y="4501515"/>
            <a:ext cx="20955" cy="14668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21B81AC5-950F-B0AB-CEE0-E45EFE5741E5}"/>
              </a:ext>
            </a:extLst>
          </p:cNvPr>
          <p:cNvCxnSpPr/>
          <p:nvPr/>
        </p:nvCxnSpPr>
        <p:spPr>
          <a:xfrm>
            <a:off x="8113395" y="4501515"/>
            <a:ext cx="20955" cy="14668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0A1490BB-0243-C39B-BCB2-EB995A20DED4}"/>
              </a:ext>
            </a:extLst>
          </p:cNvPr>
          <p:cNvCxnSpPr/>
          <p:nvPr/>
        </p:nvCxnSpPr>
        <p:spPr>
          <a:xfrm flipH="1">
            <a:off x="7910830" y="4347845"/>
            <a:ext cx="104775" cy="83820"/>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D674C5E0-976F-DF04-5D93-E92184B7CCE3}"/>
              </a:ext>
            </a:extLst>
          </p:cNvPr>
          <p:cNvCxnSpPr/>
          <p:nvPr/>
        </p:nvCxnSpPr>
        <p:spPr>
          <a:xfrm flipV="1">
            <a:off x="8113395" y="4215130"/>
            <a:ext cx="111760" cy="13271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D2C17169-14D2-ABE3-7B8F-C454FD5CC46D}"/>
              </a:ext>
            </a:extLst>
          </p:cNvPr>
          <p:cNvCxnSpPr/>
          <p:nvPr/>
        </p:nvCxnSpPr>
        <p:spPr>
          <a:xfrm flipH="1" flipV="1">
            <a:off x="6640830" y="36277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38A58064-F0FE-F937-8555-A87D4EE8518A}"/>
              </a:ext>
            </a:extLst>
          </p:cNvPr>
          <p:cNvSpPr/>
          <p:nvPr/>
        </p:nvSpPr>
        <p:spPr>
          <a:xfrm>
            <a:off x="6557010" y="35439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13ADEC42-AC7C-DA96-2D9F-0773B4419482}"/>
              </a:ext>
            </a:extLst>
          </p:cNvPr>
          <p:cNvCxnSpPr/>
          <p:nvPr/>
        </p:nvCxnSpPr>
        <p:spPr>
          <a:xfrm>
            <a:off x="6584950" y="36277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77324375-2EAD-3A44-07AF-46324EABAA94}"/>
              </a:ext>
            </a:extLst>
          </p:cNvPr>
          <p:cNvCxnSpPr/>
          <p:nvPr/>
        </p:nvCxnSpPr>
        <p:spPr>
          <a:xfrm flipV="1">
            <a:off x="6794500" y="36277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0" name="Oval 69">
            <a:extLst>
              <a:ext uri="{FF2B5EF4-FFF2-40B4-BE49-F238E27FC236}">
                <a16:creationId xmlns:a16="http://schemas.microsoft.com/office/drawing/2014/main" id="{40ACFF07-9410-8B8F-BB7B-023113BA2BB6}"/>
              </a:ext>
            </a:extLst>
          </p:cNvPr>
          <p:cNvSpPr/>
          <p:nvPr/>
        </p:nvSpPr>
        <p:spPr>
          <a:xfrm>
            <a:off x="6864350" y="35439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66A0F20D-9A71-40ED-19B3-E8037B75DFAD}"/>
              </a:ext>
            </a:extLst>
          </p:cNvPr>
          <p:cNvCxnSpPr/>
          <p:nvPr/>
        </p:nvCxnSpPr>
        <p:spPr>
          <a:xfrm>
            <a:off x="6892290" y="36277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0DD21C14-9422-6A34-B91C-DE71C50B8F53}"/>
              </a:ext>
            </a:extLst>
          </p:cNvPr>
          <p:cNvCxnSpPr/>
          <p:nvPr/>
        </p:nvCxnSpPr>
        <p:spPr>
          <a:xfrm flipH="1">
            <a:off x="6640830" y="37465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3" name="Oval 72">
            <a:extLst>
              <a:ext uri="{FF2B5EF4-FFF2-40B4-BE49-F238E27FC236}">
                <a16:creationId xmlns:a16="http://schemas.microsoft.com/office/drawing/2014/main" id="{346A64DB-3A44-2862-65D7-EED70769AD79}"/>
              </a:ext>
            </a:extLst>
          </p:cNvPr>
          <p:cNvSpPr/>
          <p:nvPr/>
        </p:nvSpPr>
        <p:spPr>
          <a:xfrm>
            <a:off x="6557010" y="37814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45A8E76A-4E5E-DE30-AE8C-D1DBFA57F7C3}"/>
              </a:ext>
            </a:extLst>
          </p:cNvPr>
          <p:cNvCxnSpPr/>
          <p:nvPr/>
        </p:nvCxnSpPr>
        <p:spPr>
          <a:xfrm>
            <a:off x="6584950" y="38652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77456289-6F19-B2C6-452E-1A067B58CDC0}"/>
              </a:ext>
            </a:extLst>
          </p:cNvPr>
          <p:cNvCxnSpPr/>
          <p:nvPr/>
        </p:nvCxnSpPr>
        <p:spPr>
          <a:xfrm>
            <a:off x="6794500" y="37465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AADC3DE-B0B3-2985-F7C4-1EA8725A278C}"/>
              </a:ext>
            </a:extLst>
          </p:cNvPr>
          <p:cNvSpPr/>
          <p:nvPr/>
        </p:nvSpPr>
        <p:spPr>
          <a:xfrm>
            <a:off x="6864350" y="37814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84D94E08-6826-28FD-9381-82F080003690}"/>
              </a:ext>
            </a:extLst>
          </p:cNvPr>
          <p:cNvCxnSpPr/>
          <p:nvPr/>
        </p:nvCxnSpPr>
        <p:spPr>
          <a:xfrm>
            <a:off x="6892290" y="38652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78" name="Rectangle: Rounded Corners 77">
            <a:extLst>
              <a:ext uri="{FF2B5EF4-FFF2-40B4-BE49-F238E27FC236}">
                <a16:creationId xmlns:a16="http://schemas.microsoft.com/office/drawing/2014/main" id="{F2EDDA28-C921-D342-A955-B29EBFC4EB74}"/>
              </a:ext>
            </a:extLst>
          </p:cNvPr>
          <p:cNvSpPr/>
          <p:nvPr/>
        </p:nvSpPr>
        <p:spPr>
          <a:xfrm>
            <a:off x="6731635" y="3634740"/>
            <a:ext cx="125730" cy="22352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F759C444-77B1-B7D0-410B-392C3C3BB977}"/>
              </a:ext>
            </a:extLst>
          </p:cNvPr>
          <p:cNvSpPr/>
          <p:nvPr/>
        </p:nvSpPr>
        <p:spPr>
          <a:xfrm>
            <a:off x="6773545" y="3676650"/>
            <a:ext cx="41910" cy="4191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0DF9C5FB-0915-3716-5073-2DE38ED5115D}"/>
              </a:ext>
            </a:extLst>
          </p:cNvPr>
          <p:cNvCxnSpPr/>
          <p:nvPr/>
        </p:nvCxnSpPr>
        <p:spPr>
          <a:xfrm>
            <a:off x="7150100" y="3746500"/>
            <a:ext cx="9144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FDF234D7-D231-00DB-FFDC-F952D933C2CB}"/>
              </a:ext>
            </a:extLst>
          </p:cNvPr>
          <p:cNvCxnSpPr/>
          <p:nvPr/>
        </p:nvCxnSpPr>
        <p:spPr>
          <a:xfrm>
            <a:off x="8064500" y="3771900"/>
            <a:ext cx="0" cy="330200"/>
          </a:xfrm>
          <a:prstGeom prst="line">
            <a:avLst/>
          </a:prstGeom>
          <a:ln w="25400">
            <a:solidFill>
              <a:srgbClr val="2563EB"/>
            </a:solidFill>
            <a:prstDash val="dash"/>
          </a:ln>
        </p:spPr>
        <p:style>
          <a:lnRef idx="2">
            <a:schemeClr val="accent1"/>
          </a:lnRef>
          <a:fillRef idx="0">
            <a:schemeClr val="accent1"/>
          </a:fillRef>
          <a:effectRef idx="1">
            <a:schemeClr val="accent1"/>
          </a:effectRef>
          <a:fontRef idx="minor">
            <a:schemeClr val="tx1"/>
          </a:fontRef>
        </p:style>
      </p:cxnSp>
      <p:sp>
        <p:nvSpPr>
          <p:cNvPr id="82" name="Rectangle: Rounded Corners 81">
            <a:extLst>
              <a:ext uri="{FF2B5EF4-FFF2-40B4-BE49-F238E27FC236}">
                <a16:creationId xmlns:a16="http://schemas.microsoft.com/office/drawing/2014/main" id="{44E98C57-4AB2-D7A1-335C-F3597EFDB0B7}"/>
              </a:ext>
            </a:extLst>
          </p:cNvPr>
          <p:cNvSpPr/>
          <p:nvPr/>
        </p:nvSpPr>
        <p:spPr>
          <a:xfrm>
            <a:off x="9740900" y="4075176"/>
            <a:ext cx="426720" cy="455168"/>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38C5D70A-EC69-2914-5CC9-3DD52C2D4D24}"/>
              </a:ext>
            </a:extLst>
          </p:cNvPr>
          <p:cNvCxnSpPr/>
          <p:nvPr/>
        </p:nvCxnSpPr>
        <p:spPr>
          <a:xfrm flipV="1">
            <a:off x="9783572" y="3847592"/>
            <a:ext cx="0" cy="312928"/>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5376CEFC-30E8-2003-006F-DD8F0735F42F}"/>
              </a:ext>
            </a:extLst>
          </p:cNvPr>
          <p:cNvCxnSpPr/>
          <p:nvPr/>
        </p:nvCxnSpPr>
        <p:spPr>
          <a:xfrm flipV="1">
            <a:off x="9897364" y="3751839"/>
            <a:ext cx="0" cy="408681"/>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192021FE-6B44-671D-6D68-2B123620FF75}"/>
              </a:ext>
            </a:extLst>
          </p:cNvPr>
          <p:cNvCxnSpPr/>
          <p:nvPr/>
        </p:nvCxnSpPr>
        <p:spPr>
          <a:xfrm flipV="1">
            <a:off x="10011156" y="3744121"/>
            <a:ext cx="0" cy="416399"/>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5AF28848-7793-941F-7F11-1A3E3BAC0B1B}"/>
              </a:ext>
            </a:extLst>
          </p:cNvPr>
          <p:cNvCxnSpPr/>
          <p:nvPr/>
        </p:nvCxnSpPr>
        <p:spPr>
          <a:xfrm flipV="1">
            <a:off x="10124948" y="3831534"/>
            <a:ext cx="0" cy="328986"/>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7AB0D74E-0D1E-8D96-B5DB-A2DF5F1DC7EA}"/>
              </a:ext>
            </a:extLst>
          </p:cNvPr>
          <p:cNvCxnSpPr/>
          <p:nvPr/>
        </p:nvCxnSpPr>
        <p:spPr>
          <a:xfrm flipH="1" flipV="1">
            <a:off x="9598660" y="4089400"/>
            <a:ext cx="184912" cy="256032"/>
          </a:xfrm>
          <a:prstGeom prst="line">
            <a:avLst/>
          </a:prstGeom>
          <a:ln w="85344">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CD55B5B6-A0E1-1676-1A2A-AE1DFB14BB2C}"/>
              </a:ext>
            </a:extLst>
          </p:cNvPr>
          <p:cNvCxnSpPr/>
          <p:nvPr/>
        </p:nvCxnSpPr>
        <p:spPr>
          <a:xfrm flipH="1" flipV="1">
            <a:off x="10831830" y="39833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35A7F5CB-82F4-7BF9-15D6-86D0F2445B70}"/>
              </a:ext>
            </a:extLst>
          </p:cNvPr>
          <p:cNvSpPr/>
          <p:nvPr/>
        </p:nvSpPr>
        <p:spPr>
          <a:xfrm>
            <a:off x="10748010" y="38995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EBA3B707-0214-856C-52BE-540CC10B9D6A}"/>
              </a:ext>
            </a:extLst>
          </p:cNvPr>
          <p:cNvCxnSpPr/>
          <p:nvPr/>
        </p:nvCxnSpPr>
        <p:spPr>
          <a:xfrm>
            <a:off x="10775950" y="39833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8731BEE-3A4A-3ADC-35D4-BED94588494C}"/>
              </a:ext>
            </a:extLst>
          </p:cNvPr>
          <p:cNvCxnSpPr/>
          <p:nvPr/>
        </p:nvCxnSpPr>
        <p:spPr>
          <a:xfrm flipV="1">
            <a:off x="10985500" y="39833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2" name="Oval 91">
            <a:extLst>
              <a:ext uri="{FF2B5EF4-FFF2-40B4-BE49-F238E27FC236}">
                <a16:creationId xmlns:a16="http://schemas.microsoft.com/office/drawing/2014/main" id="{04886084-5894-120C-DA44-00E76653E8B3}"/>
              </a:ext>
            </a:extLst>
          </p:cNvPr>
          <p:cNvSpPr/>
          <p:nvPr/>
        </p:nvSpPr>
        <p:spPr>
          <a:xfrm>
            <a:off x="11055350" y="38995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6CE2D018-C043-F193-E0BA-42502FC2AF8C}"/>
              </a:ext>
            </a:extLst>
          </p:cNvPr>
          <p:cNvCxnSpPr/>
          <p:nvPr/>
        </p:nvCxnSpPr>
        <p:spPr>
          <a:xfrm>
            <a:off x="11083290" y="39833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B5CCA0A7-596B-1787-99E1-60DD0CBEC309}"/>
              </a:ext>
            </a:extLst>
          </p:cNvPr>
          <p:cNvCxnSpPr/>
          <p:nvPr/>
        </p:nvCxnSpPr>
        <p:spPr>
          <a:xfrm flipH="1">
            <a:off x="10831830" y="41021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5" name="Oval 94">
            <a:extLst>
              <a:ext uri="{FF2B5EF4-FFF2-40B4-BE49-F238E27FC236}">
                <a16:creationId xmlns:a16="http://schemas.microsoft.com/office/drawing/2014/main" id="{C3E23B70-6624-17A8-51D7-DA67A7A52A0A}"/>
              </a:ext>
            </a:extLst>
          </p:cNvPr>
          <p:cNvSpPr/>
          <p:nvPr/>
        </p:nvSpPr>
        <p:spPr>
          <a:xfrm>
            <a:off x="10748010" y="41370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E030E625-BE91-6D76-84AE-2B40E1824F8D}"/>
              </a:ext>
            </a:extLst>
          </p:cNvPr>
          <p:cNvCxnSpPr/>
          <p:nvPr/>
        </p:nvCxnSpPr>
        <p:spPr>
          <a:xfrm>
            <a:off x="10775950" y="42208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F53F4A65-2423-CCFD-F5B0-675ADF7ABCBE}"/>
              </a:ext>
            </a:extLst>
          </p:cNvPr>
          <p:cNvCxnSpPr/>
          <p:nvPr/>
        </p:nvCxnSpPr>
        <p:spPr>
          <a:xfrm>
            <a:off x="10985500" y="41021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8" name="Oval 97">
            <a:extLst>
              <a:ext uri="{FF2B5EF4-FFF2-40B4-BE49-F238E27FC236}">
                <a16:creationId xmlns:a16="http://schemas.microsoft.com/office/drawing/2014/main" id="{C18FD911-4614-FDC2-B2AB-D78413A37359}"/>
              </a:ext>
            </a:extLst>
          </p:cNvPr>
          <p:cNvSpPr/>
          <p:nvPr/>
        </p:nvSpPr>
        <p:spPr>
          <a:xfrm>
            <a:off x="11055350" y="41370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29851BEB-3344-6826-664B-4B45F17ACEBB}"/>
              </a:ext>
            </a:extLst>
          </p:cNvPr>
          <p:cNvCxnSpPr/>
          <p:nvPr/>
        </p:nvCxnSpPr>
        <p:spPr>
          <a:xfrm>
            <a:off x="11083290" y="42208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100" name="Rectangle: Rounded Corners 99">
            <a:extLst>
              <a:ext uri="{FF2B5EF4-FFF2-40B4-BE49-F238E27FC236}">
                <a16:creationId xmlns:a16="http://schemas.microsoft.com/office/drawing/2014/main" id="{695823D6-BDFB-24CE-2ADC-B6EE14F507C3}"/>
              </a:ext>
            </a:extLst>
          </p:cNvPr>
          <p:cNvSpPr/>
          <p:nvPr/>
        </p:nvSpPr>
        <p:spPr>
          <a:xfrm>
            <a:off x="10922635" y="3990340"/>
            <a:ext cx="125730" cy="22352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87EFFCD7-2BE1-6268-0601-A7279473B441}"/>
              </a:ext>
            </a:extLst>
          </p:cNvPr>
          <p:cNvSpPr/>
          <p:nvPr/>
        </p:nvSpPr>
        <p:spPr>
          <a:xfrm>
            <a:off x="10964545" y="4032250"/>
            <a:ext cx="41910" cy="4191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95F41245-33F0-BA8E-2118-DB19DF501251}"/>
              </a:ext>
            </a:extLst>
          </p:cNvPr>
          <p:cNvCxnSpPr/>
          <p:nvPr/>
        </p:nvCxnSpPr>
        <p:spPr>
          <a:xfrm>
            <a:off x="10541000" y="3771900"/>
            <a:ext cx="0" cy="63500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103" name="Rectangle: Rounded Corners 102">
            <a:extLst>
              <a:ext uri="{FF2B5EF4-FFF2-40B4-BE49-F238E27FC236}">
                <a16:creationId xmlns:a16="http://schemas.microsoft.com/office/drawing/2014/main" id="{7F5D7B18-148F-4063-739A-AC814AD47639}"/>
              </a:ext>
            </a:extLst>
          </p:cNvPr>
          <p:cNvSpPr/>
          <p:nvPr/>
        </p:nvSpPr>
        <p:spPr>
          <a:xfrm>
            <a:off x="508000" y="5727700"/>
            <a:ext cx="13335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D54FBBAC-F436-C553-2472-E073E637886E}"/>
              </a:ext>
            </a:extLst>
          </p:cNvPr>
          <p:cNvSpPr txBox="1"/>
          <p:nvPr/>
        </p:nvSpPr>
        <p:spPr>
          <a:xfrm>
            <a:off x="635000" y="5791200"/>
            <a:ext cx="10795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LIVE SETUP</a:t>
            </a:r>
          </a:p>
        </p:txBody>
      </p:sp>
      <p:sp>
        <p:nvSpPr>
          <p:cNvPr id="105" name="TextBox 104">
            <a:extLst>
              <a:ext uri="{FF2B5EF4-FFF2-40B4-BE49-F238E27FC236}">
                <a16:creationId xmlns:a16="http://schemas.microsoft.com/office/drawing/2014/main" id="{A57BFE2B-B81D-C7E7-657E-ABB40BC4A81D}"/>
              </a:ext>
            </a:extLst>
          </p:cNvPr>
          <p:cNvSpPr txBox="1"/>
          <p:nvPr/>
        </p:nvSpPr>
        <p:spPr>
          <a:xfrm>
            <a:off x="2057400" y="5765800"/>
            <a:ext cx="957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Phones as operators  →  Main computer  →  Shared 3D simulation</a:t>
            </a:r>
          </a:p>
        </p:txBody>
      </p:sp>
    </p:spTree>
    <p:extLst>
      <p:ext uri="{BB962C8B-B14F-4D97-AF65-F5344CB8AC3E}">
        <p14:creationId xmlns:p14="http://schemas.microsoft.com/office/powerpoint/2010/main" val="1204456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AAB39E-8774-52C5-9848-E662B93B6BE3}"/>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DE6E8BCB-4CF9-2187-529A-600C2845354C}"/>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04 / MISSION PLANNING + LIVE CONTROL</a:t>
            </a:r>
          </a:p>
        </p:txBody>
      </p:sp>
      <p:sp>
        <p:nvSpPr>
          <p:cNvPr id="4" name="TextBox 3">
            <a:extLst>
              <a:ext uri="{FF2B5EF4-FFF2-40B4-BE49-F238E27FC236}">
                <a16:creationId xmlns:a16="http://schemas.microsoft.com/office/drawing/2014/main" id="{27FCE10C-0D26-28A3-93A1-B97F13CCB3E0}"/>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Plan the route. Adapt mid-flight.</a:t>
            </a:r>
          </a:p>
        </p:txBody>
      </p:sp>
      <p:cxnSp>
        <p:nvCxnSpPr>
          <p:cNvPr id="5" name="Straight Connector 4">
            <a:extLst>
              <a:ext uri="{FF2B5EF4-FFF2-40B4-BE49-F238E27FC236}">
                <a16:creationId xmlns:a16="http://schemas.microsoft.com/office/drawing/2014/main" id="{188446B7-8138-9B38-6127-5F0C95EE1DDF}"/>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CD4F40A-9A9E-8715-16F4-BB388E754911}"/>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427B2DCC-655E-6FF9-4983-06F6F3C1AA09}"/>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05</a:t>
            </a:r>
          </a:p>
        </p:txBody>
      </p:sp>
      <p:sp>
        <p:nvSpPr>
          <p:cNvPr id="8" name="TextBox 7">
            <a:extLst>
              <a:ext uri="{FF2B5EF4-FFF2-40B4-BE49-F238E27FC236}">
                <a16:creationId xmlns:a16="http://schemas.microsoft.com/office/drawing/2014/main" id="{CF5E0224-608C-00DD-0B43-8D163A72F5FA}"/>
              </a:ext>
            </a:extLst>
          </p:cNvPr>
          <p:cNvSpPr txBox="1"/>
          <p:nvPr/>
        </p:nvSpPr>
        <p:spPr>
          <a:xfrm>
            <a:off x="508000" y="1968500"/>
            <a:ext cx="11137900" cy="369332"/>
          </a:xfrm>
          <a:prstGeom prst="rect">
            <a:avLst/>
          </a:prstGeom>
          <a:noFill/>
        </p:spPr>
        <p:txBody>
          <a:bodyPr vert="horz" wrap="square" lIns="0" tIns="0" rIns="0" bIns="0" rtlCol="0">
            <a:spAutoFit/>
          </a:bodyPr>
          <a:lstStyle/>
          <a:p>
            <a:r>
              <a:rPr lang="en-US" sz="2400">
                <a:solidFill>
                  <a:srgbClr val="617286"/>
                </a:solidFill>
                <a:latin typeface="Aptos" panose="020B0004020202020204" pitchFamily="34" charset="0"/>
              </a:rPr>
              <a:t>A planned mission stays responsive to the operator.</a:t>
            </a:r>
          </a:p>
        </p:txBody>
      </p:sp>
      <p:sp>
        <p:nvSpPr>
          <p:cNvPr id="9" name="Rectangle 8">
            <a:extLst>
              <a:ext uri="{FF2B5EF4-FFF2-40B4-BE49-F238E27FC236}">
                <a16:creationId xmlns:a16="http://schemas.microsoft.com/office/drawing/2014/main" id="{43381497-799D-7B8F-E766-DA73EEACBB05}"/>
              </a:ext>
            </a:extLst>
          </p:cNvPr>
          <p:cNvSpPr/>
          <p:nvPr/>
        </p:nvSpPr>
        <p:spPr>
          <a:xfrm>
            <a:off x="508000" y="2603500"/>
            <a:ext cx="3111500" cy="18796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1620CF6-7DC8-5A6D-0B5F-BC88A7682581}"/>
              </a:ext>
            </a:extLst>
          </p:cNvPr>
          <p:cNvCxnSpPr/>
          <p:nvPr/>
        </p:nvCxnSpPr>
        <p:spPr>
          <a:xfrm>
            <a:off x="6985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2BCDFE7-2E78-8213-6CAF-832A7D0A2E00}"/>
              </a:ext>
            </a:extLst>
          </p:cNvPr>
          <p:cNvCxnSpPr/>
          <p:nvPr/>
        </p:nvCxnSpPr>
        <p:spPr>
          <a:xfrm>
            <a:off x="11049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029BF04-D5F1-B975-FDA0-98D62786D1CC}"/>
              </a:ext>
            </a:extLst>
          </p:cNvPr>
          <p:cNvCxnSpPr/>
          <p:nvPr/>
        </p:nvCxnSpPr>
        <p:spPr>
          <a:xfrm>
            <a:off x="15113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937C5B9-2758-ECE7-805A-E0EA5C61EF2B}"/>
              </a:ext>
            </a:extLst>
          </p:cNvPr>
          <p:cNvCxnSpPr/>
          <p:nvPr/>
        </p:nvCxnSpPr>
        <p:spPr>
          <a:xfrm>
            <a:off x="19177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902F86F-5419-8EF4-0945-E054CF721EE7}"/>
              </a:ext>
            </a:extLst>
          </p:cNvPr>
          <p:cNvCxnSpPr/>
          <p:nvPr/>
        </p:nvCxnSpPr>
        <p:spPr>
          <a:xfrm>
            <a:off x="23241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E50182D-D371-FB47-F5AC-F4556122E1B8}"/>
              </a:ext>
            </a:extLst>
          </p:cNvPr>
          <p:cNvCxnSpPr/>
          <p:nvPr/>
        </p:nvCxnSpPr>
        <p:spPr>
          <a:xfrm>
            <a:off x="27305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2414B5A-BD26-2FBF-6F7E-264F0B00A3F1}"/>
              </a:ext>
            </a:extLst>
          </p:cNvPr>
          <p:cNvCxnSpPr/>
          <p:nvPr/>
        </p:nvCxnSpPr>
        <p:spPr>
          <a:xfrm>
            <a:off x="31369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04A1508-1324-42F0-460C-D2EA0FB4B9AB}"/>
              </a:ext>
            </a:extLst>
          </p:cNvPr>
          <p:cNvCxnSpPr/>
          <p:nvPr/>
        </p:nvCxnSpPr>
        <p:spPr>
          <a:xfrm>
            <a:off x="698500" y="27559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52EE59D-C67A-F12C-7F88-2A3C85FAE872}"/>
              </a:ext>
            </a:extLst>
          </p:cNvPr>
          <p:cNvCxnSpPr/>
          <p:nvPr/>
        </p:nvCxnSpPr>
        <p:spPr>
          <a:xfrm>
            <a:off x="698500" y="31623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A4707F0-3422-15A1-B122-DD76DD5F4F99}"/>
              </a:ext>
            </a:extLst>
          </p:cNvPr>
          <p:cNvCxnSpPr/>
          <p:nvPr/>
        </p:nvCxnSpPr>
        <p:spPr>
          <a:xfrm>
            <a:off x="698500" y="35687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DEE088B-EC15-28AB-C515-8D44B9854D7D}"/>
              </a:ext>
            </a:extLst>
          </p:cNvPr>
          <p:cNvCxnSpPr/>
          <p:nvPr/>
        </p:nvCxnSpPr>
        <p:spPr>
          <a:xfrm>
            <a:off x="698500" y="39751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EA40B96-44F3-7341-52D5-05425E7EE898}"/>
              </a:ext>
            </a:extLst>
          </p:cNvPr>
          <p:cNvCxnSpPr/>
          <p:nvPr/>
        </p:nvCxnSpPr>
        <p:spPr>
          <a:xfrm flipV="1">
            <a:off x="952500" y="3276600"/>
            <a:ext cx="444500" cy="7874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34AA39B9-47D5-7E6F-78B2-14726338D25D}"/>
              </a:ext>
            </a:extLst>
          </p:cNvPr>
          <p:cNvCxnSpPr/>
          <p:nvPr/>
        </p:nvCxnSpPr>
        <p:spPr>
          <a:xfrm>
            <a:off x="1397000" y="3276600"/>
            <a:ext cx="723900" cy="4318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3F66892-3CCF-51FF-A0A3-494359220536}"/>
              </a:ext>
            </a:extLst>
          </p:cNvPr>
          <p:cNvCxnSpPr/>
          <p:nvPr/>
        </p:nvCxnSpPr>
        <p:spPr>
          <a:xfrm flipV="1">
            <a:off x="2120900" y="2984500"/>
            <a:ext cx="952500" cy="7239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EDE2C248-B884-A4F4-45E6-4AACF216E4CD}"/>
              </a:ext>
            </a:extLst>
          </p:cNvPr>
          <p:cNvSpPr/>
          <p:nvPr/>
        </p:nvSpPr>
        <p:spPr>
          <a:xfrm>
            <a:off x="889000" y="40005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E399038-E2BA-A29A-4290-0CF0647ED5F5}"/>
              </a:ext>
            </a:extLst>
          </p:cNvPr>
          <p:cNvSpPr/>
          <p:nvPr/>
        </p:nvSpPr>
        <p:spPr>
          <a:xfrm>
            <a:off x="1333500" y="32131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C5C416D-FD60-D0D4-E894-1275905DC5EC}"/>
              </a:ext>
            </a:extLst>
          </p:cNvPr>
          <p:cNvSpPr/>
          <p:nvPr/>
        </p:nvSpPr>
        <p:spPr>
          <a:xfrm>
            <a:off x="2057400" y="36449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E0A1144-74CE-544B-8EB6-89C21ED693B1}"/>
              </a:ext>
            </a:extLst>
          </p:cNvPr>
          <p:cNvSpPr/>
          <p:nvPr/>
        </p:nvSpPr>
        <p:spPr>
          <a:xfrm>
            <a:off x="3009900" y="29210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7325133-50D7-224A-4C48-5DB1DA8C0455}"/>
              </a:ext>
            </a:extLst>
          </p:cNvPr>
          <p:cNvSpPr txBox="1"/>
          <p:nvPr/>
        </p:nvSpPr>
        <p:spPr>
          <a:xfrm>
            <a:off x="508000" y="4648200"/>
            <a:ext cx="3238500" cy="292388"/>
          </a:xfrm>
          <a:prstGeom prst="rect">
            <a:avLst/>
          </a:prstGeom>
          <a:noFill/>
        </p:spPr>
        <p:txBody>
          <a:bodyPr vert="horz" wrap="square" lIns="0" tIns="0" rIns="0" bIns="0" rtlCol="0">
            <a:spAutoFit/>
          </a:bodyPr>
          <a:lstStyle/>
          <a:p>
            <a:r>
              <a:rPr lang="en-US" sz="1900" b="1">
                <a:solidFill>
                  <a:srgbClr val="14263A"/>
                </a:solidFill>
                <a:latin typeface="Aptos" panose="020B0004020202020204" pitchFamily="34" charset="0"/>
              </a:rPr>
              <a:t>01  PLAN IN 2D</a:t>
            </a:r>
          </a:p>
        </p:txBody>
      </p:sp>
      <p:sp>
        <p:nvSpPr>
          <p:cNvPr id="29" name="TextBox 28">
            <a:extLst>
              <a:ext uri="{FF2B5EF4-FFF2-40B4-BE49-F238E27FC236}">
                <a16:creationId xmlns:a16="http://schemas.microsoft.com/office/drawing/2014/main" id="{A262BE1A-0528-4EA6-EE8D-C9A4B8E4E765}"/>
              </a:ext>
            </a:extLst>
          </p:cNvPr>
          <p:cNvSpPr txBox="1"/>
          <p:nvPr/>
        </p:nvSpPr>
        <p:spPr>
          <a:xfrm>
            <a:off x="508000" y="5016500"/>
            <a:ext cx="33020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Build the mission in a flight planner.</a:t>
            </a:r>
          </a:p>
        </p:txBody>
      </p:sp>
      <p:cxnSp>
        <p:nvCxnSpPr>
          <p:cNvPr id="30" name="Straight Connector 29">
            <a:extLst>
              <a:ext uri="{FF2B5EF4-FFF2-40B4-BE49-F238E27FC236}">
                <a16:creationId xmlns:a16="http://schemas.microsoft.com/office/drawing/2014/main" id="{6631F6C3-9C8C-C249-9E28-D762C6CF2FE1}"/>
              </a:ext>
            </a:extLst>
          </p:cNvPr>
          <p:cNvCxnSpPr/>
          <p:nvPr/>
        </p:nvCxnSpPr>
        <p:spPr>
          <a:xfrm>
            <a:off x="3721100" y="3543300"/>
            <a:ext cx="3810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A4BF7ABA-56E0-40EB-E585-08C322F84DBE}"/>
              </a:ext>
            </a:extLst>
          </p:cNvPr>
          <p:cNvSpPr/>
          <p:nvPr/>
        </p:nvSpPr>
        <p:spPr>
          <a:xfrm>
            <a:off x="4241800" y="2603500"/>
            <a:ext cx="3492500" cy="18796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6DC4830B-6E9A-373F-6054-37C2F5E80DD4}"/>
              </a:ext>
            </a:extLst>
          </p:cNvPr>
          <p:cNvCxnSpPr/>
          <p:nvPr/>
        </p:nvCxnSpPr>
        <p:spPr>
          <a:xfrm flipV="1">
            <a:off x="4432300" y="2895600"/>
            <a:ext cx="558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5D432B38-A15F-B17D-1A5B-9159F5122964}"/>
              </a:ext>
            </a:extLst>
          </p:cNvPr>
          <p:cNvCxnSpPr/>
          <p:nvPr/>
        </p:nvCxnSpPr>
        <p:spPr>
          <a:xfrm flipV="1">
            <a:off x="4800600" y="2895600"/>
            <a:ext cx="622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EE5B465-1071-6053-4EB2-60CAABB960BE}"/>
              </a:ext>
            </a:extLst>
          </p:cNvPr>
          <p:cNvCxnSpPr/>
          <p:nvPr/>
        </p:nvCxnSpPr>
        <p:spPr>
          <a:xfrm flipV="1">
            <a:off x="5168900" y="2895600"/>
            <a:ext cx="685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AD69656-54C6-3F16-8CD7-B49282A596CA}"/>
              </a:ext>
            </a:extLst>
          </p:cNvPr>
          <p:cNvCxnSpPr/>
          <p:nvPr/>
        </p:nvCxnSpPr>
        <p:spPr>
          <a:xfrm flipV="1">
            <a:off x="5537200" y="2895600"/>
            <a:ext cx="749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A3840EE5-8BF4-EBF1-3C84-2585D997CB22}"/>
              </a:ext>
            </a:extLst>
          </p:cNvPr>
          <p:cNvCxnSpPr/>
          <p:nvPr/>
        </p:nvCxnSpPr>
        <p:spPr>
          <a:xfrm flipV="1">
            <a:off x="5905500" y="2895600"/>
            <a:ext cx="812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452679E-31F3-FE8B-F12A-07727B5139F0}"/>
              </a:ext>
            </a:extLst>
          </p:cNvPr>
          <p:cNvCxnSpPr/>
          <p:nvPr/>
        </p:nvCxnSpPr>
        <p:spPr>
          <a:xfrm flipV="1">
            <a:off x="6273800" y="2895600"/>
            <a:ext cx="876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B83AC0C-FC0F-122D-A8A6-5AA61D3C0919}"/>
              </a:ext>
            </a:extLst>
          </p:cNvPr>
          <p:cNvCxnSpPr/>
          <p:nvPr/>
        </p:nvCxnSpPr>
        <p:spPr>
          <a:xfrm>
            <a:off x="4432300" y="4191000"/>
            <a:ext cx="1841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48E4426-6ED4-CA31-4989-4F5C71C65A9B}"/>
              </a:ext>
            </a:extLst>
          </p:cNvPr>
          <p:cNvCxnSpPr/>
          <p:nvPr/>
        </p:nvCxnSpPr>
        <p:spPr>
          <a:xfrm>
            <a:off x="4572000" y="3867150"/>
            <a:ext cx="19050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1F6BE28-E998-FD7C-7434-525E5EA0F204}"/>
              </a:ext>
            </a:extLst>
          </p:cNvPr>
          <p:cNvCxnSpPr/>
          <p:nvPr/>
        </p:nvCxnSpPr>
        <p:spPr>
          <a:xfrm>
            <a:off x="4711700" y="3543300"/>
            <a:ext cx="1968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1890775A-A8FD-9ABF-F2A0-E907803B4F25}"/>
              </a:ext>
            </a:extLst>
          </p:cNvPr>
          <p:cNvCxnSpPr/>
          <p:nvPr/>
        </p:nvCxnSpPr>
        <p:spPr>
          <a:xfrm>
            <a:off x="4851400" y="3219450"/>
            <a:ext cx="20320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89E9B20-5574-E86E-2CFC-D624D69923F3}"/>
              </a:ext>
            </a:extLst>
          </p:cNvPr>
          <p:cNvCxnSpPr/>
          <p:nvPr/>
        </p:nvCxnSpPr>
        <p:spPr>
          <a:xfrm>
            <a:off x="4991100" y="2895600"/>
            <a:ext cx="2095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B426721C-5FC5-0A12-AC20-6A1B90F3D515}"/>
              </a:ext>
            </a:extLst>
          </p:cNvPr>
          <p:cNvCxnSpPr/>
          <p:nvPr/>
        </p:nvCxnSpPr>
        <p:spPr>
          <a:xfrm flipV="1">
            <a:off x="4686300" y="3479800"/>
            <a:ext cx="736600" cy="4572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B42B1A4-1911-0306-2BB6-4AC4F0540E2C}"/>
              </a:ext>
            </a:extLst>
          </p:cNvPr>
          <p:cNvCxnSpPr/>
          <p:nvPr/>
        </p:nvCxnSpPr>
        <p:spPr>
          <a:xfrm>
            <a:off x="5422900" y="3479800"/>
            <a:ext cx="635000" cy="3175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4C0B6F7-18ED-5656-690B-098EA224B5BC}"/>
              </a:ext>
            </a:extLst>
          </p:cNvPr>
          <p:cNvCxnSpPr/>
          <p:nvPr/>
        </p:nvCxnSpPr>
        <p:spPr>
          <a:xfrm flipV="1">
            <a:off x="6057900" y="3175000"/>
            <a:ext cx="1104900" cy="6223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46" name="Oval 45">
            <a:extLst>
              <a:ext uri="{FF2B5EF4-FFF2-40B4-BE49-F238E27FC236}">
                <a16:creationId xmlns:a16="http://schemas.microsoft.com/office/drawing/2014/main" id="{D6C270A3-150F-F18A-347B-6F42212B8F1C}"/>
              </a:ext>
            </a:extLst>
          </p:cNvPr>
          <p:cNvSpPr/>
          <p:nvPr/>
        </p:nvSpPr>
        <p:spPr>
          <a:xfrm>
            <a:off x="4635500" y="38862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B82DB6F0-61CF-6DA1-2C5B-84BEA1B37BA8}"/>
              </a:ext>
            </a:extLst>
          </p:cNvPr>
          <p:cNvSpPr/>
          <p:nvPr/>
        </p:nvSpPr>
        <p:spPr>
          <a:xfrm>
            <a:off x="5372100" y="34290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F5A6F69F-A355-37AB-CA73-5B1E3ECE1CC0}"/>
              </a:ext>
            </a:extLst>
          </p:cNvPr>
          <p:cNvSpPr/>
          <p:nvPr/>
        </p:nvSpPr>
        <p:spPr>
          <a:xfrm>
            <a:off x="6007100" y="37465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D31D50C-E297-851B-FB92-2EFA271120E1}"/>
              </a:ext>
            </a:extLst>
          </p:cNvPr>
          <p:cNvSpPr/>
          <p:nvPr/>
        </p:nvSpPr>
        <p:spPr>
          <a:xfrm>
            <a:off x="7112000" y="31242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7844599A-9EE2-36CF-5F6E-0BD44A3B570C}"/>
              </a:ext>
            </a:extLst>
          </p:cNvPr>
          <p:cNvCxnSpPr/>
          <p:nvPr/>
        </p:nvCxnSpPr>
        <p:spPr>
          <a:xfrm flipV="1">
            <a:off x="6261100" y="3162300"/>
            <a:ext cx="0" cy="571500"/>
          </a:xfrm>
          <a:prstGeom prst="line">
            <a:avLst/>
          </a:prstGeom>
          <a:ln w="25400">
            <a:solidFill>
              <a:srgbClr val="617286"/>
            </a:solidFill>
            <a:prstDash val="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4E76362E-0D91-1641-2939-45509BBA34F0}"/>
              </a:ext>
            </a:extLst>
          </p:cNvPr>
          <p:cNvCxnSpPr/>
          <p:nvPr/>
        </p:nvCxnSpPr>
        <p:spPr>
          <a:xfrm flipH="1" flipV="1">
            <a:off x="6115812" y="2910332"/>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D5099AFA-3E11-7ECF-DDC9-46ED3554D4BD}"/>
              </a:ext>
            </a:extLst>
          </p:cNvPr>
          <p:cNvSpPr/>
          <p:nvPr/>
        </p:nvSpPr>
        <p:spPr>
          <a:xfrm>
            <a:off x="6036564" y="2831084"/>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FEF4D219-83B0-58AB-7AB7-9DABFC1B6FF7}"/>
              </a:ext>
            </a:extLst>
          </p:cNvPr>
          <p:cNvCxnSpPr/>
          <p:nvPr/>
        </p:nvCxnSpPr>
        <p:spPr>
          <a:xfrm>
            <a:off x="6062980" y="2910332"/>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D83E53A-AED2-A4DC-D5CE-CC763B8A292C}"/>
              </a:ext>
            </a:extLst>
          </p:cNvPr>
          <p:cNvCxnSpPr/>
          <p:nvPr/>
        </p:nvCxnSpPr>
        <p:spPr>
          <a:xfrm flipV="1">
            <a:off x="6261100" y="2910332"/>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C894AA46-19E7-8B2E-DBA8-B8BF8E2CF612}"/>
              </a:ext>
            </a:extLst>
          </p:cNvPr>
          <p:cNvSpPr/>
          <p:nvPr/>
        </p:nvSpPr>
        <p:spPr>
          <a:xfrm>
            <a:off x="6327140" y="2831084"/>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B1FD00F4-5F05-0C0A-92E2-A434A0305278}"/>
              </a:ext>
            </a:extLst>
          </p:cNvPr>
          <p:cNvCxnSpPr/>
          <p:nvPr/>
        </p:nvCxnSpPr>
        <p:spPr>
          <a:xfrm>
            <a:off x="6353556" y="2910332"/>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A1FFFCBF-C37F-F4F7-41D3-2F28C9DF9C80}"/>
              </a:ext>
            </a:extLst>
          </p:cNvPr>
          <p:cNvCxnSpPr/>
          <p:nvPr/>
        </p:nvCxnSpPr>
        <p:spPr>
          <a:xfrm flipH="1">
            <a:off x="6115812" y="3022600"/>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D44ADA90-8944-2133-05C5-E0CCB99A8EFC}"/>
              </a:ext>
            </a:extLst>
          </p:cNvPr>
          <p:cNvSpPr/>
          <p:nvPr/>
        </p:nvSpPr>
        <p:spPr>
          <a:xfrm>
            <a:off x="6036564" y="3055620"/>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9A67E191-26DA-6840-B480-FC0F7643EB77}"/>
              </a:ext>
            </a:extLst>
          </p:cNvPr>
          <p:cNvCxnSpPr/>
          <p:nvPr/>
        </p:nvCxnSpPr>
        <p:spPr>
          <a:xfrm>
            <a:off x="6062980" y="3134868"/>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038BEBB-DA9D-CDA9-7E2C-8E454A18FE27}"/>
              </a:ext>
            </a:extLst>
          </p:cNvPr>
          <p:cNvCxnSpPr/>
          <p:nvPr/>
        </p:nvCxnSpPr>
        <p:spPr>
          <a:xfrm>
            <a:off x="6261100" y="3022600"/>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EC790940-9D3B-A1CD-11AA-DEB630AFEC0F}"/>
              </a:ext>
            </a:extLst>
          </p:cNvPr>
          <p:cNvSpPr/>
          <p:nvPr/>
        </p:nvSpPr>
        <p:spPr>
          <a:xfrm>
            <a:off x="6327140" y="3055620"/>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7E82D784-1549-9AA9-327E-8E2BBB2FF0E5}"/>
              </a:ext>
            </a:extLst>
          </p:cNvPr>
          <p:cNvCxnSpPr/>
          <p:nvPr/>
        </p:nvCxnSpPr>
        <p:spPr>
          <a:xfrm>
            <a:off x="6353556" y="3134868"/>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63" name="Rectangle: Rounded Corners 62">
            <a:extLst>
              <a:ext uri="{FF2B5EF4-FFF2-40B4-BE49-F238E27FC236}">
                <a16:creationId xmlns:a16="http://schemas.microsoft.com/office/drawing/2014/main" id="{8D04925D-BB4C-689A-DD8A-E6A2D7526342}"/>
              </a:ext>
            </a:extLst>
          </p:cNvPr>
          <p:cNvSpPr/>
          <p:nvPr/>
        </p:nvSpPr>
        <p:spPr>
          <a:xfrm>
            <a:off x="6201664" y="2916936"/>
            <a:ext cx="118872" cy="211328"/>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B1114C09-AAF6-FA10-A689-BB56C0AC76F9}"/>
              </a:ext>
            </a:extLst>
          </p:cNvPr>
          <p:cNvSpPr/>
          <p:nvPr/>
        </p:nvSpPr>
        <p:spPr>
          <a:xfrm>
            <a:off x="6241288" y="2956560"/>
            <a:ext cx="39624" cy="39624"/>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F7A3420C-6D4E-444D-7B0F-835423ADA7A6}"/>
              </a:ext>
            </a:extLst>
          </p:cNvPr>
          <p:cNvSpPr txBox="1"/>
          <p:nvPr/>
        </p:nvSpPr>
        <p:spPr>
          <a:xfrm>
            <a:off x="4241800" y="4648200"/>
            <a:ext cx="3594100" cy="292388"/>
          </a:xfrm>
          <a:prstGeom prst="rect">
            <a:avLst/>
          </a:prstGeom>
          <a:noFill/>
        </p:spPr>
        <p:txBody>
          <a:bodyPr vert="horz" wrap="square" lIns="0" tIns="0" rIns="0" bIns="0" rtlCol="0">
            <a:spAutoFit/>
          </a:bodyPr>
          <a:lstStyle/>
          <a:p>
            <a:r>
              <a:rPr lang="en-US" sz="1900" b="1">
                <a:solidFill>
                  <a:srgbClr val="14263A"/>
                </a:solidFill>
                <a:latin typeface="Aptos" panose="020B0004020202020204" pitchFamily="34" charset="0"/>
              </a:rPr>
              <a:t>02  VISUALIZE IN 3D</a:t>
            </a:r>
          </a:p>
        </p:txBody>
      </p:sp>
      <p:sp>
        <p:nvSpPr>
          <p:cNvPr id="66" name="TextBox 65">
            <a:extLst>
              <a:ext uri="{FF2B5EF4-FFF2-40B4-BE49-F238E27FC236}">
                <a16:creationId xmlns:a16="http://schemas.microsoft.com/office/drawing/2014/main" id="{43403CD6-BAF4-4482-58CC-A3C74CC773DF}"/>
              </a:ext>
            </a:extLst>
          </p:cNvPr>
          <p:cNvSpPr txBox="1"/>
          <p:nvPr/>
        </p:nvSpPr>
        <p:spPr>
          <a:xfrm>
            <a:off x="4241800" y="5016500"/>
            <a:ext cx="3606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See the mission in a virtual world.</a:t>
            </a:r>
          </a:p>
        </p:txBody>
      </p:sp>
      <p:sp>
        <p:nvSpPr>
          <p:cNvPr id="67" name="Rectangle 66">
            <a:extLst>
              <a:ext uri="{FF2B5EF4-FFF2-40B4-BE49-F238E27FC236}">
                <a16:creationId xmlns:a16="http://schemas.microsoft.com/office/drawing/2014/main" id="{7BF39366-89C1-1797-2E8F-D8FFF6AE351A}"/>
              </a:ext>
            </a:extLst>
          </p:cNvPr>
          <p:cNvSpPr/>
          <p:nvPr/>
        </p:nvSpPr>
        <p:spPr>
          <a:xfrm>
            <a:off x="8445500" y="2603500"/>
            <a:ext cx="3175000" cy="18796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581FBB20-E28D-614E-1219-9C7C1AA28037}"/>
              </a:ext>
            </a:extLst>
          </p:cNvPr>
          <p:cNvSpPr/>
          <p:nvPr/>
        </p:nvSpPr>
        <p:spPr>
          <a:xfrm>
            <a:off x="8864600" y="3513328"/>
            <a:ext cx="327660" cy="34950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E6D8F3F6-731F-F830-39EF-CA2DA851110B}"/>
              </a:ext>
            </a:extLst>
          </p:cNvPr>
          <p:cNvCxnSpPr/>
          <p:nvPr/>
        </p:nvCxnSpPr>
        <p:spPr>
          <a:xfrm flipV="1">
            <a:off x="8897366" y="3338576"/>
            <a:ext cx="0" cy="240284"/>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793A95A8-8C29-0E0E-BF1E-8D2968BC69F2}"/>
              </a:ext>
            </a:extLst>
          </p:cNvPr>
          <p:cNvCxnSpPr/>
          <p:nvPr/>
        </p:nvCxnSpPr>
        <p:spPr>
          <a:xfrm flipV="1">
            <a:off x="8984742" y="3265051"/>
            <a:ext cx="0" cy="313809"/>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2107069F-5F27-4E7F-3893-F3071DB8663E}"/>
              </a:ext>
            </a:extLst>
          </p:cNvPr>
          <p:cNvCxnSpPr/>
          <p:nvPr/>
        </p:nvCxnSpPr>
        <p:spPr>
          <a:xfrm flipV="1">
            <a:off x="9072118" y="3259125"/>
            <a:ext cx="0" cy="319735"/>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1CBBE655-E755-1D24-53FB-8CBA67DB05A1}"/>
              </a:ext>
            </a:extLst>
          </p:cNvPr>
          <p:cNvCxnSpPr/>
          <p:nvPr/>
        </p:nvCxnSpPr>
        <p:spPr>
          <a:xfrm flipV="1">
            <a:off x="9159494" y="3326245"/>
            <a:ext cx="0" cy="252615"/>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38132F84-36E4-900F-49EC-228A7CBDAF2B}"/>
              </a:ext>
            </a:extLst>
          </p:cNvPr>
          <p:cNvCxnSpPr/>
          <p:nvPr/>
        </p:nvCxnSpPr>
        <p:spPr>
          <a:xfrm flipH="1" flipV="1">
            <a:off x="8755380" y="3524250"/>
            <a:ext cx="141986" cy="196596"/>
          </a:xfrm>
          <a:prstGeom prst="line">
            <a:avLst/>
          </a:prstGeom>
          <a:ln w="65532">
            <a:solidFill>
              <a:srgbClr val="006B62"/>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86754B0F-F423-2796-23DB-CA36C41E648F}"/>
              </a:ext>
            </a:extLst>
          </p:cNvPr>
          <p:cNvSpPr/>
          <p:nvPr/>
        </p:nvSpPr>
        <p:spPr>
          <a:xfrm>
            <a:off x="10838561" y="3514344"/>
            <a:ext cx="90678" cy="9067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C88CB2FA-1BBF-7AEA-AFDB-5E46DBD096EA}"/>
              </a:ext>
            </a:extLst>
          </p:cNvPr>
          <p:cNvSpPr/>
          <p:nvPr/>
        </p:nvSpPr>
        <p:spPr>
          <a:xfrm>
            <a:off x="10819130" y="3630930"/>
            <a:ext cx="129540" cy="20726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a:extLst>
              <a:ext uri="{FF2B5EF4-FFF2-40B4-BE49-F238E27FC236}">
                <a16:creationId xmlns:a16="http://schemas.microsoft.com/office/drawing/2014/main" id="{8B3DCEDD-D97D-7544-ACB0-20E687349A60}"/>
              </a:ext>
            </a:extLst>
          </p:cNvPr>
          <p:cNvCxnSpPr/>
          <p:nvPr/>
        </p:nvCxnSpPr>
        <p:spPr>
          <a:xfrm flipH="1">
            <a:off x="10819130" y="3818763"/>
            <a:ext cx="19431" cy="136017"/>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2FA9A07C-8437-2ED0-5EBA-30969904210E}"/>
              </a:ext>
            </a:extLst>
          </p:cNvPr>
          <p:cNvCxnSpPr/>
          <p:nvPr/>
        </p:nvCxnSpPr>
        <p:spPr>
          <a:xfrm>
            <a:off x="10929239" y="3818763"/>
            <a:ext cx="19431" cy="136017"/>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4F3C7367-C265-737D-E676-6D8F930AE7ED}"/>
              </a:ext>
            </a:extLst>
          </p:cNvPr>
          <p:cNvCxnSpPr/>
          <p:nvPr/>
        </p:nvCxnSpPr>
        <p:spPr>
          <a:xfrm flipH="1">
            <a:off x="10741406" y="3676269"/>
            <a:ext cx="97155" cy="77724"/>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756E553B-5F83-D838-4656-18E5F218DBDB}"/>
              </a:ext>
            </a:extLst>
          </p:cNvPr>
          <p:cNvCxnSpPr/>
          <p:nvPr/>
        </p:nvCxnSpPr>
        <p:spPr>
          <a:xfrm flipV="1">
            <a:off x="10929239" y="3553206"/>
            <a:ext cx="103632" cy="123063"/>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A9699D41-17D1-2782-F2BD-1AB277ADFBB8}"/>
              </a:ext>
            </a:extLst>
          </p:cNvPr>
          <p:cNvCxnSpPr/>
          <p:nvPr/>
        </p:nvCxnSpPr>
        <p:spPr>
          <a:xfrm flipH="1" flipV="1">
            <a:off x="10519664" y="2914904"/>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1" name="Oval 80">
            <a:extLst>
              <a:ext uri="{FF2B5EF4-FFF2-40B4-BE49-F238E27FC236}">
                <a16:creationId xmlns:a16="http://schemas.microsoft.com/office/drawing/2014/main" id="{566EE8FF-6F0E-B43A-92FB-DCF3DAC0FC33}"/>
              </a:ext>
            </a:extLst>
          </p:cNvPr>
          <p:cNvSpPr/>
          <p:nvPr/>
        </p:nvSpPr>
        <p:spPr>
          <a:xfrm>
            <a:off x="10452608" y="2847848"/>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a:extLst>
              <a:ext uri="{FF2B5EF4-FFF2-40B4-BE49-F238E27FC236}">
                <a16:creationId xmlns:a16="http://schemas.microsoft.com/office/drawing/2014/main" id="{C4C93B6E-C9E3-3DDD-1CEA-67B183043EC0}"/>
              </a:ext>
            </a:extLst>
          </p:cNvPr>
          <p:cNvCxnSpPr/>
          <p:nvPr/>
        </p:nvCxnSpPr>
        <p:spPr>
          <a:xfrm>
            <a:off x="10474960" y="2914904"/>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FEA3427-F8BE-1712-D87A-E3FE33ABF537}"/>
              </a:ext>
            </a:extLst>
          </p:cNvPr>
          <p:cNvCxnSpPr/>
          <p:nvPr/>
        </p:nvCxnSpPr>
        <p:spPr>
          <a:xfrm flipV="1">
            <a:off x="10642600" y="2914904"/>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4" name="Oval 83">
            <a:extLst>
              <a:ext uri="{FF2B5EF4-FFF2-40B4-BE49-F238E27FC236}">
                <a16:creationId xmlns:a16="http://schemas.microsoft.com/office/drawing/2014/main" id="{9EFBC8D2-CE3D-2224-1D74-ECDD6FF3F5CD}"/>
              </a:ext>
            </a:extLst>
          </p:cNvPr>
          <p:cNvSpPr/>
          <p:nvPr/>
        </p:nvSpPr>
        <p:spPr>
          <a:xfrm>
            <a:off x="10698480" y="2847848"/>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39311AEA-6080-522F-DCFF-0DDF1333D472}"/>
              </a:ext>
            </a:extLst>
          </p:cNvPr>
          <p:cNvCxnSpPr/>
          <p:nvPr/>
        </p:nvCxnSpPr>
        <p:spPr>
          <a:xfrm>
            <a:off x="10720832" y="2914904"/>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BFE8E71-38CA-DF34-766A-EBA1A049A3E5}"/>
              </a:ext>
            </a:extLst>
          </p:cNvPr>
          <p:cNvCxnSpPr/>
          <p:nvPr/>
        </p:nvCxnSpPr>
        <p:spPr>
          <a:xfrm flipH="1">
            <a:off x="10519664" y="3009900"/>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7" name="Oval 86">
            <a:extLst>
              <a:ext uri="{FF2B5EF4-FFF2-40B4-BE49-F238E27FC236}">
                <a16:creationId xmlns:a16="http://schemas.microsoft.com/office/drawing/2014/main" id="{5C2053FE-C8B4-2C5D-F82A-DF4BA4CB8F30}"/>
              </a:ext>
            </a:extLst>
          </p:cNvPr>
          <p:cNvSpPr/>
          <p:nvPr/>
        </p:nvSpPr>
        <p:spPr>
          <a:xfrm>
            <a:off x="10452608" y="3037840"/>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0A4C59BA-0E79-0415-0AF8-2EEA3DEC3E21}"/>
              </a:ext>
            </a:extLst>
          </p:cNvPr>
          <p:cNvCxnSpPr/>
          <p:nvPr/>
        </p:nvCxnSpPr>
        <p:spPr>
          <a:xfrm>
            <a:off x="10474960" y="3104896"/>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1D9EE5D3-EF75-E618-6410-BB071F91ECB2}"/>
              </a:ext>
            </a:extLst>
          </p:cNvPr>
          <p:cNvCxnSpPr/>
          <p:nvPr/>
        </p:nvCxnSpPr>
        <p:spPr>
          <a:xfrm>
            <a:off x="10642600" y="3009900"/>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90" name="Oval 89">
            <a:extLst>
              <a:ext uri="{FF2B5EF4-FFF2-40B4-BE49-F238E27FC236}">
                <a16:creationId xmlns:a16="http://schemas.microsoft.com/office/drawing/2014/main" id="{3FB2399F-071A-3544-B48F-75DC0C1BB8BF}"/>
              </a:ext>
            </a:extLst>
          </p:cNvPr>
          <p:cNvSpPr/>
          <p:nvPr/>
        </p:nvSpPr>
        <p:spPr>
          <a:xfrm>
            <a:off x="10698480" y="3037840"/>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C8C189B9-59A1-499E-9A63-1A3EB3F6ACA6}"/>
              </a:ext>
            </a:extLst>
          </p:cNvPr>
          <p:cNvCxnSpPr/>
          <p:nvPr/>
        </p:nvCxnSpPr>
        <p:spPr>
          <a:xfrm>
            <a:off x="10720832" y="3104896"/>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92" name="Rectangle: Rounded Corners 91">
            <a:extLst>
              <a:ext uri="{FF2B5EF4-FFF2-40B4-BE49-F238E27FC236}">
                <a16:creationId xmlns:a16="http://schemas.microsoft.com/office/drawing/2014/main" id="{23A5A803-70C6-B374-C763-15D6E74C0B2D}"/>
              </a:ext>
            </a:extLst>
          </p:cNvPr>
          <p:cNvSpPr/>
          <p:nvPr/>
        </p:nvSpPr>
        <p:spPr>
          <a:xfrm>
            <a:off x="10592308" y="2920492"/>
            <a:ext cx="100584" cy="17881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825AB5AE-158A-27B3-BC67-A6C5393FFE54}"/>
              </a:ext>
            </a:extLst>
          </p:cNvPr>
          <p:cNvSpPr/>
          <p:nvPr/>
        </p:nvSpPr>
        <p:spPr>
          <a:xfrm>
            <a:off x="10625836" y="2954020"/>
            <a:ext cx="33528" cy="3352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a:extLst>
              <a:ext uri="{FF2B5EF4-FFF2-40B4-BE49-F238E27FC236}">
                <a16:creationId xmlns:a16="http://schemas.microsoft.com/office/drawing/2014/main" id="{2F1ED091-5549-F2DD-F986-D73E0E444889}"/>
              </a:ext>
            </a:extLst>
          </p:cNvPr>
          <p:cNvCxnSpPr/>
          <p:nvPr/>
        </p:nvCxnSpPr>
        <p:spPr>
          <a:xfrm flipV="1">
            <a:off x="9499600" y="3162300"/>
            <a:ext cx="711200" cy="31750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0C2C6E91-05B3-ADA4-DAF7-1E9D5DAA33BA}"/>
              </a:ext>
            </a:extLst>
          </p:cNvPr>
          <p:cNvCxnSpPr/>
          <p:nvPr/>
        </p:nvCxnSpPr>
        <p:spPr>
          <a:xfrm flipH="1">
            <a:off x="7810500" y="3543300"/>
            <a:ext cx="571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BA4EBD0F-76BC-B285-D843-219C04E9409D}"/>
              </a:ext>
            </a:extLst>
          </p:cNvPr>
          <p:cNvSpPr txBox="1"/>
          <p:nvPr/>
        </p:nvSpPr>
        <p:spPr>
          <a:xfrm>
            <a:off x="8445500" y="4648200"/>
            <a:ext cx="3365500" cy="261610"/>
          </a:xfrm>
          <a:prstGeom prst="rect">
            <a:avLst/>
          </a:prstGeom>
          <a:noFill/>
        </p:spPr>
        <p:txBody>
          <a:bodyPr vert="horz" wrap="square" lIns="0" tIns="0" rIns="0" bIns="0" rtlCol="0">
            <a:spAutoFit/>
          </a:bodyPr>
          <a:lstStyle/>
          <a:p>
            <a:r>
              <a:rPr lang="en-US" sz="1700" b="1">
                <a:solidFill>
                  <a:srgbClr val="006B62"/>
                </a:solidFill>
                <a:latin typeface="Aptos" panose="020B0004020202020204" pitchFamily="34" charset="0"/>
              </a:rPr>
              <a:t>03  INTERRUPT BY GESTURE</a:t>
            </a:r>
          </a:p>
        </p:txBody>
      </p:sp>
      <p:sp>
        <p:nvSpPr>
          <p:cNvPr id="97" name="TextBox 96">
            <a:extLst>
              <a:ext uri="{FF2B5EF4-FFF2-40B4-BE49-F238E27FC236}">
                <a16:creationId xmlns:a16="http://schemas.microsoft.com/office/drawing/2014/main" id="{CE4150DC-E4F5-8860-1770-E38E6415DC62}"/>
              </a:ext>
            </a:extLst>
          </p:cNvPr>
          <p:cNvSpPr txBox="1"/>
          <p:nvPr/>
        </p:nvSpPr>
        <p:spPr>
          <a:xfrm>
            <a:off x="8445500" y="5016500"/>
            <a:ext cx="33655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Change drone behavior mid-flight.</a:t>
            </a:r>
          </a:p>
        </p:txBody>
      </p:sp>
      <p:sp>
        <p:nvSpPr>
          <p:cNvPr id="98" name="Rectangle 97">
            <a:extLst>
              <a:ext uri="{FF2B5EF4-FFF2-40B4-BE49-F238E27FC236}">
                <a16:creationId xmlns:a16="http://schemas.microsoft.com/office/drawing/2014/main" id="{5A0E6D78-F7EA-07C9-05DA-F480EFD42972}"/>
              </a:ext>
            </a:extLst>
          </p:cNvPr>
          <p:cNvSpPr/>
          <p:nvPr/>
        </p:nvSpPr>
        <p:spPr>
          <a:xfrm>
            <a:off x="508000" y="5575300"/>
            <a:ext cx="11112500" cy="5715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3172BE7A-CD93-D48B-1CD2-4CCDE20A13FD}"/>
              </a:ext>
            </a:extLst>
          </p:cNvPr>
          <p:cNvSpPr txBox="1"/>
          <p:nvPr/>
        </p:nvSpPr>
        <p:spPr>
          <a:xfrm>
            <a:off x="698500" y="5689600"/>
            <a:ext cx="24511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POSSIBLE USE CASE</a:t>
            </a:r>
          </a:p>
        </p:txBody>
      </p:sp>
      <p:sp>
        <p:nvSpPr>
          <p:cNvPr id="100" name="TextBox 99">
            <a:extLst>
              <a:ext uri="{FF2B5EF4-FFF2-40B4-BE49-F238E27FC236}">
                <a16:creationId xmlns:a16="http://schemas.microsoft.com/office/drawing/2014/main" id="{116719DE-C6F0-E155-B7C9-BFAD00BD1E40}"/>
              </a:ext>
            </a:extLst>
          </p:cNvPr>
          <p:cNvSpPr txBox="1"/>
          <p:nvPr/>
        </p:nvSpPr>
        <p:spPr>
          <a:xfrm>
            <a:off x="3048000" y="5715000"/>
            <a:ext cx="83820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Send a drone between operators to provide overwatch.</a:t>
            </a:r>
          </a:p>
        </p:txBody>
      </p:sp>
    </p:spTree>
    <p:extLst>
      <p:ext uri="{BB962C8B-B14F-4D97-AF65-F5344CB8AC3E}">
        <p14:creationId xmlns:p14="http://schemas.microsoft.com/office/powerpoint/2010/main" val="428475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75312C-6923-16B5-10C7-CBD0E7094E9A}"/>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F2858BD1-342A-4F10-B657-B34DAB7EC572}"/>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NEXT STEPS / THE INTERACTION</a:t>
            </a:r>
          </a:p>
        </p:txBody>
      </p:sp>
      <p:sp>
        <p:nvSpPr>
          <p:cNvPr id="4" name="TextBox 3">
            <a:extLst>
              <a:ext uri="{FF2B5EF4-FFF2-40B4-BE49-F238E27FC236}">
                <a16:creationId xmlns:a16="http://schemas.microsoft.com/office/drawing/2014/main" id="{FDF3E3C0-0104-9361-67FA-B9ABB49AD5A0}"/>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Build the vocabulary around the team.</a:t>
            </a:r>
          </a:p>
        </p:txBody>
      </p:sp>
      <p:cxnSp>
        <p:nvCxnSpPr>
          <p:cNvPr id="5" name="Straight Connector 4">
            <a:extLst>
              <a:ext uri="{FF2B5EF4-FFF2-40B4-BE49-F238E27FC236}">
                <a16:creationId xmlns:a16="http://schemas.microsoft.com/office/drawing/2014/main" id="{D7F3E317-BEF4-D24A-337A-F49B8276B669}"/>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5DDCBAF-9533-0693-6A6A-8463AFAF342E}"/>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0A87EB43-2A61-5BDB-0B98-60C2733CCDB2}"/>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06</a:t>
            </a:r>
          </a:p>
        </p:txBody>
      </p:sp>
      <p:sp>
        <p:nvSpPr>
          <p:cNvPr id="8" name="TextBox 7">
            <a:extLst>
              <a:ext uri="{FF2B5EF4-FFF2-40B4-BE49-F238E27FC236}">
                <a16:creationId xmlns:a16="http://schemas.microsoft.com/office/drawing/2014/main" id="{AC0BFBA0-4B61-63A5-C5D4-BA880DEC0DAC}"/>
              </a:ext>
            </a:extLst>
          </p:cNvPr>
          <p:cNvSpPr txBox="1"/>
          <p:nvPr/>
        </p:nvSpPr>
        <p:spPr>
          <a:xfrm>
            <a:off x="508000" y="2451100"/>
            <a:ext cx="11049000" cy="384721"/>
          </a:xfrm>
          <a:prstGeom prst="rect">
            <a:avLst/>
          </a:prstGeom>
          <a:noFill/>
        </p:spPr>
        <p:txBody>
          <a:bodyPr vert="horz" wrap="square" lIns="0" tIns="0" rIns="0" bIns="0" rtlCol="0">
            <a:spAutoFit/>
          </a:bodyPr>
          <a:lstStyle/>
          <a:p>
            <a:r>
              <a:rPr lang="en-US" sz="2500" b="1">
                <a:solidFill>
                  <a:srgbClr val="006B62"/>
                </a:solidFill>
                <a:latin typeface="Aptos" panose="020B0004020202020204" pitchFamily="34" charset="0"/>
              </a:rPr>
              <a:t>Custom gestures and natural-language commands give us a starting point.</a:t>
            </a:r>
          </a:p>
        </p:txBody>
      </p:sp>
      <p:sp>
        <p:nvSpPr>
          <p:cNvPr id="9" name="TextBox 8">
            <a:extLst>
              <a:ext uri="{FF2B5EF4-FFF2-40B4-BE49-F238E27FC236}">
                <a16:creationId xmlns:a16="http://schemas.microsoft.com/office/drawing/2014/main" id="{19927057-4945-3784-430B-CA8409E87E9F}"/>
              </a:ext>
            </a:extLst>
          </p:cNvPr>
          <p:cNvSpPr txBox="1"/>
          <p:nvPr/>
        </p:nvSpPr>
        <p:spPr>
          <a:xfrm>
            <a:off x="508000" y="3556000"/>
            <a:ext cx="1841500" cy="200055"/>
          </a:xfrm>
          <a:prstGeom prst="rect">
            <a:avLst/>
          </a:prstGeom>
          <a:noFill/>
        </p:spPr>
        <p:txBody>
          <a:bodyPr vert="horz" wrap="square" lIns="0" tIns="0" rIns="0" bIns="0" rtlCol="0">
            <a:spAutoFit/>
          </a:bodyPr>
          <a:lstStyle/>
          <a:p>
            <a:r>
              <a:rPr lang="en-US" sz="1300" b="1">
                <a:solidFill>
                  <a:srgbClr val="006B62"/>
                </a:solidFill>
                <a:latin typeface="Aptos" panose="020B0004020202020204" pitchFamily="34" charset="0"/>
              </a:rPr>
              <a:t>EXPAND</a:t>
            </a:r>
          </a:p>
        </p:txBody>
      </p:sp>
      <p:sp>
        <p:nvSpPr>
          <p:cNvPr id="10" name="TextBox 9">
            <a:extLst>
              <a:ext uri="{FF2B5EF4-FFF2-40B4-BE49-F238E27FC236}">
                <a16:creationId xmlns:a16="http://schemas.microsoft.com/office/drawing/2014/main" id="{3D94C4F7-484F-50B8-BDFB-16A971AE64A3}"/>
              </a:ext>
            </a:extLst>
          </p:cNvPr>
          <p:cNvSpPr txBox="1"/>
          <p:nvPr/>
        </p:nvSpPr>
        <p:spPr>
          <a:xfrm>
            <a:off x="2603500" y="3556000"/>
            <a:ext cx="8826500" cy="323165"/>
          </a:xfrm>
          <a:prstGeom prst="rect">
            <a:avLst/>
          </a:prstGeom>
          <a:noFill/>
        </p:spPr>
        <p:txBody>
          <a:bodyPr vert="horz" wrap="square" lIns="0" tIns="0" rIns="0" bIns="0" rtlCol="0">
            <a:spAutoFit/>
          </a:bodyPr>
          <a:lstStyle/>
          <a:p>
            <a:r>
              <a:rPr lang="en-US" sz="2100">
                <a:solidFill>
                  <a:srgbClr val="14263A"/>
                </a:solidFill>
                <a:latin typeface="Aptos" panose="020B0004020202020204" pitchFamily="34" charset="0"/>
              </a:rPr>
              <a:t>Train more custom signals with examples from different people.</a:t>
            </a:r>
          </a:p>
        </p:txBody>
      </p:sp>
      <p:sp>
        <p:nvSpPr>
          <p:cNvPr id="11" name="TextBox 10">
            <a:extLst>
              <a:ext uri="{FF2B5EF4-FFF2-40B4-BE49-F238E27FC236}">
                <a16:creationId xmlns:a16="http://schemas.microsoft.com/office/drawing/2014/main" id="{3D2AD6EB-666D-0931-05DB-75D6920EDD42}"/>
              </a:ext>
            </a:extLst>
          </p:cNvPr>
          <p:cNvSpPr txBox="1"/>
          <p:nvPr/>
        </p:nvSpPr>
        <p:spPr>
          <a:xfrm>
            <a:off x="508000" y="4381500"/>
            <a:ext cx="1841500" cy="200055"/>
          </a:xfrm>
          <a:prstGeom prst="rect">
            <a:avLst/>
          </a:prstGeom>
          <a:noFill/>
        </p:spPr>
        <p:txBody>
          <a:bodyPr vert="horz" wrap="square" lIns="0" tIns="0" rIns="0" bIns="0" rtlCol="0">
            <a:spAutoFit/>
          </a:bodyPr>
          <a:lstStyle/>
          <a:p>
            <a:r>
              <a:rPr lang="en-US" sz="1300" b="1">
                <a:solidFill>
                  <a:srgbClr val="006B62"/>
                </a:solidFill>
                <a:latin typeface="Aptos" panose="020B0004020202020204" pitchFamily="34" charset="0"/>
              </a:rPr>
              <a:t>CONNECT</a:t>
            </a:r>
          </a:p>
        </p:txBody>
      </p:sp>
      <p:sp>
        <p:nvSpPr>
          <p:cNvPr id="12" name="TextBox 11">
            <a:extLst>
              <a:ext uri="{FF2B5EF4-FFF2-40B4-BE49-F238E27FC236}">
                <a16:creationId xmlns:a16="http://schemas.microsoft.com/office/drawing/2014/main" id="{F13C9A2D-9151-FF75-52B9-9F0FC2DFA998}"/>
              </a:ext>
            </a:extLst>
          </p:cNvPr>
          <p:cNvSpPr txBox="1"/>
          <p:nvPr/>
        </p:nvSpPr>
        <p:spPr>
          <a:xfrm>
            <a:off x="2603500" y="4381500"/>
            <a:ext cx="8826500" cy="323165"/>
          </a:xfrm>
          <a:prstGeom prst="rect">
            <a:avLst/>
          </a:prstGeom>
          <a:noFill/>
        </p:spPr>
        <p:txBody>
          <a:bodyPr vert="horz" wrap="square" lIns="0" tIns="0" rIns="0" bIns="0" rtlCol="0">
            <a:spAutoFit/>
          </a:bodyPr>
          <a:lstStyle/>
          <a:p>
            <a:r>
              <a:rPr lang="en-US" sz="2100">
                <a:solidFill>
                  <a:srgbClr val="14263A"/>
                </a:solidFill>
                <a:latin typeface="Aptos" panose="020B0004020202020204" pitchFamily="34" charset="0"/>
              </a:rPr>
              <a:t>Bring gestures, spoken routes, and changes of plan into one interaction.</a:t>
            </a:r>
          </a:p>
        </p:txBody>
      </p:sp>
      <p:sp>
        <p:nvSpPr>
          <p:cNvPr id="13" name="TextBox 12">
            <a:extLst>
              <a:ext uri="{FF2B5EF4-FFF2-40B4-BE49-F238E27FC236}">
                <a16:creationId xmlns:a16="http://schemas.microsoft.com/office/drawing/2014/main" id="{35846084-DD78-61FF-0D40-B2D78C6F1DD0}"/>
              </a:ext>
            </a:extLst>
          </p:cNvPr>
          <p:cNvSpPr txBox="1"/>
          <p:nvPr/>
        </p:nvSpPr>
        <p:spPr>
          <a:xfrm>
            <a:off x="508000" y="5207000"/>
            <a:ext cx="1841500" cy="200055"/>
          </a:xfrm>
          <a:prstGeom prst="rect">
            <a:avLst/>
          </a:prstGeom>
          <a:noFill/>
        </p:spPr>
        <p:txBody>
          <a:bodyPr vert="horz" wrap="square" lIns="0" tIns="0" rIns="0" bIns="0" rtlCol="0">
            <a:spAutoFit/>
          </a:bodyPr>
          <a:lstStyle/>
          <a:p>
            <a:r>
              <a:rPr lang="en-US" sz="1300" b="1">
                <a:solidFill>
                  <a:srgbClr val="006B62"/>
                </a:solidFill>
                <a:latin typeface="Aptos" panose="020B0004020202020204" pitchFamily="34" charset="0"/>
              </a:rPr>
              <a:t>REFINE</a:t>
            </a:r>
          </a:p>
        </p:txBody>
      </p:sp>
      <p:sp>
        <p:nvSpPr>
          <p:cNvPr id="14" name="TextBox 13">
            <a:extLst>
              <a:ext uri="{FF2B5EF4-FFF2-40B4-BE49-F238E27FC236}">
                <a16:creationId xmlns:a16="http://schemas.microsoft.com/office/drawing/2014/main" id="{A4785572-EDFC-C2CD-04C0-9906BE53D88A}"/>
              </a:ext>
            </a:extLst>
          </p:cNvPr>
          <p:cNvSpPr txBox="1"/>
          <p:nvPr/>
        </p:nvSpPr>
        <p:spPr>
          <a:xfrm>
            <a:off x="2603500" y="5207000"/>
            <a:ext cx="8826500" cy="323165"/>
          </a:xfrm>
          <a:prstGeom prst="rect">
            <a:avLst/>
          </a:prstGeom>
          <a:noFill/>
        </p:spPr>
        <p:txBody>
          <a:bodyPr vert="horz" wrap="square" lIns="0" tIns="0" rIns="0" bIns="0" rtlCol="0">
            <a:spAutoFit/>
          </a:bodyPr>
          <a:lstStyle/>
          <a:p>
            <a:r>
              <a:rPr lang="en-US" sz="2100">
                <a:solidFill>
                  <a:srgbClr val="14263A"/>
                </a:solidFill>
                <a:latin typeface="Aptos" panose="020B0004020202020204" pitchFamily="34" charset="0"/>
              </a:rPr>
              <a:t>Make it clear which teammate is directing the drone and what it understood.</a:t>
            </a:r>
          </a:p>
        </p:txBody>
      </p:sp>
    </p:spTree>
    <p:extLst>
      <p:ext uri="{BB962C8B-B14F-4D97-AF65-F5344CB8AC3E}">
        <p14:creationId xmlns:p14="http://schemas.microsoft.com/office/powerpoint/2010/main" val="3753925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8E87F0-33A5-84CD-F5C4-E79F0DBE0A73}"/>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28958C89-1D0C-47F3-A801-3BFFC252C197}"/>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NEXT STEPS / VALIDATION</a:t>
            </a:r>
          </a:p>
        </p:txBody>
      </p:sp>
      <p:sp>
        <p:nvSpPr>
          <p:cNvPr id="4" name="TextBox 3">
            <a:extLst>
              <a:ext uri="{FF2B5EF4-FFF2-40B4-BE49-F238E27FC236}">
                <a16:creationId xmlns:a16="http://schemas.microsoft.com/office/drawing/2014/main" id="{D132C8F1-B3F0-EE5F-4108-394915310DB9}"/>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Test it with the people who will use it.</a:t>
            </a:r>
          </a:p>
        </p:txBody>
      </p:sp>
      <p:cxnSp>
        <p:nvCxnSpPr>
          <p:cNvPr id="5" name="Straight Connector 4">
            <a:extLst>
              <a:ext uri="{FF2B5EF4-FFF2-40B4-BE49-F238E27FC236}">
                <a16:creationId xmlns:a16="http://schemas.microsoft.com/office/drawing/2014/main" id="{C81F3189-C8E7-1189-C3D0-5609DF819EA3}"/>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3F0279D-0ADF-F931-0A96-F811750802EF}"/>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F5E7572D-17E1-3504-29AB-5B7169DCD502}"/>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07</a:t>
            </a:r>
          </a:p>
        </p:txBody>
      </p:sp>
      <p:sp>
        <p:nvSpPr>
          <p:cNvPr id="8" name="TextBox 7">
            <a:extLst>
              <a:ext uri="{FF2B5EF4-FFF2-40B4-BE49-F238E27FC236}">
                <a16:creationId xmlns:a16="http://schemas.microsoft.com/office/drawing/2014/main" id="{5E18B568-66C6-9A8A-D07B-13332D9B9B70}"/>
              </a:ext>
            </a:extLst>
          </p:cNvPr>
          <p:cNvSpPr txBox="1"/>
          <p:nvPr/>
        </p:nvSpPr>
        <p:spPr>
          <a:xfrm>
            <a:off x="508000" y="2476500"/>
            <a:ext cx="11049000" cy="400110"/>
          </a:xfrm>
          <a:prstGeom prst="rect">
            <a:avLst/>
          </a:prstGeom>
          <a:noFill/>
        </p:spPr>
        <p:txBody>
          <a:bodyPr vert="horz" wrap="square" lIns="0" tIns="0" rIns="0" bIns="0" rtlCol="0">
            <a:spAutoFit/>
          </a:bodyPr>
          <a:lstStyle/>
          <a:p>
            <a:r>
              <a:rPr lang="en-US" sz="2600" b="1">
                <a:solidFill>
                  <a:srgbClr val="006B62"/>
                </a:solidFill>
                <a:latin typeface="Aptos" panose="020B0004020202020204" pitchFamily="34" charset="0"/>
              </a:rPr>
              <a:t>Turn a working demonstration into evidence we can build on.</a:t>
            </a:r>
          </a:p>
        </p:txBody>
      </p:sp>
      <p:sp>
        <p:nvSpPr>
          <p:cNvPr id="9" name="Rectangle 8">
            <a:extLst>
              <a:ext uri="{FF2B5EF4-FFF2-40B4-BE49-F238E27FC236}">
                <a16:creationId xmlns:a16="http://schemas.microsoft.com/office/drawing/2014/main" id="{81696BC4-DD25-2D4B-774A-38137E05D776}"/>
              </a:ext>
            </a:extLst>
          </p:cNvPr>
          <p:cNvSpPr/>
          <p:nvPr/>
        </p:nvSpPr>
        <p:spPr>
          <a:xfrm>
            <a:off x="508000" y="3606800"/>
            <a:ext cx="3556000" cy="24257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278EE3B-5C77-DB0C-A85F-F9BE012F3C67}"/>
              </a:ext>
            </a:extLst>
          </p:cNvPr>
          <p:cNvSpPr txBox="1"/>
          <p:nvPr/>
        </p:nvSpPr>
        <p:spPr>
          <a:xfrm>
            <a:off x="711200" y="3822700"/>
            <a:ext cx="31496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01 / USER FEEDBACK</a:t>
            </a:r>
          </a:p>
        </p:txBody>
      </p:sp>
      <p:sp>
        <p:nvSpPr>
          <p:cNvPr id="11" name="TextBox 10">
            <a:extLst>
              <a:ext uri="{FF2B5EF4-FFF2-40B4-BE49-F238E27FC236}">
                <a16:creationId xmlns:a16="http://schemas.microsoft.com/office/drawing/2014/main" id="{487356B9-26B6-9FA9-CF39-5D08B18EFA57}"/>
              </a:ext>
            </a:extLst>
          </p:cNvPr>
          <p:cNvSpPr txBox="1"/>
          <p:nvPr/>
        </p:nvSpPr>
        <p:spPr>
          <a:xfrm>
            <a:off x="711200" y="4318000"/>
            <a:ext cx="3149600" cy="353943"/>
          </a:xfrm>
          <a:prstGeom prst="rect">
            <a:avLst/>
          </a:prstGeom>
          <a:noFill/>
        </p:spPr>
        <p:txBody>
          <a:bodyPr vert="horz" wrap="square" lIns="0" tIns="0" rIns="0" bIns="0" rtlCol="0">
            <a:spAutoFit/>
          </a:bodyPr>
          <a:lstStyle/>
          <a:p>
            <a:r>
              <a:rPr lang="en-US" sz="2300" b="1">
                <a:solidFill>
                  <a:srgbClr val="14263A"/>
                </a:solidFill>
                <a:latin typeface="Aptos" panose="020B0004020202020204" pitchFamily="34" charset="0"/>
              </a:rPr>
              <a:t>Learn from operators</a:t>
            </a:r>
          </a:p>
        </p:txBody>
      </p:sp>
      <p:sp>
        <p:nvSpPr>
          <p:cNvPr id="12" name="TextBox 11">
            <a:extLst>
              <a:ext uri="{FF2B5EF4-FFF2-40B4-BE49-F238E27FC236}">
                <a16:creationId xmlns:a16="http://schemas.microsoft.com/office/drawing/2014/main" id="{13F84CEF-B918-7F21-E4E8-7A6092C6E763}"/>
              </a:ext>
            </a:extLst>
          </p:cNvPr>
          <p:cNvSpPr txBox="1"/>
          <p:nvPr/>
        </p:nvSpPr>
        <p:spPr>
          <a:xfrm>
            <a:off x="711200" y="5054600"/>
            <a:ext cx="3149600" cy="738664"/>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Use feedback from industry representatives and prospective users to refine the commands.</a:t>
            </a:r>
          </a:p>
        </p:txBody>
      </p:sp>
      <p:sp>
        <p:nvSpPr>
          <p:cNvPr id="13" name="Rectangle 12">
            <a:extLst>
              <a:ext uri="{FF2B5EF4-FFF2-40B4-BE49-F238E27FC236}">
                <a16:creationId xmlns:a16="http://schemas.microsoft.com/office/drawing/2014/main" id="{4EAF48CE-904E-D3CC-E21D-27F0A57DF81E}"/>
              </a:ext>
            </a:extLst>
          </p:cNvPr>
          <p:cNvSpPr/>
          <p:nvPr/>
        </p:nvSpPr>
        <p:spPr>
          <a:xfrm>
            <a:off x="4279900" y="3606800"/>
            <a:ext cx="3556000" cy="24257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A210B30-288D-D73E-0C15-AD2B3279FC4E}"/>
              </a:ext>
            </a:extLst>
          </p:cNvPr>
          <p:cNvSpPr txBox="1"/>
          <p:nvPr/>
        </p:nvSpPr>
        <p:spPr>
          <a:xfrm>
            <a:off x="4483100" y="3822700"/>
            <a:ext cx="31496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02 / MEASUREMENT</a:t>
            </a:r>
          </a:p>
        </p:txBody>
      </p:sp>
      <p:sp>
        <p:nvSpPr>
          <p:cNvPr id="15" name="TextBox 14">
            <a:extLst>
              <a:ext uri="{FF2B5EF4-FFF2-40B4-BE49-F238E27FC236}">
                <a16:creationId xmlns:a16="http://schemas.microsoft.com/office/drawing/2014/main" id="{896022A6-218A-7FD6-35BA-ACBD54EA9F81}"/>
              </a:ext>
            </a:extLst>
          </p:cNvPr>
          <p:cNvSpPr txBox="1"/>
          <p:nvPr/>
        </p:nvSpPr>
        <p:spPr>
          <a:xfrm>
            <a:off x="4483100" y="4318000"/>
            <a:ext cx="3149600" cy="707886"/>
          </a:xfrm>
          <a:prstGeom prst="rect">
            <a:avLst/>
          </a:prstGeom>
          <a:noFill/>
        </p:spPr>
        <p:txBody>
          <a:bodyPr vert="horz" wrap="square" lIns="0" tIns="0" rIns="0" bIns="0" rtlCol="0">
            <a:spAutoFit/>
          </a:bodyPr>
          <a:lstStyle/>
          <a:p>
            <a:r>
              <a:rPr lang="en-US" sz="2300" b="1">
                <a:solidFill>
                  <a:srgbClr val="14263A"/>
                </a:solidFill>
                <a:latin typeface="Aptos" panose="020B0004020202020204" pitchFamily="34" charset="0"/>
              </a:rPr>
              <a:t>Measure the interaction</a:t>
            </a:r>
          </a:p>
        </p:txBody>
      </p:sp>
      <p:sp>
        <p:nvSpPr>
          <p:cNvPr id="16" name="TextBox 15">
            <a:extLst>
              <a:ext uri="{FF2B5EF4-FFF2-40B4-BE49-F238E27FC236}">
                <a16:creationId xmlns:a16="http://schemas.microsoft.com/office/drawing/2014/main" id="{E4B182AF-FE7A-6EE6-1F3E-506056669AED}"/>
              </a:ext>
            </a:extLst>
          </p:cNvPr>
          <p:cNvSpPr txBox="1"/>
          <p:nvPr/>
        </p:nvSpPr>
        <p:spPr>
          <a:xfrm>
            <a:off x="4483100" y="5054600"/>
            <a:ext cx="3149600" cy="738664"/>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Track recognition errors, response time, and unintended commands across repeatable trials.</a:t>
            </a:r>
          </a:p>
        </p:txBody>
      </p:sp>
      <p:sp>
        <p:nvSpPr>
          <p:cNvPr id="17" name="Rectangle 16">
            <a:extLst>
              <a:ext uri="{FF2B5EF4-FFF2-40B4-BE49-F238E27FC236}">
                <a16:creationId xmlns:a16="http://schemas.microsoft.com/office/drawing/2014/main" id="{6F136568-1C2A-041D-0B80-B09C92DDBFCB}"/>
              </a:ext>
            </a:extLst>
          </p:cNvPr>
          <p:cNvSpPr/>
          <p:nvPr/>
        </p:nvSpPr>
        <p:spPr>
          <a:xfrm>
            <a:off x="8051800" y="3606800"/>
            <a:ext cx="3556000" cy="24257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138C263-DFC7-81CE-1EAA-94E13F4A3261}"/>
              </a:ext>
            </a:extLst>
          </p:cNvPr>
          <p:cNvSpPr txBox="1"/>
          <p:nvPr/>
        </p:nvSpPr>
        <p:spPr>
          <a:xfrm>
            <a:off x="8255000" y="3822700"/>
            <a:ext cx="31496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03 / CHANGING CONDITIONS</a:t>
            </a:r>
          </a:p>
        </p:txBody>
      </p:sp>
      <p:sp>
        <p:nvSpPr>
          <p:cNvPr id="19" name="TextBox 18">
            <a:extLst>
              <a:ext uri="{FF2B5EF4-FFF2-40B4-BE49-F238E27FC236}">
                <a16:creationId xmlns:a16="http://schemas.microsoft.com/office/drawing/2014/main" id="{F323333E-2F67-4391-A705-37B3FA51A8AE}"/>
              </a:ext>
            </a:extLst>
          </p:cNvPr>
          <p:cNvSpPr txBox="1"/>
          <p:nvPr/>
        </p:nvSpPr>
        <p:spPr>
          <a:xfrm>
            <a:off x="8255000" y="4318000"/>
            <a:ext cx="3149600" cy="353943"/>
          </a:xfrm>
          <a:prstGeom prst="rect">
            <a:avLst/>
          </a:prstGeom>
          <a:noFill/>
        </p:spPr>
        <p:txBody>
          <a:bodyPr vert="horz" wrap="square" lIns="0" tIns="0" rIns="0" bIns="0" rtlCol="0">
            <a:spAutoFit/>
          </a:bodyPr>
          <a:lstStyle/>
          <a:p>
            <a:r>
              <a:rPr lang="en-US" sz="2300" b="1">
                <a:solidFill>
                  <a:srgbClr val="14263A"/>
                </a:solidFill>
                <a:latin typeface="Aptos" panose="020B0004020202020204" pitchFamily="34" charset="0"/>
              </a:rPr>
              <a:t>Test the difficult cases</a:t>
            </a:r>
          </a:p>
        </p:txBody>
      </p:sp>
      <p:sp>
        <p:nvSpPr>
          <p:cNvPr id="20" name="TextBox 19">
            <a:extLst>
              <a:ext uri="{FF2B5EF4-FFF2-40B4-BE49-F238E27FC236}">
                <a16:creationId xmlns:a16="http://schemas.microsoft.com/office/drawing/2014/main" id="{3A8FC9E9-2729-9CFA-4034-081F40DD18DE}"/>
              </a:ext>
            </a:extLst>
          </p:cNvPr>
          <p:cNvSpPr txBox="1"/>
          <p:nvPr/>
        </p:nvSpPr>
        <p:spPr>
          <a:xfrm>
            <a:off x="8255000" y="5054600"/>
            <a:ext cx="3149600" cy="738664"/>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Vary lighting, visibility, movement, and competing instructions from different teammates.</a:t>
            </a:r>
          </a:p>
        </p:txBody>
      </p:sp>
    </p:spTree>
    <p:extLst>
      <p:ext uri="{BB962C8B-B14F-4D97-AF65-F5344CB8AC3E}">
        <p14:creationId xmlns:p14="http://schemas.microsoft.com/office/powerpoint/2010/main" val="304684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0BD5C7-FE00-9419-EA7B-8AC9130F5B0D}"/>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02BC407F-F144-CC02-DFEC-75A90B3A8CC3}"/>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NEXT STEPS / THE DRONE TEAMMATE</a:t>
            </a:r>
          </a:p>
        </p:txBody>
      </p:sp>
      <p:sp>
        <p:nvSpPr>
          <p:cNvPr id="4" name="TextBox 3">
            <a:extLst>
              <a:ext uri="{FF2B5EF4-FFF2-40B4-BE49-F238E27FC236}">
                <a16:creationId xmlns:a16="http://schemas.microsoft.com/office/drawing/2014/main" id="{32B7D76B-CFBA-EF57-0143-2C6124CE7AB4}"/>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Bring the interaction onto the aircraft.</a:t>
            </a:r>
          </a:p>
        </p:txBody>
      </p:sp>
      <p:cxnSp>
        <p:nvCxnSpPr>
          <p:cNvPr id="5" name="Straight Connector 4">
            <a:extLst>
              <a:ext uri="{FF2B5EF4-FFF2-40B4-BE49-F238E27FC236}">
                <a16:creationId xmlns:a16="http://schemas.microsoft.com/office/drawing/2014/main" id="{C8600394-AA10-54A5-BC75-F38C634C6AED}"/>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CA79DA9-FEF1-B4B2-9717-EFB779E9E78E}"/>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83CE69F8-CCE0-08E4-C79C-E7A76BA70A17}"/>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08</a:t>
            </a:r>
          </a:p>
        </p:txBody>
      </p:sp>
      <p:sp>
        <p:nvSpPr>
          <p:cNvPr id="8" name="TextBox 7">
            <a:extLst>
              <a:ext uri="{FF2B5EF4-FFF2-40B4-BE49-F238E27FC236}">
                <a16:creationId xmlns:a16="http://schemas.microsoft.com/office/drawing/2014/main" id="{CEC467CD-398D-516C-C70F-D760DDD7B7BC}"/>
              </a:ext>
            </a:extLst>
          </p:cNvPr>
          <p:cNvSpPr txBox="1"/>
          <p:nvPr/>
        </p:nvSpPr>
        <p:spPr>
          <a:xfrm>
            <a:off x="508000" y="2501900"/>
            <a:ext cx="11112500" cy="415498"/>
          </a:xfrm>
          <a:prstGeom prst="rect">
            <a:avLst/>
          </a:prstGeom>
          <a:noFill/>
        </p:spPr>
        <p:txBody>
          <a:bodyPr vert="horz" wrap="square" lIns="0" tIns="0" rIns="0" bIns="0" rtlCol="0">
            <a:spAutoFit/>
          </a:bodyPr>
          <a:lstStyle/>
          <a:p>
            <a:r>
              <a:rPr lang="en-US" sz="2700" b="1">
                <a:solidFill>
                  <a:srgbClr val="006B62"/>
                </a:solidFill>
                <a:latin typeface="Aptos" panose="020B0004020202020204" pitchFamily="34" charset="0"/>
              </a:rPr>
              <a:t>Talk to it. Gesture to it. Change the plan together.</a:t>
            </a:r>
          </a:p>
        </p:txBody>
      </p:sp>
      <p:sp>
        <p:nvSpPr>
          <p:cNvPr id="9" name="TextBox 8">
            <a:extLst>
              <a:ext uri="{FF2B5EF4-FFF2-40B4-BE49-F238E27FC236}">
                <a16:creationId xmlns:a16="http://schemas.microsoft.com/office/drawing/2014/main" id="{6DC69068-20C4-AE31-1308-43821DA91422}"/>
              </a:ext>
            </a:extLst>
          </p:cNvPr>
          <p:cNvSpPr txBox="1"/>
          <p:nvPr/>
        </p:nvSpPr>
        <p:spPr>
          <a:xfrm>
            <a:off x="508000" y="3492500"/>
            <a:ext cx="6985000" cy="1107996"/>
          </a:xfrm>
          <a:prstGeom prst="rect">
            <a:avLst/>
          </a:prstGeom>
          <a:noFill/>
        </p:spPr>
        <p:txBody>
          <a:bodyPr vert="horz" wrap="square" lIns="0" tIns="0" rIns="0" bIns="0" rtlCol="0">
            <a:spAutoFit/>
          </a:bodyPr>
          <a:lstStyle/>
          <a:p>
            <a:r>
              <a:rPr lang="en-US" sz="2400">
                <a:solidFill>
                  <a:srgbClr val="14263A"/>
                </a:solidFill>
                <a:latin typeface="Aptos" panose="020B0004020202020204" pitchFamily="34" charset="0"/>
              </a:rPr>
              <a:t>Integrate onboard sensing and compute, connect the command system to flight control, and validate through controlled hardware trials.</a:t>
            </a:r>
          </a:p>
        </p:txBody>
      </p:sp>
      <p:cxnSp>
        <p:nvCxnSpPr>
          <p:cNvPr id="10" name="Straight Connector 9">
            <a:extLst>
              <a:ext uri="{FF2B5EF4-FFF2-40B4-BE49-F238E27FC236}">
                <a16:creationId xmlns:a16="http://schemas.microsoft.com/office/drawing/2014/main" id="{B06A063C-E983-B150-FAB0-AF068674FD9B}"/>
              </a:ext>
            </a:extLst>
          </p:cNvPr>
          <p:cNvCxnSpPr/>
          <p:nvPr/>
        </p:nvCxnSpPr>
        <p:spPr>
          <a:xfrm flipH="1" flipV="1">
            <a:off x="9456420" y="3671570"/>
            <a:ext cx="474980" cy="367030"/>
          </a:xfrm>
          <a:prstGeom prst="line">
            <a:avLst/>
          </a:prstGeom>
          <a:ln w="107950">
            <a:solidFill>
              <a:srgbClr val="14263A"/>
            </a:solidFill>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6B9B9223-156F-EE2D-662C-799D63C49781}"/>
              </a:ext>
            </a:extLst>
          </p:cNvPr>
          <p:cNvSpPr/>
          <p:nvPr/>
        </p:nvSpPr>
        <p:spPr>
          <a:xfrm>
            <a:off x="9197340" y="3412490"/>
            <a:ext cx="518160" cy="518160"/>
          </a:xfrm>
          <a:prstGeom prst="ellipse">
            <a:avLst/>
          </a:prstGeom>
          <a:noFill/>
          <a:ln w="4318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E4B213DF-F7BB-D7B2-1562-93691D1B9EC5}"/>
              </a:ext>
            </a:extLst>
          </p:cNvPr>
          <p:cNvCxnSpPr/>
          <p:nvPr/>
        </p:nvCxnSpPr>
        <p:spPr>
          <a:xfrm>
            <a:off x="9283700" y="3671570"/>
            <a:ext cx="34544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C6FDFAF-E7C8-F0B4-79D3-5FF0606D8265}"/>
              </a:ext>
            </a:extLst>
          </p:cNvPr>
          <p:cNvCxnSpPr/>
          <p:nvPr/>
        </p:nvCxnSpPr>
        <p:spPr>
          <a:xfrm flipV="1">
            <a:off x="9931400" y="3671570"/>
            <a:ext cx="474980" cy="367030"/>
          </a:xfrm>
          <a:prstGeom prst="line">
            <a:avLst/>
          </a:prstGeom>
          <a:ln w="107950">
            <a:solidFill>
              <a:srgbClr val="14263A"/>
            </a:solidFill>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D53A472E-F212-AC5C-37C7-F4E87047E581}"/>
              </a:ext>
            </a:extLst>
          </p:cNvPr>
          <p:cNvSpPr/>
          <p:nvPr/>
        </p:nvSpPr>
        <p:spPr>
          <a:xfrm>
            <a:off x="10147300" y="3412490"/>
            <a:ext cx="518160" cy="518160"/>
          </a:xfrm>
          <a:prstGeom prst="ellipse">
            <a:avLst/>
          </a:prstGeom>
          <a:noFill/>
          <a:ln w="4318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2DDA660C-201E-BF6E-AD89-F0EB2539FA69}"/>
              </a:ext>
            </a:extLst>
          </p:cNvPr>
          <p:cNvCxnSpPr/>
          <p:nvPr/>
        </p:nvCxnSpPr>
        <p:spPr>
          <a:xfrm>
            <a:off x="10233660" y="3671570"/>
            <a:ext cx="34544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AA5853B-085F-A194-0B35-51E4F4CE78BD}"/>
              </a:ext>
            </a:extLst>
          </p:cNvPr>
          <p:cNvCxnSpPr/>
          <p:nvPr/>
        </p:nvCxnSpPr>
        <p:spPr>
          <a:xfrm flipH="1">
            <a:off x="9456420" y="4038600"/>
            <a:ext cx="474980" cy="367030"/>
          </a:xfrm>
          <a:prstGeom prst="line">
            <a:avLst/>
          </a:prstGeom>
          <a:ln w="107950">
            <a:solidFill>
              <a:srgbClr val="14263A"/>
            </a:solidFill>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3E221A70-5A28-7D63-A92D-E0C69FA44142}"/>
              </a:ext>
            </a:extLst>
          </p:cNvPr>
          <p:cNvSpPr/>
          <p:nvPr/>
        </p:nvSpPr>
        <p:spPr>
          <a:xfrm>
            <a:off x="9197340" y="4146550"/>
            <a:ext cx="518160" cy="518160"/>
          </a:xfrm>
          <a:prstGeom prst="ellipse">
            <a:avLst/>
          </a:prstGeom>
          <a:noFill/>
          <a:ln w="4318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D56D7578-18AC-6CDD-1CF4-E081EA471E7F}"/>
              </a:ext>
            </a:extLst>
          </p:cNvPr>
          <p:cNvCxnSpPr/>
          <p:nvPr/>
        </p:nvCxnSpPr>
        <p:spPr>
          <a:xfrm>
            <a:off x="9283700" y="4405630"/>
            <a:ext cx="34544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F6F4710-374B-665A-901E-7C407A4CF56F}"/>
              </a:ext>
            </a:extLst>
          </p:cNvPr>
          <p:cNvCxnSpPr/>
          <p:nvPr/>
        </p:nvCxnSpPr>
        <p:spPr>
          <a:xfrm>
            <a:off x="9931400" y="4038600"/>
            <a:ext cx="474980" cy="367030"/>
          </a:xfrm>
          <a:prstGeom prst="line">
            <a:avLst/>
          </a:prstGeom>
          <a:ln w="107950">
            <a:solidFill>
              <a:srgbClr val="14263A"/>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2AC135B1-4870-DAB4-E57A-193257EAD7AC}"/>
              </a:ext>
            </a:extLst>
          </p:cNvPr>
          <p:cNvSpPr/>
          <p:nvPr/>
        </p:nvSpPr>
        <p:spPr>
          <a:xfrm>
            <a:off x="10147300" y="4146550"/>
            <a:ext cx="518160" cy="518160"/>
          </a:xfrm>
          <a:prstGeom prst="ellipse">
            <a:avLst/>
          </a:prstGeom>
          <a:noFill/>
          <a:ln w="4318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074068BC-0A74-26F8-24B5-8CC6997304BE}"/>
              </a:ext>
            </a:extLst>
          </p:cNvPr>
          <p:cNvCxnSpPr/>
          <p:nvPr/>
        </p:nvCxnSpPr>
        <p:spPr>
          <a:xfrm>
            <a:off x="10233660" y="4405630"/>
            <a:ext cx="34544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6E4945B8-40D2-A50D-CB2C-6C52A7AE7AA6}"/>
              </a:ext>
            </a:extLst>
          </p:cNvPr>
          <p:cNvSpPr/>
          <p:nvPr/>
        </p:nvSpPr>
        <p:spPr>
          <a:xfrm>
            <a:off x="9737090" y="3693160"/>
            <a:ext cx="388620" cy="69088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878F7A7-127D-C3B4-D9F9-6B1624607ABA}"/>
              </a:ext>
            </a:extLst>
          </p:cNvPr>
          <p:cNvSpPr/>
          <p:nvPr/>
        </p:nvSpPr>
        <p:spPr>
          <a:xfrm>
            <a:off x="9866630" y="3822700"/>
            <a:ext cx="129540" cy="12954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41A5443-6F7F-858C-69E6-3051EBB5A71F}"/>
              </a:ext>
            </a:extLst>
          </p:cNvPr>
          <p:cNvSpPr/>
          <p:nvPr/>
        </p:nvSpPr>
        <p:spPr>
          <a:xfrm>
            <a:off x="508000" y="5232400"/>
            <a:ext cx="11112500" cy="8509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FD0A356-D89C-2800-A0E3-E40E77DA4946}"/>
              </a:ext>
            </a:extLst>
          </p:cNvPr>
          <p:cNvSpPr txBox="1"/>
          <p:nvPr/>
        </p:nvSpPr>
        <p:spPr>
          <a:xfrm>
            <a:off x="736600" y="5486400"/>
            <a:ext cx="10604500" cy="338554"/>
          </a:xfrm>
          <a:prstGeom prst="rect">
            <a:avLst/>
          </a:prstGeom>
          <a:noFill/>
        </p:spPr>
        <p:txBody>
          <a:bodyPr vert="horz" wrap="square" lIns="0" tIns="0" rIns="0" bIns="0" rtlCol="0">
            <a:spAutoFit/>
          </a:bodyPr>
          <a:lstStyle/>
          <a:p>
            <a:r>
              <a:rPr lang="en-US" sz="2200" b="1">
                <a:solidFill>
                  <a:srgbClr val="006B62"/>
                </a:solidFill>
                <a:latin typeface="Aptos" panose="020B0004020202020204" pitchFamily="34" charset="0"/>
              </a:rPr>
              <a:t>THE GOAL: A drone that feels like another member of the team.</a:t>
            </a:r>
          </a:p>
        </p:txBody>
      </p:sp>
    </p:spTree>
    <p:extLst>
      <p:ext uri="{BB962C8B-B14F-4D97-AF65-F5344CB8AC3E}">
        <p14:creationId xmlns:p14="http://schemas.microsoft.com/office/powerpoint/2010/main" val="3614547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7DE282-5A85-8D73-A47C-BD6ADA39F17E}"/>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533254A8-9DCA-A0F6-CE56-96B23BF871DC}"/>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Q&amp;A</a:t>
            </a:r>
          </a:p>
        </p:txBody>
      </p:sp>
      <p:sp>
        <p:nvSpPr>
          <p:cNvPr id="4" name="TextBox 3">
            <a:extLst>
              <a:ext uri="{FF2B5EF4-FFF2-40B4-BE49-F238E27FC236}">
                <a16:creationId xmlns:a16="http://schemas.microsoft.com/office/drawing/2014/main" id="{94EBBA07-5F21-20D3-F118-E403434DE946}"/>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Deployment questions we must answer.</a:t>
            </a:r>
          </a:p>
        </p:txBody>
      </p:sp>
      <p:cxnSp>
        <p:nvCxnSpPr>
          <p:cNvPr id="5" name="Straight Connector 4">
            <a:extLst>
              <a:ext uri="{FF2B5EF4-FFF2-40B4-BE49-F238E27FC236}">
                <a16:creationId xmlns:a16="http://schemas.microsoft.com/office/drawing/2014/main" id="{BF334149-90CB-C3E1-9B08-52CCEC9509FD}"/>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480433E-0D51-7796-9435-0DD6789789F4}"/>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920C7EDF-2D4E-4DAD-FB02-7F991E5BF26D}"/>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A1</a:t>
            </a:r>
          </a:p>
        </p:txBody>
      </p:sp>
      <p:sp>
        <p:nvSpPr>
          <p:cNvPr id="8" name="TextBox 7">
            <a:extLst>
              <a:ext uri="{FF2B5EF4-FFF2-40B4-BE49-F238E27FC236}">
                <a16:creationId xmlns:a16="http://schemas.microsoft.com/office/drawing/2014/main" id="{69938AF8-73F1-5858-DBA9-C78EE3F174AA}"/>
              </a:ext>
            </a:extLst>
          </p:cNvPr>
          <p:cNvSpPr txBox="1"/>
          <p:nvPr/>
        </p:nvSpPr>
        <p:spPr>
          <a:xfrm>
            <a:off x="508000" y="23495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Hardware &amp; cost</a:t>
            </a:r>
          </a:p>
        </p:txBody>
      </p:sp>
      <p:sp>
        <p:nvSpPr>
          <p:cNvPr id="9" name="TextBox 8">
            <a:extLst>
              <a:ext uri="{FF2B5EF4-FFF2-40B4-BE49-F238E27FC236}">
                <a16:creationId xmlns:a16="http://schemas.microsoft.com/office/drawing/2014/main" id="{3506C03A-7AC0-8A42-FDFB-05347B9E523B}"/>
              </a:ext>
            </a:extLst>
          </p:cNvPr>
          <p:cNvSpPr txBox="1"/>
          <p:nvPr/>
        </p:nvSpPr>
        <p:spPr>
          <a:xfrm>
            <a:off x="3581400" y="23495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Select compute after measuring latency, power, thermal load, and flight-time impact.</a:t>
            </a:r>
          </a:p>
        </p:txBody>
      </p:sp>
      <p:sp>
        <p:nvSpPr>
          <p:cNvPr id="10" name="TextBox 9">
            <a:extLst>
              <a:ext uri="{FF2B5EF4-FFF2-40B4-BE49-F238E27FC236}">
                <a16:creationId xmlns:a16="http://schemas.microsoft.com/office/drawing/2014/main" id="{598ED82A-8A2A-279F-44DB-66CBF1237925}"/>
              </a:ext>
            </a:extLst>
          </p:cNvPr>
          <p:cNvSpPr txBox="1"/>
          <p:nvPr/>
        </p:nvSpPr>
        <p:spPr>
          <a:xfrm>
            <a:off x="508000" y="30861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Integration</a:t>
            </a:r>
          </a:p>
        </p:txBody>
      </p:sp>
      <p:sp>
        <p:nvSpPr>
          <p:cNvPr id="11" name="TextBox 10">
            <a:extLst>
              <a:ext uri="{FF2B5EF4-FFF2-40B4-BE49-F238E27FC236}">
                <a16:creationId xmlns:a16="http://schemas.microsoft.com/office/drawing/2014/main" id="{10EA3A51-DC91-8B87-A8B0-1AF5F5CF4000}"/>
              </a:ext>
            </a:extLst>
          </p:cNvPr>
          <p:cNvSpPr txBox="1"/>
          <p:nvPr/>
        </p:nvSpPr>
        <p:spPr>
          <a:xfrm>
            <a:off x="3581400" y="30861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Connect perception to a flight controller; validate command and link-loss behavior.</a:t>
            </a:r>
          </a:p>
        </p:txBody>
      </p:sp>
      <p:sp>
        <p:nvSpPr>
          <p:cNvPr id="12" name="TextBox 11">
            <a:extLst>
              <a:ext uri="{FF2B5EF4-FFF2-40B4-BE49-F238E27FC236}">
                <a16:creationId xmlns:a16="http://schemas.microsoft.com/office/drawing/2014/main" id="{271FF6CA-A195-0AF8-3C4D-621A2D184928}"/>
              </a:ext>
            </a:extLst>
          </p:cNvPr>
          <p:cNvSpPr txBox="1"/>
          <p:nvPr/>
        </p:nvSpPr>
        <p:spPr>
          <a:xfrm>
            <a:off x="508000" y="38227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Security</a:t>
            </a:r>
          </a:p>
        </p:txBody>
      </p:sp>
      <p:sp>
        <p:nvSpPr>
          <p:cNvPr id="13" name="TextBox 12">
            <a:extLst>
              <a:ext uri="{FF2B5EF4-FFF2-40B4-BE49-F238E27FC236}">
                <a16:creationId xmlns:a16="http://schemas.microsoft.com/office/drawing/2014/main" id="{1E62ADF2-4869-E76C-7309-3F5D09D2B1F3}"/>
              </a:ext>
            </a:extLst>
          </p:cNvPr>
          <p:cNvSpPr txBox="1"/>
          <p:nvPr/>
        </p:nvSpPr>
        <p:spPr>
          <a:xfrm>
            <a:off x="3581400" y="38227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Nearest-person preference is not authorization. Validate who may issue commands.</a:t>
            </a:r>
          </a:p>
        </p:txBody>
      </p:sp>
      <p:sp>
        <p:nvSpPr>
          <p:cNvPr id="14" name="TextBox 13">
            <a:extLst>
              <a:ext uri="{FF2B5EF4-FFF2-40B4-BE49-F238E27FC236}">
                <a16:creationId xmlns:a16="http://schemas.microsoft.com/office/drawing/2014/main" id="{491CE6E8-4265-485F-BE49-BA46C5ECAECF}"/>
              </a:ext>
            </a:extLst>
          </p:cNvPr>
          <p:cNvSpPr txBox="1"/>
          <p:nvPr/>
        </p:nvSpPr>
        <p:spPr>
          <a:xfrm>
            <a:off x="508000" y="45593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Adoption &amp; testing</a:t>
            </a:r>
          </a:p>
        </p:txBody>
      </p:sp>
      <p:sp>
        <p:nvSpPr>
          <p:cNvPr id="15" name="TextBox 14">
            <a:extLst>
              <a:ext uri="{FF2B5EF4-FFF2-40B4-BE49-F238E27FC236}">
                <a16:creationId xmlns:a16="http://schemas.microsoft.com/office/drawing/2014/main" id="{D507D319-3C57-BB45-126A-52C44A6B620E}"/>
              </a:ext>
            </a:extLst>
          </p:cNvPr>
          <p:cNvSpPr txBox="1"/>
          <p:nvPr/>
        </p:nvSpPr>
        <p:spPr>
          <a:xfrm>
            <a:off x="3581400" y="45593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Test gesture learnability, gloves, distance, lighting, occlusion, and competing signals.</a:t>
            </a:r>
          </a:p>
        </p:txBody>
      </p:sp>
      <p:sp>
        <p:nvSpPr>
          <p:cNvPr id="16" name="TextBox 15">
            <a:extLst>
              <a:ext uri="{FF2B5EF4-FFF2-40B4-BE49-F238E27FC236}">
                <a16:creationId xmlns:a16="http://schemas.microsoft.com/office/drawing/2014/main" id="{A33192E2-368B-2C87-0F75-B812CE7915DD}"/>
              </a:ext>
            </a:extLst>
          </p:cNvPr>
          <p:cNvSpPr txBox="1"/>
          <p:nvPr/>
        </p:nvSpPr>
        <p:spPr>
          <a:xfrm>
            <a:off x="508000" y="52959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Field readiness</a:t>
            </a:r>
          </a:p>
        </p:txBody>
      </p:sp>
      <p:sp>
        <p:nvSpPr>
          <p:cNvPr id="17" name="TextBox 16">
            <a:extLst>
              <a:ext uri="{FF2B5EF4-FFF2-40B4-BE49-F238E27FC236}">
                <a16:creationId xmlns:a16="http://schemas.microsoft.com/office/drawing/2014/main" id="{6ED9DBC3-9B2F-F55A-BBB6-C8B12D2E8935}"/>
              </a:ext>
            </a:extLst>
          </p:cNvPr>
          <p:cNvSpPr txBox="1"/>
          <p:nvPr/>
        </p:nvSpPr>
        <p:spPr>
          <a:xfrm>
            <a:off x="3581400" y="5295900"/>
            <a:ext cx="8013700" cy="52322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Plan physical trials, applicable flight approvals, and GPS-independent navigation separately.</a:t>
            </a:r>
          </a:p>
        </p:txBody>
      </p:sp>
    </p:spTree>
    <p:extLst>
      <p:ext uri="{BB962C8B-B14F-4D97-AF65-F5344CB8AC3E}">
        <p14:creationId xmlns:p14="http://schemas.microsoft.com/office/powerpoint/2010/main" val="3444083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C8C23A-62A8-A8FF-EADA-5902B7F1902A}"/>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09C85924-957E-A091-CE61-3A86EB8E2128}"/>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EVALUATION PLAN</a:t>
            </a:r>
          </a:p>
        </p:txBody>
      </p:sp>
      <p:sp>
        <p:nvSpPr>
          <p:cNvPr id="4" name="TextBox 3">
            <a:extLst>
              <a:ext uri="{FF2B5EF4-FFF2-40B4-BE49-F238E27FC236}">
                <a16:creationId xmlns:a16="http://schemas.microsoft.com/office/drawing/2014/main" id="{272399A2-0E16-DD84-662C-7B41C4D33034}"/>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Turn the next demo into evidence.</a:t>
            </a:r>
          </a:p>
        </p:txBody>
      </p:sp>
      <p:cxnSp>
        <p:nvCxnSpPr>
          <p:cNvPr id="5" name="Straight Connector 4">
            <a:extLst>
              <a:ext uri="{FF2B5EF4-FFF2-40B4-BE49-F238E27FC236}">
                <a16:creationId xmlns:a16="http://schemas.microsoft.com/office/drawing/2014/main" id="{D2A71C34-57A4-B348-1595-C61BB26343BB}"/>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4595F39-D3A3-0050-1116-C1A958A25071}"/>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A9946BF8-D11E-666D-E47D-61273DF0AB94}"/>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A2</a:t>
            </a:r>
          </a:p>
        </p:txBody>
      </p:sp>
      <p:sp>
        <p:nvSpPr>
          <p:cNvPr id="8" name="TextBox 7">
            <a:extLst>
              <a:ext uri="{FF2B5EF4-FFF2-40B4-BE49-F238E27FC236}">
                <a16:creationId xmlns:a16="http://schemas.microsoft.com/office/drawing/2014/main" id="{CA5D9C6E-A4CB-6200-2B3D-2806212418E8}"/>
              </a:ext>
            </a:extLst>
          </p:cNvPr>
          <p:cNvSpPr txBox="1"/>
          <p:nvPr/>
        </p:nvSpPr>
        <p:spPr>
          <a:xfrm>
            <a:off x="508000" y="23495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Command success</a:t>
            </a:r>
          </a:p>
        </p:txBody>
      </p:sp>
      <p:sp>
        <p:nvSpPr>
          <p:cNvPr id="9" name="TextBox 8">
            <a:extLst>
              <a:ext uri="{FF2B5EF4-FFF2-40B4-BE49-F238E27FC236}">
                <a16:creationId xmlns:a16="http://schemas.microsoft.com/office/drawing/2014/main" id="{AF1B9775-F519-9F03-BB0D-DFE85D3DF36A}"/>
              </a:ext>
            </a:extLst>
          </p:cNvPr>
          <p:cNvSpPr txBox="1"/>
          <p:nvPr/>
        </p:nvSpPr>
        <p:spPr>
          <a:xfrm>
            <a:off x="3581400" y="23495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Correct action / attempted commands, broken down by gesture.</a:t>
            </a:r>
          </a:p>
        </p:txBody>
      </p:sp>
      <p:sp>
        <p:nvSpPr>
          <p:cNvPr id="10" name="TextBox 9">
            <a:extLst>
              <a:ext uri="{FF2B5EF4-FFF2-40B4-BE49-F238E27FC236}">
                <a16:creationId xmlns:a16="http://schemas.microsoft.com/office/drawing/2014/main" id="{4A45E21F-4028-E299-1459-A0883631C11B}"/>
              </a:ext>
            </a:extLst>
          </p:cNvPr>
          <p:cNvSpPr txBox="1"/>
          <p:nvPr/>
        </p:nvSpPr>
        <p:spPr>
          <a:xfrm>
            <a:off x="508000" y="30861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Response time</a:t>
            </a:r>
          </a:p>
        </p:txBody>
      </p:sp>
      <p:sp>
        <p:nvSpPr>
          <p:cNvPr id="11" name="TextBox 10">
            <a:extLst>
              <a:ext uri="{FF2B5EF4-FFF2-40B4-BE49-F238E27FC236}">
                <a16:creationId xmlns:a16="http://schemas.microsoft.com/office/drawing/2014/main" id="{EDB0281C-F074-B45C-1DFD-16A1A676085B}"/>
              </a:ext>
            </a:extLst>
          </p:cNvPr>
          <p:cNvSpPr txBox="1"/>
          <p:nvPr/>
        </p:nvSpPr>
        <p:spPr>
          <a:xfrm>
            <a:off x="3581400" y="30861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Time from completed gesture to simulated action; report median and slow cases.</a:t>
            </a:r>
          </a:p>
        </p:txBody>
      </p:sp>
      <p:sp>
        <p:nvSpPr>
          <p:cNvPr id="12" name="TextBox 11">
            <a:extLst>
              <a:ext uri="{FF2B5EF4-FFF2-40B4-BE49-F238E27FC236}">
                <a16:creationId xmlns:a16="http://schemas.microsoft.com/office/drawing/2014/main" id="{89150C70-84D8-B1FF-6F4C-D38D888A1A2F}"/>
              </a:ext>
            </a:extLst>
          </p:cNvPr>
          <p:cNvSpPr txBox="1"/>
          <p:nvPr/>
        </p:nvSpPr>
        <p:spPr>
          <a:xfrm>
            <a:off x="508000" y="38227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False activation</a:t>
            </a:r>
          </a:p>
        </p:txBody>
      </p:sp>
      <p:sp>
        <p:nvSpPr>
          <p:cNvPr id="13" name="TextBox 12">
            <a:extLst>
              <a:ext uri="{FF2B5EF4-FFF2-40B4-BE49-F238E27FC236}">
                <a16:creationId xmlns:a16="http://schemas.microsoft.com/office/drawing/2014/main" id="{1EB3DF99-7FA0-3D37-927F-127847FE0D04}"/>
              </a:ext>
            </a:extLst>
          </p:cNvPr>
          <p:cNvSpPr txBox="1"/>
          <p:nvPr/>
        </p:nvSpPr>
        <p:spPr>
          <a:xfrm>
            <a:off x="3581400" y="38227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Count unintended commands during ordinary movement and no-command periods.</a:t>
            </a:r>
          </a:p>
        </p:txBody>
      </p:sp>
      <p:sp>
        <p:nvSpPr>
          <p:cNvPr id="14" name="TextBox 13">
            <a:extLst>
              <a:ext uri="{FF2B5EF4-FFF2-40B4-BE49-F238E27FC236}">
                <a16:creationId xmlns:a16="http://schemas.microsoft.com/office/drawing/2014/main" id="{02D649E9-96F5-5D4C-0D83-542C300CE8E0}"/>
              </a:ext>
            </a:extLst>
          </p:cNvPr>
          <p:cNvSpPr txBox="1"/>
          <p:nvPr/>
        </p:nvSpPr>
        <p:spPr>
          <a:xfrm>
            <a:off x="508000" y="45593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Operator selection</a:t>
            </a:r>
          </a:p>
        </p:txBody>
      </p:sp>
      <p:sp>
        <p:nvSpPr>
          <p:cNvPr id="15" name="TextBox 14">
            <a:extLst>
              <a:ext uri="{FF2B5EF4-FFF2-40B4-BE49-F238E27FC236}">
                <a16:creationId xmlns:a16="http://schemas.microsoft.com/office/drawing/2014/main" id="{C42330B0-BE6D-7311-C9C5-DFA005A5F400}"/>
              </a:ext>
            </a:extLst>
          </p:cNvPr>
          <p:cNvSpPr txBox="1"/>
          <p:nvPr/>
        </p:nvSpPr>
        <p:spPr>
          <a:xfrm>
            <a:off x="3581400" y="45593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Test overlapping gestures, near-equal distances, and return-to-sender behavior.</a:t>
            </a:r>
          </a:p>
        </p:txBody>
      </p:sp>
      <p:sp>
        <p:nvSpPr>
          <p:cNvPr id="16" name="TextBox 15">
            <a:extLst>
              <a:ext uri="{FF2B5EF4-FFF2-40B4-BE49-F238E27FC236}">
                <a16:creationId xmlns:a16="http://schemas.microsoft.com/office/drawing/2014/main" id="{3CCB8E3E-BC45-1D57-CB9C-26155BF72B24}"/>
              </a:ext>
            </a:extLst>
          </p:cNvPr>
          <p:cNvSpPr txBox="1"/>
          <p:nvPr/>
        </p:nvSpPr>
        <p:spPr>
          <a:xfrm>
            <a:off x="508000" y="52959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Stop behavior</a:t>
            </a:r>
          </a:p>
        </p:txBody>
      </p:sp>
      <p:sp>
        <p:nvSpPr>
          <p:cNvPr id="17" name="TextBox 16">
            <a:extLst>
              <a:ext uri="{FF2B5EF4-FFF2-40B4-BE49-F238E27FC236}">
                <a16:creationId xmlns:a16="http://schemas.microsoft.com/office/drawing/2014/main" id="{CCABA98A-3FA2-498B-FB47-DEEADC50ABF4}"/>
              </a:ext>
            </a:extLst>
          </p:cNvPr>
          <p:cNvSpPr txBox="1"/>
          <p:nvPr/>
        </p:nvSpPr>
        <p:spPr>
          <a:xfrm>
            <a:off x="3581400" y="52959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Measure stop response and observe the resulting simulated drone state.</a:t>
            </a:r>
          </a:p>
        </p:txBody>
      </p:sp>
    </p:spTree>
    <p:extLst>
      <p:ext uri="{BB962C8B-B14F-4D97-AF65-F5344CB8AC3E}">
        <p14:creationId xmlns:p14="http://schemas.microsoft.com/office/powerpoint/2010/main" val="621356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046A78-8255-E2BA-F3E4-066A68DD36AF}"/>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B647E10A-D461-4489-28A0-E3A04540E5AB}"/>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ORIGINAL INSPIRATION</a:t>
            </a:r>
          </a:p>
        </p:txBody>
      </p:sp>
      <p:sp>
        <p:nvSpPr>
          <p:cNvPr id="4" name="TextBox 3">
            <a:extLst>
              <a:ext uri="{FF2B5EF4-FFF2-40B4-BE49-F238E27FC236}">
                <a16:creationId xmlns:a16="http://schemas.microsoft.com/office/drawing/2014/main" id="{B6CB7E17-11A0-EAE9-7D24-EE2821B363A7}"/>
              </a:ext>
            </a:extLst>
          </p:cNvPr>
          <p:cNvSpPr txBox="1"/>
          <p:nvPr/>
        </p:nvSpPr>
        <p:spPr>
          <a:xfrm>
            <a:off x="508000" y="939800"/>
            <a:ext cx="11239500" cy="553998"/>
          </a:xfrm>
          <a:prstGeom prst="rect">
            <a:avLst/>
          </a:prstGeom>
          <a:noFill/>
        </p:spPr>
        <p:txBody>
          <a:bodyPr vert="horz" wrap="square" lIns="0" tIns="0" rIns="0" bIns="0" rtlCol="0">
            <a:spAutoFit/>
          </a:bodyPr>
          <a:lstStyle/>
          <a:p>
            <a:endParaRPr lang="en-US" sz="3600" b="1">
              <a:solidFill>
                <a:srgbClr val="14263A"/>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132DDB0-6FB7-FB03-268F-4E48A4CD1B81}"/>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DA3C57B-5E18-A536-4FDD-4C557F842B89}"/>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F8849BE9-C3D8-A73B-DF5D-E8266A780444}"/>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A3</a:t>
            </a:r>
          </a:p>
        </p:txBody>
      </p:sp>
      <p:pic>
        <p:nvPicPr>
          <p:cNvPr id="9" name="Picture 8">
            <a:extLst>
              <a:ext uri="{FF2B5EF4-FFF2-40B4-BE49-F238E27FC236}">
                <a16:creationId xmlns:a16="http://schemas.microsoft.com/office/drawing/2014/main" id="{92483978-C263-0A53-0F0E-D832BEC8781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800100"/>
            <a:ext cx="4127500" cy="5384800"/>
          </a:xfrm>
          <a:prstGeom prst="rect">
            <a:avLst/>
          </a:prstGeom>
        </p:spPr>
      </p:pic>
      <p:sp>
        <p:nvSpPr>
          <p:cNvPr id="10" name="TextBox 9">
            <a:extLst>
              <a:ext uri="{FF2B5EF4-FFF2-40B4-BE49-F238E27FC236}">
                <a16:creationId xmlns:a16="http://schemas.microsoft.com/office/drawing/2014/main" id="{C2875C99-2399-E691-BE8C-ACD1B0B48110}"/>
              </a:ext>
            </a:extLst>
          </p:cNvPr>
          <p:cNvSpPr txBox="1"/>
          <p:nvPr/>
        </p:nvSpPr>
        <p:spPr>
          <a:xfrm>
            <a:off x="5257800" y="1282700"/>
            <a:ext cx="6197600" cy="492443"/>
          </a:xfrm>
          <a:prstGeom prst="rect">
            <a:avLst/>
          </a:prstGeom>
          <a:noFill/>
        </p:spPr>
        <p:txBody>
          <a:bodyPr vert="horz" wrap="square" lIns="0" tIns="0" rIns="0" bIns="0" rtlCol="0">
            <a:spAutoFit/>
          </a:bodyPr>
          <a:lstStyle/>
          <a:p>
            <a:r>
              <a:rPr lang="en-US" sz="3200" b="1">
                <a:solidFill>
                  <a:srgbClr val="14263A"/>
                </a:solidFill>
                <a:latin typeface="Aptos" panose="020B0004020202020204" pitchFamily="34" charset="0"/>
              </a:rPr>
              <a:t>The prompt that started the idea.</a:t>
            </a:r>
          </a:p>
        </p:txBody>
      </p:sp>
      <p:sp>
        <p:nvSpPr>
          <p:cNvPr id="11" name="TextBox 10">
            <a:extLst>
              <a:ext uri="{FF2B5EF4-FFF2-40B4-BE49-F238E27FC236}">
                <a16:creationId xmlns:a16="http://schemas.microsoft.com/office/drawing/2014/main" id="{A1D3792E-B00E-5EFB-C31B-D5E7C6A7E820}"/>
              </a:ext>
            </a:extLst>
          </p:cNvPr>
          <p:cNvSpPr txBox="1"/>
          <p:nvPr/>
        </p:nvSpPr>
        <p:spPr>
          <a:xfrm>
            <a:off x="5257800" y="2768600"/>
            <a:ext cx="6019800" cy="1154162"/>
          </a:xfrm>
          <a:prstGeom prst="rect">
            <a:avLst/>
          </a:prstGeom>
          <a:noFill/>
        </p:spPr>
        <p:txBody>
          <a:bodyPr vert="horz" wrap="square" lIns="0" tIns="0" rIns="0" bIns="0" rtlCol="0">
            <a:spAutoFit/>
          </a:bodyPr>
          <a:lstStyle/>
          <a:p>
            <a:r>
              <a:rPr lang="en-US" sz="2500">
                <a:solidFill>
                  <a:srgbClr val="617286"/>
                </a:solidFill>
                <a:latin typeface="Aptos" panose="020B0004020202020204" pitchFamily="34" charset="0"/>
              </a:rPr>
              <a:t>Natural-language path planning suggested a broader question: how else do people communicate intent?</a:t>
            </a:r>
          </a:p>
        </p:txBody>
      </p:sp>
      <p:sp>
        <p:nvSpPr>
          <p:cNvPr id="12" name="TextBox 11">
            <a:extLst>
              <a:ext uri="{FF2B5EF4-FFF2-40B4-BE49-F238E27FC236}">
                <a16:creationId xmlns:a16="http://schemas.microsoft.com/office/drawing/2014/main" id="{A9AB44FE-7967-19EE-8349-356F73A65BF6}"/>
              </a:ext>
            </a:extLst>
          </p:cNvPr>
          <p:cNvSpPr txBox="1"/>
          <p:nvPr/>
        </p:nvSpPr>
        <p:spPr>
          <a:xfrm>
            <a:off x="5257800" y="4584700"/>
            <a:ext cx="6019800" cy="830997"/>
          </a:xfrm>
          <a:prstGeom prst="rect">
            <a:avLst/>
          </a:prstGeom>
          <a:noFill/>
        </p:spPr>
        <p:txBody>
          <a:bodyPr vert="horz" wrap="square" lIns="0" tIns="0" rIns="0" bIns="0" rtlCol="0">
            <a:spAutoFit/>
          </a:bodyPr>
          <a:lstStyle/>
          <a:p>
            <a:r>
              <a:rPr lang="en-US" sz="2700" b="1">
                <a:solidFill>
                  <a:srgbClr val="006B62"/>
                </a:solidFill>
                <a:latin typeface="Aptos" panose="020B0004020202020204" pitchFamily="34" charset="0"/>
              </a:rPr>
              <a:t>Tactlink explores gestures alongside spoken commands.</a:t>
            </a:r>
          </a:p>
        </p:txBody>
      </p:sp>
    </p:spTree>
    <p:extLst>
      <p:ext uri="{BB962C8B-B14F-4D97-AF65-F5344CB8AC3E}">
        <p14:creationId xmlns:p14="http://schemas.microsoft.com/office/powerpoint/2010/main" val="2540568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1634</Words>
  <Application>Microsoft Office PowerPoint</Application>
  <PresentationFormat>Custom</PresentationFormat>
  <Paragraphs>170</Paragraphs>
  <Slides>11</Slides>
  <Notes>11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Holly, Ian Patrick</dc:creator>
  <cp:lastModifiedBy>Holly, Ian Patrick</cp:lastModifiedBy>
  <cp:revision>1</cp:revision>
  <dcterms:created xsi:type="dcterms:W3CDTF">2026-09-06T15:43:12Z</dcterms:created>
  <dcterms:modified xsi:type="dcterms:W3CDTF">2026-09-06T15:43:12Z</dcterms:modified>
</cp:coreProperties>
</file>